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Average"/>
      <p:regular r:id="rId14"/>
    </p:embeddedFont>
    <p:embeddedFont>
      <p:font typeface="Oswa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1EB97B-E0D8-4D1E-B6E1-BB1A47017DB9}">
  <a:tblStyle styleId="{911EB97B-E0D8-4D1E-B6E1-BB1A47017DB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font" Target="fonts/Average-regular.fntdata"/><Relationship Id="rId15" Type="http://schemas.openxmlformats.org/officeDocument/2006/relationships/font" Target="fonts/Oswald-regular.fntdata"/><Relationship Id="rId16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8baec2de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8baec2de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897d6cda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897d6cd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897d6cda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897d6cda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897d6cdaa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897d6cda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897d6cda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897d6cda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897d6cda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897d6cda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1.4 EPS and Ownership Dilution Model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Barista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017725"/>
            <a:ext cx="8520600" cy="3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Class A common shares (mm)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127.0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Class B common shares (mm)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35.2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Class C common shares (mm)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2.3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Total existing shares (mm)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164.5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New shares to issue (mm)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6.0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Issue price ($/share)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52.78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Market cap ($ 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9,000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Current stock price ($)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56.18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Implied shares from market cap (mm)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160.2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Consistency check vs. total existing shares (mm)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-4.3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Net income to common ($ mm)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2026																	   250.9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2027																	   390.5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2028																	   587.6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Additional dilutive securities (as % of shares)										  0.00%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" name="Google Shape;77;p16"/>
          <p:cNvGraphicFramePr/>
          <p:nvPr/>
        </p:nvGraphicFramePr>
        <p:xfrm>
          <a:off x="340813" y="65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{911EB97B-E0D8-4D1E-B6E1-BB1A47017DB9}</a:tableStyleId>
              </a:tblPr>
              <a:tblGrid>
                <a:gridCol w="1692475"/>
                <a:gridCol w="1692475"/>
                <a:gridCol w="1692475"/>
                <a:gridCol w="1692475"/>
                <a:gridCol w="1692475"/>
              </a:tblGrid>
              <a:tr h="432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New shares issued (mm) ↓ | Dilutive add-on % →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3.00%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New Shares (mm) \ Dilution 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1.41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1.32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85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130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2027</a:t>
            </a:r>
            <a:endParaRPr/>
          </a:p>
        </p:txBody>
      </p:sp>
      <p:graphicFrame>
        <p:nvGraphicFramePr>
          <p:cNvPr id="84" name="Google Shape;84;p17"/>
          <p:cNvGraphicFramePr/>
          <p:nvPr/>
        </p:nvGraphicFramePr>
        <p:xfrm>
          <a:off x="311688" y="70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{911EB97B-E0D8-4D1E-B6E1-BB1A47017DB9}</a:tableStyleId>
              </a:tblPr>
              <a:tblGrid>
                <a:gridCol w="1704125"/>
                <a:gridCol w="1704125"/>
                <a:gridCol w="1704125"/>
                <a:gridCol w="1704125"/>
                <a:gridCol w="1704125"/>
              </a:tblGrid>
              <a:tr h="538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New shares issued (mm) ↓ | Dilutive add-on % →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0.00%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1.00%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2.00%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3.00%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New Shares (mm) \ Dilution 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2.21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226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2028</a:t>
            </a:r>
            <a:endParaRPr/>
          </a:p>
        </p:txBody>
      </p:sp>
      <p:graphicFrame>
        <p:nvGraphicFramePr>
          <p:cNvPr id="90" name="Google Shape;90;p18"/>
          <p:cNvGraphicFramePr/>
          <p:nvPr/>
        </p:nvGraphicFramePr>
        <p:xfrm>
          <a:off x="558375" y="79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{911EB97B-E0D8-4D1E-B6E1-BB1A47017DB9}</a:tableStyleId>
              </a:tblPr>
              <a:tblGrid>
                <a:gridCol w="1605450"/>
                <a:gridCol w="1605450"/>
                <a:gridCol w="1605450"/>
                <a:gridCol w="1605450"/>
                <a:gridCol w="1605450"/>
              </a:tblGrid>
              <a:tr h="434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New shares issued (mm) ↓ | Dilutive add-on % →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0.00%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1.00%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2.00%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3.00%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</a:rPr>
                        <a:t>New Shares (mm) \ Dilution %</a:t>
                      </a:r>
                      <a:endParaRPr b="1"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  <a:tc vMerge="1">
                  <a:txBody>
                    <a:bodyPr/>
                    <a:p/>
                  </a:txBody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3.37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3.33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3.29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3.22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20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24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3.12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26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3.08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3.08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3.08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3.08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graphicFrame>
        <p:nvGraphicFramePr>
          <p:cNvPr id="96" name="Google Shape;96;p19"/>
          <p:cNvGraphicFramePr/>
          <p:nvPr/>
        </p:nvGraphicFramePr>
        <p:xfrm>
          <a:off x="380750" y="117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{911EB97B-E0D8-4D1E-B6E1-BB1A47017DB9}</a:tableStyleId>
              </a:tblPr>
              <a:tblGrid>
                <a:gridCol w="1323975"/>
                <a:gridCol w="1190625"/>
                <a:gridCol w="1190625"/>
                <a:gridCol w="1190625"/>
              </a:tblGrid>
              <a:tr h="200025">
                <a:tc gridSpan="4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EPS Summary (linked formulas)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  <a:tc hMerge="1">
                  <a:txBody>
                    <a:bodyPr/>
                    <a:p/>
                  </a:txBody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Metric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2026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2027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2028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 forma basic shares (mm)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Basic EPS ($/sh)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2.29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Diluted shares (mm)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170.5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Diluted EPS ($/sh)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.47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2.29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cp:lastModifiedBy>python-pptx</cp:lastModifiedBy>
  <cp:revision>1</cp:revision>
  <dcterms:modified xsi:type="dcterms:W3CDTF">2025-11-09T23:18:26Z</dcterms:modified>
</cp:coreProperties>
</file>
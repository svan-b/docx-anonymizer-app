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embeddedFontLst>
    <p:embeddedFont>
      <p:font typeface="Average"/>
      <p:regular r:id="rId9"/>
    </p:embeddedFont>
    <p:embeddedFont>
      <p:font typeface="Oswald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DC3492D-A5C7-4BB6-B995-8B362DFA00BE}">
  <a:tblStyle styleId="{DDC3492D-A5C7-4BB6-B995-8B362DFA00B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font" Target="fonts/Average-regular.fntdata"/><Relationship Id="rId10" Type="http://schemas.openxmlformats.org/officeDocument/2006/relationships/font" Target="fonts/Oswald-regular.fntdata"/><Relationship Id="rId11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897b805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897b805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1.3 Capitalization Table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Barista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Google Shape;65;p14"/>
          <p:cNvGraphicFramePr/>
          <p:nvPr/>
        </p:nvGraphicFramePr>
        <p:xfrm>
          <a:off x="377000" y="690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{DDC3492D-A5C7-4BB6-B995-8B362DFA00BE}</a:tableStyleId>
              </a:tblPr>
              <a:tblGrid>
                <a:gridCol w="876700"/>
                <a:gridCol w="876700"/>
                <a:gridCol w="876700"/>
                <a:gridCol w="876700"/>
                <a:gridCol w="876700"/>
                <a:gridCol w="876700"/>
                <a:gridCol w="876700"/>
                <a:gridCol w="876700"/>
                <a:gridCol w="876700"/>
                <a:gridCol w="646300"/>
              </a:tblGrid>
              <a:tr h="708800"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Stockholder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Class A Common Stock Beneficially Owned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>
                  <a:txBody>
                    <a:bodyPr/>
                    <a:p/>
                  </a:txBody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Class B Common Stock Beneficially Owned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>
                  <a:txBody>
                    <a:bodyPr/>
                    <a:p/>
                  </a:txBody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Class C Common Stock Beneficially Owned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>
                  <a:txBody>
                    <a:bodyPr/>
                    <a:p/>
                  </a:txBody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Total Common Stock Beneficially Owned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Combined Voting Power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0925">
                <a:tc v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Shares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0%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Shares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0%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Shares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0%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Shares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%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0%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Jack Leonard and affiliated entities 1, 2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55,726,099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31.4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35,210,946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100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-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-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90,937,045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42.3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74.6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ABC</a:t>
                      </a:r>
                      <a:r>
                        <a:rPr lang="en" sz="700">
                          <a:solidFill>
                            <a:schemeClr val="dk1"/>
                          </a:solidFill>
                        </a:rPr>
                        <a:t> Barista Holdings, L.P. 1, 3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2,347,346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1.3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-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-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2,347,346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100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4,694,692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2.2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0.5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2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GFP</a:t>
                      </a:r>
                      <a:r>
                        <a:rPr lang="en" sz="700">
                          <a:solidFill>
                            <a:schemeClr val="dk1"/>
                          </a:solidFill>
                        </a:rPr>
                        <a:t> LLC 4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6,486,879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3.7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-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-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-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-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6,486,879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3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1.4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7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Current Executive Officers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140,597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140,597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Former executives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516,679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*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-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-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-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-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516,679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*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*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8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All current directors and executive officers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7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as a group (14 persons) 6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55,866,696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31.5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35,210,946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100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-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-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91,077,642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42.4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</a:rPr>
                        <a:t>74.6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117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Capitalization Table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PowerPoint Presentation</dc:title>
  <cp:lastModifiedBy>python-pptx</cp:lastModifiedBy>
  <cp:revision>1</cp:revision>
  <dcterms:modified xsi:type="dcterms:W3CDTF">2025-11-09T23:18:26Z</dcterms:modified>
</cp:coreProperties>
</file>
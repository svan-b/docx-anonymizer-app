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158DA2-02A9-457C-8935-1226ADD3E300}">
  <a:tblStyle styleId="{57158DA2-02A9-457C-8935-1226ADD3E30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B10DBF6-5F6C-43B0-9EF2-74FAD62EE21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Average-regular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adbb0d5d_3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0adbb0d5d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adbb0d5d_3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a0adbb0d5d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adbb0d5d_3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a0adbb0d5d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adbb0d5d_3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a0adbb0d5d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adbb0d5d_3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a0adbb0d5d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0adbb0d5d_3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0adbb0d5d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adbb0d5d_3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a0adbb0d5d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adbb0d5d_3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0adbb0d5d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1.6 Offering Economics Summary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 Barista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4"/>
          <p:cNvGraphicFramePr/>
          <p:nvPr/>
        </p:nvGraphicFramePr>
        <p:xfrm>
          <a:off x="627853" y="1208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{57158DA2-02A9-457C-8935-1226ADD3E300}</a:tableStyleId>
              </a:tblPr>
              <a:tblGrid>
                <a:gridCol w="3315275"/>
                <a:gridCol w="4573000"/>
              </a:tblGrid>
              <a:tr h="29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sz="1100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100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Issuer: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Project Barista Inc. (“the Company”)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Ticker / Exchange: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CCOFE / NYSE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Type: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Follow-on Public Offering (Mixed Primary + Secondary)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Securities Offered: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18,000,000 shares of Class A Common Stock (6,000,000 Primary / 12,000,000 Secondary)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Price: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$52.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78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per share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Gross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$950MM (Company: $317MM / Selling Stockholders: $633MM)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Underwriting Discount: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4.0% (Company portion only)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Expected Net Proceeds to Company: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Approximately $30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1MM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(Cont’d)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311700" y="1239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{57158DA2-02A9-457C-8935-1226ADD3E300}</a:tableStyleId>
              </a:tblPr>
              <a:tblGrid>
                <a:gridCol w="2432275"/>
                <a:gridCol w="6088325"/>
              </a:tblGrid>
              <a:tr h="39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Use of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New shop development, repayment of revolver borrowings, technology investments, and general corporate purposes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Selling Stockholders: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Funds affiliated with ABC Partners L.P. and certain executives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Form Reference: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Form S-3 (File No. 333-XXXXXX); Prospectus Supplement filed under Rule 424(b)(5)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AAABB LLC (Lead Left), BBBCC Securities, DDDFF Securities LLC as Joint Bookrunners; EEEE Securities and FFFF Capital Markets as Co-Managers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Settlement Date: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[Insert Date] (T+3)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Auditors: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KWYZ LLP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Legal Counsel: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UTLC LLP (Company), [Underwriters’ Counsel]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Google Shape;77;p16"/>
          <p:cNvGraphicFramePr/>
          <p:nvPr/>
        </p:nvGraphicFramePr>
        <p:xfrm>
          <a:off x="311700" y="134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{57158DA2-02A9-457C-8935-1226ADD3E300}</a:tableStyleId>
              </a:tblPr>
              <a:tblGrid>
                <a:gridCol w="2793275"/>
                <a:gridCol w="1667775"/>
                <a:gridCol w="4059550"/>
              </a:tblGrid>
              <a:tr h="30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Value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(Pre-Offering)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164.5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Includes all outstanding Class A, Class B, and Class C shares on a converted basis.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(Post-Offering)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170.5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Reflects issuance of 6.0 million new shares.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Ownership Dilution to Existing Shareholders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~3.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Based on fully diluted post-offering shares.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Public Float Increase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+6.0 million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Driven primarily by secondary portion.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Coverage (Book Demand)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7.8x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Oversubscribed at pricing.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Institutional Allocation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~92%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Remainder distributed to retail/HNW accounts.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Lock-Up Period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180 days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Applies to company, directors, and executive officers.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Over-Allotment (Greenshoe)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2,700,000 shares (15%)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Available to cover overallotments; stabilization managed by AAABB LLC.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Key Offering Metrics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/>
              <a:t>Underwriting </a:t>
            </a:r>
            <a:r>
              <a:rPr lang="en" sz="2800"/>
              <a:t>Economics </a:t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4351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{0B10DBF6-5F6C-43B0-9EF2-74FAD62EE212}</a:tableStyleId>
              </a:tblPr>
              <a:tblGrid>
                <a:gridCol w="1185525"/>
                <a:gridCol w="1185525"/>
                <a:gridCol w="1185525"/>
                <a:gridCol w="1185525"/>
                <a:gridCol w="1185525"/>
                <a:gridCol w="1185525"/>
                <a:gridCol w="1185525"/>
              </a:tblGrid>
              <a:tr h="555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Firm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Role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Allocation 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Management Fee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Underwriting Fee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Selling Concession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Total Fees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AAABB LLC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Lead Left Bookrunner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31.00%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$2,356,099.20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$2,356,099.20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$7,068,297.60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$11,780,496.00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BBBCC Securities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27.00%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$2,052,086.40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$2,052,086.40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$6,156,259.20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$10,260,432.00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DDDFF Securities LLC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21.00%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$1,596,067.20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$1,596,067.20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$4,788,201.60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$7,980,336.00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EEEE Securities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12.00%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$912,038.40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$912,038.40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$2,736,115.20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$4,560,192.00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FFFF Capital Markets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9.00%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$684,028.80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$684,028.80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$2,052,086.40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$3,420,144.00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Total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100.00%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$7,600,320.00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$7,600,320.00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$22,800,960.00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$38,001,600.00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Aftermarket</a:t>
            </a:r>
            <a:r>
              <a:rPr b="1" lang="en" sz="2400"/>
              <a:t> </a:t>
            </a:r>
            <a:r>
              <a:rPr lang="en" sz="2400"/>
              <a:t>and Stabilization Framework</a:t>
            </a:r>
            <a:endParaRPr/>
          </a:p>
        </p:txBody>
      </p:sp>
      <p:grpSp>
        <p:nvGrpSpPr>
          <p:cNvPr id="90" name="Google Shape;90;p18"/>
          <p:cNvGrpSpPr/>
          <p:nvPr/>
        </p:nvGrpSpPr>
        <p:grpSpPr>
          <a:xfrm>
            <a:off x="311700" y="1524464"/>
            <a:ext cx="8520600" cy="2631929"/>
            <a:chOff x="0" y="316239"/>
            <a:chExt cx="8520600" cy="2631929"/>
          </a:xfrm>
        </p:grpSpPr>
        <p:sp>
          <p:nvSpPr>
            <p:cNvPr id="91" name="Google Shape;91;p18"/>
            <p:cNvSpPr/>
            <p:nvPr/>
          </p:nvSpPr>
          <p:spPr>
            <a:xfrm>
              <a:off x="0" y="31623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361048" y="584788"/>
              <a:ext cx="656452" cy="6564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8"/>
            <p:cNvSpPr txBox="1"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Stabilizing Manager: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AAABB LLC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Greenshoe: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2.7 million shares (15% of base offering)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Stabilization Window: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30 days from pricing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Trading Support Goal: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Maintain orderly market conditions and limit initial volatility.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Price Range Target (First Day):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$52.00 – $</a:t>
              </a:r>
              <a:r>
                <a:rPr lang="en"/>
                <a:t>57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.50</a:t>
              </a: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0" y="175461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361048" y="2023167"/>
              <a:ext cx="656452" cy="6564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AAABB’s Syndicate Desk will manage stabilization and aftermarket monitoring consistent with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Regulation M, Rule 104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All stabilization trades and greenshoe exercise decisions will be jointly reviewed by syndicate leads.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Key Takeaways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4" name="Google Shape;104;p19"/>
          <p:cNvGrpSpPr/>
          <p:nvPr/>
        </p:nvGrpSpPr>
        <p:grpSpPr>
          <a:xfrm>
            <a:off x="2968986" y="1240542"/>
            <a:ext cx="3206027" cy="3199886"/>
            <a:chOff x="2657286" y="32317"/>
            <a:chExt cx="3206027" cy="3199886"/>
          </a:xfrm>
        </p:grpSpPr>
        <p:sp>
          <p:nvSpPr>
            <p:cNvPr id="105" name="Google Shape;105;p19"/>
            <p:cNvSpPr/>
            <p:nvPr/>
          </p:nvSpPr>
          <p:spPr>
            <a:xfrm>
              <a:off x="2927768" y="202066"/>
              <a:ext cx="2742102" cy="2742102"/>
            </a:xfrm>
            <a:prstGeom prst="pie">
              <a:avLst>
                <a:gd fmla="val 16200000" name="adj1"/>
                <a:gd fmla="val 2052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4358232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</a:rPr>
                <a:t>Transaction strengthens liquidity, reducing revolver utilization to zero.</a:t>
              </a:r>
              <a:endParaRPr b="1" i="0" sz="6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2951272" y="275189"/>
              <a:ext cx="2742102" cy="2742102"/>
            </a:xfrm>
            <a:prstGeom prst="pie">
              <a:avLst>
                <a:gd fmla="val 20520000" name="adj1"/>
                <a:gd fmla="val 324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4717317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</a:rPr>
                <a:t>Expands public float by over 10 million shares, improving daily trading liquidity and institutional access.</a:t>
              </a:r>
              <a:endParaRPr b="1" i="0" sz="6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2889248" y="320238"/>
              <a:ext cx="2742102" cy="2742102"/>
            </a:xfrm>
            <a:prstGeom prst="pie">
              <a:avLst>
                <a:gd fmla="val 3240000" name="adj1"/>
                <a:gd fmla="val 756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 txBox="1"/>
            <p:nvPr/>
          </p:nvSpPr>
          <p:spPr>
            <a:xfrm>
              <a:off x="3868571" y="2246239"/>
              <a:ext cx="783457" cy="718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</a:rPr>
                <a:t>Modest dilution (~3.4%) offset by improved capital flexibility and reinvestment capacity.</a:t>
              </a:r>
              <a:endParaRPr b="1" i="0" sz="6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2827224" y="275189"/>
              <a:ext cx="2742102" cy="2742102"/>
            </a:xfrm>
            <a:prstGeom prst="pie">
              <a:avLst>
                <a:gd fmla="val 7560000" name="adj1"/>
                <a:gd fmla="val 1188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2987180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</a:rPr>
                <a:t>Proceeds earmarked for high-ROI growth (new shops) and balance sheet de-risking.</a:t>
              </a:r>
              <a:endParaRPr b="1" i="0" sz="6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2850728" y="202066"/>
              <a:ext cx="2742102" cy="2742102"/>
            </a:xfrm>
            <a:prstGeom prst="pie">
              <a:avLst>
                <a:gd fmla="val 11880000" name="adj1"/>
                <a:gd fmla="val 1620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9"/>
            <p:cNvSpPr txBox="1"/>
            <p:nvPr/>
          </p:nvSpPr>
          <p:spPr>
            <a:xfrm>
              <a:off x="3280977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</a:rPr>
                <a:t>Demand profile consistent with top-tier consumer growth offerings; oversubscribed nearly 8x.</a:t>
              </a:r>
              <a:endParaRPr b="1" i="0" sz="6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2757890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0005" y="4067"/>
                  </a:moveTo>
                  <a:lnTo>
                    <a:pt x="60005" y="4067"/>
                  </a:lnTo>
                  <a:cubicBezTo>
                    <a:pt x="82391" y="4070"/>
                    <a:pt x="102619" y="17419"/>
                    <a:pt x="111424" y="38000"/>
                  </a:cubicBezTo>
                  <a:lnTo>
                    <a:pt x="115280" y="36747"/>
                  </a:lnTo>
                  <a:lnTo>
                    <a:pt x="110293" y="43657"/>
                  </a:lnTo>
                  <a:lnTo>
                    <a:pt x="101740" y="41147"/>
                  </a:lnTo>
                  <a:lnTo>
                    <a:pt x="105594" y="39894"/>
                  </a:lnTo>
                  <a:lnTo>
                    <a:pt x="105594" y="39894"/>
                  </a:lnTo>
                  <a:cubicBezTo>
                    <a:pt x="97628" y="21829"/>
                    <a:pt x="79748" y="10171"/>
                    <a:pt x="60005" y="10169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2781712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113195" y="42715"/>
                  </a:moveTo>
                  <a:cubicBezTo>
                    <a:pt x="120114" y="64009"/>
                    <a:pt x="113668" y="87378"/>
                    <a:pt x="96810" y="102113"/>
                  </a:cubicBezTo>
                  <a:lnTo>
                    <a:pt x="99192" y="105393"/>
                  </a:lnTo>
                  <a:lnTo>
                    <a:pt x="91080" y="102785"/>
                  </a:lnTo>
                  <a:lnTo>
                    <a:pt x="90825" y="93875"/>
                  </a:lnTo>
                  <a:lnTo>
                    <a:pt x="93207" y="97154"/>
                  </a:lnTo>
                  <a:lnTo>
                    <a:pt x="93207" y="97154"/>
                  </a:lnTo>
                  <a:cubicBezTo>
                    <a:pt x="107930" y="83994"/>
                    <a:pt x="113494" y="63382"/>
                    <a:pt x="107392" y="4460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2719499" y="150602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92880" y="105248"/>
                  </a:moveTo>
                  <a:cubicBezTo>
                    <a:pt x="74766" y="118411"/>
                    <a:pt x="50547" y="119502"/>
                    <a:pt x="31322" y="108021"/>
                  </a:cubicBezTo>
                  <a:lnTo>
                    <a:pt x="28939" y="111301"/>
                  </a:lnTo>
                  <a:lnTo>
                    <a:pt x="28913" y="102779"/>
                  </a:lnTo>
                  <a:lnTo>
                    <a:pt x="37308" y="99784"/>
                  </a:lnTo>
                  <a:lnTo>
                    <a:pt x="34926" y="103063"/>
                  </a:lnTo>
                  <a:lnTo>
                    <a:pt x="34926" y="103063"/>
                  </a:lnTo>
                  <a:cubicBezTo>
                    <a:pt x="51992" y="113000"/>
                    <a:pt x="73317" y="111921"/>
                    <a:pt x="89293" y="10031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2657286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27127" y="105253"/>
                  </a:moveTo>
                  <a:cubicBezTo>
                    <a:pt x="9012" y="92094"/>
                    <a:pt x="490" y="69400"/>
                    <a:pt x="5466" y="47570"/>
                  </a:cubicBezTo>
                  <a:lnTo>
                    <a:pt x="1610" y="46317"/>
                  </a:lnTo>
                  <a:lnTo>
                    <a:pt x="9707" y="43658"/>
                  </a:lnTo>
                  <a:lnTo>
                    <a:pt x="15150" y="50716"/>
                  </a:lnTo>
                  <a:lnTo>
                    <a:pt x="11296" y="49464"/>
                  </a:lnTo>
                  <a:lnTo>
                    <a:pt x="11296" y="49464"/>
                  </a:lnTo>
                  <a:cubicBezTo>
                    <a:pt x="7121" y="68765"/>
                    <a:pt x="14737" y="88710"/>
                    <a:pt x="30714" y="100316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2681108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805" y="42714"/>
                  </a:moveTo>
                  <a:cubicBezTo>
                    <a:pt x="13724" y="21424"/>
                    <a:pt x="32669" y="6310"/>
                    <a:pt x="54964" y="4295"/>
                  </a:cubicBezTo>
                  <a:lnTo>
                    <a:pt x="54964" y="240"/>
                  </a:lnTo>
                  <a:lnTo>
                    <a:pt x="59995" y="7118"/>
                  </a:lnTo>
                  <a:lnTo>
                    <a:pt x="54965" y="14477"/>
                  </a:lnTo>
                  <a:lnTo>
                    <a:pt x="54965" y="10424"/>
                  </a:lnTo>
                  <a:lnTo>
                    <a:pt x="54965" y="10424"/>
                  </a:lnTo>
                  <a:cubicBezTo>
                    <a:pt x="35322" y="12419"/>
                    <a:pt x="18710" y="25823"/>
                    <a:pt x="12609" y="44600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Disclosure</a:t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311700" y="1208225"/>
            <a:ext cx="8520599" cy="3264407"/>
            <a:chOff x="0" y="0"/>
            <a:chExt cx="8520599" cy="3264407"/>
          </a:xfrm>
        </p:grpSpPr>
        <p:sp>
          <p:nvSpPr>
            <p:cNvPr id="126" name="Google Shape;126;p20"/>
            <p:cNvSpPr/>
            <p:nvPr/>
          </p:nvSpPr>
          <p:spPr>
            <a:xfrm>
              <a:off x="0" y="0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28683" y="28683"/>
              <a:ext cx="6185745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AAABB LLC — Equity Capital Markets / Syndicate Desk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[Name], Managing Director, ECM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[Name], Associate, Syndicate</a:t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639044" y="1142542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 txBox="1"/>
            <p:nvPr/>
          </p:nvSpPr>
          <p:spPr>
            <a:xfrm>
              <a:off x="667727" y="1171225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Project Barista Inc. — Finance &amp; Treasury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UTLC LLP — Company Counsel</a:t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>
              <a:off x="1278089" y="2285085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 txBox="1"/>
            <p:nvPr/>
          </p:nvSpPr>
          <p:spPr>
            <a:xfrm>
              <a:off x="1306772" y="2313768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Confidential – For internal use and VDR inclusion only.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© 2025 Project Barista Inc. — All rights reserved.</a:t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6605950" y="742652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803"/>
              </a:srgbClr>
            </a:solidFill>
            <a:ln cap="flat" cmpd="sng" w="9525">
              <a:solidFill>
                <a:srgbClr val="D5DBD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 txBox="1"/>
            <p:nvPr/>
          </p:nvSpPr>
          <p:spPr>
            <a:xfrm>
              <a:off x="6749176" y="742652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7244995" y="1878666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803"/>
              </a:srgbClr>
            </a:solidFill>
            <a:ln cap="flat" cmpd="sng" w="9525">
              <a:solidFill>
                <a:srgbClr val="D5DBD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 txBox="1"/>
            <p:nvPr/>
          </p:nvSpPr>
          <p:spPr>
            <a:xfrm>
              <a:off x="7388221" y="1878666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2025-11-09T23:18:26Z</dcterms:modified>
</cp:coreProperties>
</file>
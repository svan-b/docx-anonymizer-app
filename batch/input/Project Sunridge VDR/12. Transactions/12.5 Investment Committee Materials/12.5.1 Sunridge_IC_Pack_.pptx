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Century Gothic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X+MY1PMGOxUHLq46theQmw2Jk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CenturyGothic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CenturyGothic-italic.fntdata"/><Relationship Id="rId14" Type="http://schemas.openxmlformats.org/officeDocument/2006/relationships/font" Target="fonts/CenturyGothic-bold.fntdata"/><Relationship Id="rId17" Type="http://customschemas.google.com/relationships/presentationmetadata" Target="metadata"/><Relationship Id="rId16" Type="http://schemas.openxmlformats.org/officeDocument/2006/relationships/font" Target="fonts/CenturyGothic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4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1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2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3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3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3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3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3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3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4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4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4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4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4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4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4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4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8" name="Google Shape;158;p1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1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7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7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7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7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7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9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2" name="Google Shape;152;p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3" name="Google Shape;153;p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4" name="Google Shape;154;p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/>
          <p:nvPr>
            <p:ph type="title"/>
          </p:nvPr>
        </p:nvSpPr>
        <p:spPr>
          <a:xfrm>
            <a:off x="650669" y="629266"/>
            <a:ext cx="3330328" cy="1641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0" i="0" lang="en-GB" sz="42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Executive Summary</a:t>
            </a:r>
            <a:endParaRPr/>
          </a:p>
        </p:txBody>
      </p:sp>
      <p:pic>
        <p:nvPicPr>
          <p:cNvPr descr="A solar panel farm" id="166" name="Google Shape;166;p1"/>
          <p:cNvPicPr preferRelativeResize="0"/>
          <p:nvPr/>
        </p:nvPicPr>
        <p:blipFill rotWithShape="1">
          <a:blip r:embed="rId4">
            <a:alphaModFix/>
          </a:blip>
          <a:srcRect b="-1" l="13483" r="13483" t="0"/>
          <a:stretch/>
        </p:blipFill>
        <p:spPr>
          <a:xfrm>
            <a:off x="4634680" y="10"/>
            <a:ext cx="756013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1"/>
          <p:cNvSpPr txBox="1"/>
          <p:nvPr>
            <p:ph idx="1" type="body"/>
          </p:nvPr>
        </p:nvSpPr>
        <p:spPr>
          <a:xfrm>
            <a:off x="650669" y="2438400"/>
            <a:ext cx="3330328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Project: Sunridge Solar (25 MWdc / 20 MWac)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Location: La Paz County, Arizona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Sponsor: </a:t>
            </a:r>
            <a:r>
              <a:rPr lang="en-GB" sz="1100"/>
              <a:t>SierraWave</a:t>
            </a:r>
            <a:r>
              <a:rPr lang="en-GB" sz="1100"/>
              <a:t> Energy Holdings (NYSE: SWEH)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Structure: Non-recourse project finance (SPV)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COD: 1 Jan 2028; PPA: 20-year fixed price</a:t>
            </a:r>
            <a:endParaRPr/>
          </a:p>
          <a:p>
            <a:pPr indent="-28702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None/>
            </a:pPr>
            <a:r>
              <a:t/>
            </a:r>
            <a:endParaRPr sz="11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Key Metrics: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- Levered IRR: 7.51%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- Equity Multiple: 2.0x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- Year-1 CAFD: $737,156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- P50 DSCR: 1.35x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80"/>
              <a:buChar char="►"/>
            </a:pPr>
            <a:r>
              <a:rPr lang="en-GB" sz="1100"/>
              <a:t>- P99 DSCR: 1.00x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526A6C"/>
            </a:gs>
            <a:gs pos="100000">
              <a:srgbClr val="1B494C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title"/>
          </p:nvPr>
        </p:nvSpPr>
        <p:spPr>
          <a:xfrm>
            <a:off x="1451580" y="804520"/>
            <a:ext cx="555035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entury Gothic"/>
              <a:buNone/>
            </a:pPr>
            <a:r>
              <a:rPr b="0" i="0" lang="en-GB" sz="42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Overview &amp; Status</a:t>
            </a:r>
            <a:endParaRPr/>
          </a:p>
        </p:txBody>
      </p:sp>
      <p:sp>
        <p:nvSpPr>
          <p:cNvPr id="174" name="Google Shape;174;p2"/>
          <p:cNvSpPr txBox="1"/>
          <p:nvPr>
            <p:ph idx="1" type="body"/>
          </p:nvPr>
        </p:nvSpPr>
        <p:spPr>
          <a:xfrm>
            <a:off x="1451580" y="2015732"/>
            <a:ext cx="555035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Asset: 25 MWdc / 20 MWac utility-scale PV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Technology: Tier‑1 mono modules, single-axis tracking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Site: 180-acre leased site, La Paz County</a:t>
            </a:r>
            <a:endParaRPr sz="2600"/>
          </a:p>
          <a:p>
            <a:pPr indent="-30226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640"/>
              <a:buNone/>
            </a:pPr>
            <a:r>
              <a:t/>
            </a:r>
            <a:endParaRPr sz="14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Development Status: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- Land lease executed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- Interconnection SIS complete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- Environmental studies complete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- PPA in advanced negotiation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- EPC RFP underway</a:t>
            </a:r>
            <a:endParaRPr sz="2600"/>
          </a:p>
          <a:p>
            <a:pPr indent="-30226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640"/>
              <a:buNone/>
            </a:pPr>
            <a:r>
              <a:t/>
            </a:r>
            <a:endParaRPr sz="14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Timeline:</a:t>
            </a:r>
            <a:endParaRPr sz="2600"/>
          </a:p>
          <a:p>
            <a:pPr indent="-381000" lvl="0" marL="3429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240"/>
              <a:buChar char="►"/>
            </a:pPr>
            <a:r>
              <a:rPr lang="en-GB" sz="1400"/>
              <a:t>NTP: Mid-2027 | COD: 1 Jan 2028</a:t>
            </a:r>
            <a:endParaRPr sz="2600"/>
          </a:p>
        </p:txBody>
      </p:sp>
      <p:pic>
        <p:nvPicPr>
          <p:cNvPr id="175" name="Google Shape;175;p2"/>
          <p:cNvPicPr preferRelativeResize="0"/>
          <p:nvPr/>
        </p:nvPicPr>
        <p:blipFill rotWithShape="1">
          <a:blip r:embed="rId3">
            <a:alphaModFix/>
          </a:blip>
          <a:srcRect b="0" l="12215" r="47059" t="0"/>
          <a:stretch/>
        </p:blipFill>
        <p:spPr>
          <a:xfrm>
            <a:off x="8116373" y="1116345"/>
            <a:ext cx="2799103" cy="3866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0" i="0" lang="en-GB" sz="42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Capital Structure &amp; Financing Plan</a:t>
            </a:r>
            <a:endParaRPr/>
          </a:p>
        </p:txBody>
      </p:sp>
      <p:sp>
        <p:nvSpPr>
          <p:cNvPr id="181" name="Google Shape;181;p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Total Project Cost: $30.54m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Debt (DSCR-constrained): $23.67m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Equity Requirement: ~$6.87m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Leverage: ~77% Debt / 23% Equity</a:t>
            </a:r>
            <a:endParaRPr/>
          </a:p>
          <a:p>
            <a:pPr indent="-248920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Debt Structure: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Senior secured non-recourse PF loan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Tenor: 18–22 years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DSCR thresholds: P50 ≥1.35x; P99 ≥1.00x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Interest rate (model): 4.65% all-in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DSRA: 6 months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0" i="0" lang="en-GB" sz="42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Financial Summary (Model Outputs)</a:t>
            </a:r>
            <a:endParaRPr/>
          </a:p>
        </p:txBody>
      </p:sp>
      <p:sp>
        <p:nvSpPr>
          <p:cNvPr id="187" name="Google Shape;187;p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Energy Production: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P50 Yr‑1: 50,370 MWh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Degradation: 0.50%/yr</a:t>
            </a:r>
            <a:endParaRPr/>
          </a:p>
          <a:p>
            <a:pPr indent="-264160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Cash Flows: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Yr‑1 CAFD: $737,156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PPA CAFD (Years 1–20): ~$</a:t>
            </a:r>
            <a:r>
              <a:rPr lang="en-GB"/>
              <a:t>12.4</a:t>
            </a: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Merchant tail CAFD: ~$</a:t>
            </a:r>
            <a:r>
              <a:rPr lang="en-GB"/>
              <a:t>1.3</a:t>
            </a: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endParaRPr/>
          </a:p>
          <a:p>
            <a:pPr indent="-264160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Returns: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Levered IRR: 7.51%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Equity Multiple: 2.0x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Payback: 9.9 years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b="0" i="0" lang="en-GB" sz="42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Risks &amp; Mitigants</a:t>
            </a:r>
            <a:endParaRPr/>
          </a:p>
        </p:txBody>
      </p:sp>
      <p:sp>
        <p:nvSpPr>
          <p:cNvPr id="193" name="Google Shape;193;p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Construction Risk: Fixed-price EPC, LDs, contingency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Resource Risk: IE-validated data, P50/P90/P99 cases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Offtaker Risk: IG-rated utility, fixed tariff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Financing Risk: DSCR-based sizing, swap hedge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Merchant Tail Risk: Conservative $35/MWh assumption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b="0" i="0" lang="en-GB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Regulatory Risk: Permits in advanced stages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p6"/>
          <p:cNvSpPr txBox="1"/>
          <p:nvPr>
            <p:ph type="title"/>
          </p:nvPr>
        </p:nvSpPr>
        <p:spPr>
          <a:xfrm>
            <a:off x="643855" y="1447800"/>
            <a:ext cx="310862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500"/>
              <a:buFont typeface="Century Gothic"/>
              <a:buNone/>
            </a:pPr>
            <a:r>
              <a:rPr lang="en-GB" sz="2500">
                <a:solidFill>
                  <a:srgbClr val="F2F2F2"/>
                </a:solidFill>
              </a:rPr>
              <a:t>Strategic Fit &amp; IC Recommendation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161310" y="0"/>
            <a:ext cx="8030690" cy="6858000"/>
          </a:xfrm>
          <a:custGeom>
            <a:rect b="b" l="l" r="r" t="t"/>
            <a:pathLst>
              <a:path extrusionOk="0" h="6858000" w="803069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948110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03" name="Google Shape;203;p6"/>
          <p:cNvGrpSpPr/>
          <p:nvPr/>
        </p:nvGrpSpPr>
        <p:grpSpPr>
          <a:xfrm>
            <a:off x="5048250" y="1447800"/>
            <a:ext cx="6496050" cy="4572000"/>
            <a:chOff x="0" y="0"/>
            <a:chExt cx="6496050" cy="4572000"/>
          </a:xfrm>
        </p:grpSpPr>
        <p:cxnSp>
          <p:nvCxnSpPr>
            <p:cNvPr id="204" name="Google Shape;204;p6"/>
            <p:cNvCxnSpPr/>
            <p:nvPr/>
          </p:nvCxnSpPr>
          <p:spPr>
            <a:xfrm>
              <a:off x="0" y="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C8150"/>
                </a:gs>
                <a:gs pos="100000">
                  <a:srgbClr val="BA4E0C"/>
                </a:gs>
              </a:gsLst>
              <a:lin ang="5400000" scaled="0"/>
            </a:gradFill>
            <a:ln cap="rnd" cmpd="sng" w="9525">
              <a:solidFill>
                <a:srgbClr val="E9621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05" name="Google Shape;205;p6"/>
            <p:cNvSpPr/>
            <p:nvPr/>
          </p:nvSpPr>
          <p:spPr>
            <a:xfrm>
              <a:off x="0" y="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0" y="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Strategic Fit:</a:t>
              </a:r>
              <a:endParaRPr/>
            </a:p>
          </p:txBody>
        </p:sp>
        <p:cxnSp>
          <p:nvCxnSpPr>
            <p:cNvPr id="207" name="Google Shape;207;p6"/>
            <p:cNvCxnSpPr/>
            <p:nvPr/>
          </p:nvCxnSpPr>
          <p:spPr>
            <a:xfrm>
              <a:off x="0" y="5715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D8B51"/>
                </a:gs>
                <a:gs pos="100000">
                  <a:srgbClr val="BB580E"/>
                </a:gs>
              </a:gsLst>
              <a:lin ang="5400000" scaled="0"/>
            </a:gradFill>
            <a:ln cap="rnd" cmpd="sng" w="9525">
              <a:solidFill>
                <a:srgbClr val="EA6F1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08" name="Google Shape;208;p6"/>
            <p:cNvSpPr/>
            <p:nvPr/>
          </p:nvSpPr>
          <p:spPr>
            <a:xfrm>
              <a:off x="0" y="571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 txBox="1"/>
            <p:nvPr/>
          </p:nvSpPr>
          <p:spPr>
            <a:xfrm>
              <a:off x="0" y="571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 Expands </a:t>
              </a: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SierraWave</a:t>
              </a: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’s contracted portfolio</a:t>
              </a:r>
              <a:endParaRPr/>
            </a:p>
          </p:txBody>
        </p:sp>
        <p:cxnSp>
          <p:nvCxnSpPr>
            <p:cNvPr id="210" name="Google Shape;210;p6"/>
            <p:cNvCxnSpPr/>
            <p:nvPr/>
          </p:nvCxnSpPr>
          <p:spPr>
            <a:xfrm>
              <a:off x="0" y="11430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E9551"/>
                </a:gs>
                <a:gs pos="100000">
                  <a:srgbClr val="BC630F"/>
                </a:gs>
              </a:gsLst>
              <a:lin ang="5400000" scaled="0"/>
            </a:gradFill>
            <a:ln cap="rnd" cmpd="sng" w="9525">
              <a:solidFill>
                <a:srgbClr val="EB7C1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11" name="Google Shape;211;p6"/>
            <p:cNvSpPr/>
            <p:nvPr/>
          </p:nvSpPr>
          <p:spPr>
            <a:xfrm>
              <a:off x="0" y="11430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0" y="11430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 Strengthens CAFD visibility</a:t>
              </a:r>
              <a:endParaRPr/>
            </a:p>
          </p:txBody>
        </p:sp>
        <p:cxnSp>
          <p:nvCxnSpPr>
            <p:cNvPr id="213" name="Google Shape;213;p6"/>
            <p:cNvCxnSpPr/>
            <p:nvPr/>
          </p:nvCxnSpPr>
          <p:spPr>
            <a:xfrm>
              <a:off x="0" y="17145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D9F53"/>
                </a:gs>
                <a:gs pos="100000">
                  <a:srgbClr val="BB6C11"/>
                </a:gs>
              </a:gsLst>
              <a:lin ang="5400000" scaled="0"/>
            </a:gradFill>
            <a:ln cap="rnd" cmpd="sng" w="9525">
              <a:solidFill>
                <a:srgbClr val="EA881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14" name="Google Shape;214;p6"/>
            <p:cNvSpPr/>
            <p:nvPr/>
          </p:nvSpPr>
          <p:spPr>
            <a:xfrm>
              <a:off x="0" y="1714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0" y="1714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 Fully non-recourse — no corporate leverage impact</a:t>
              </a:r>
              <a:endParaRPr/>
            </a:p>
          </p:txBody>
        </p:sp>
        <p:cxnSp>
          <p:nvCxnSpPr>
            <p:cNvPr id="216" name="Google Shape;216;p6"/>
            <p:cNvCxnSpPr/>
            <p:nvPr/>
          </p:nvCxnSpPr>
          <p:spPr>
            <a:xfrm>
              <a:off x="0" y="22860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DA954"/>
                </a:gs>
                <a:gs pos="100000">
                  <a:srgbClr val="BB7714"/>
                </a:gs>
              </a:gsLst>
              <a:lin ang="5400000" scaled="0"/>
            </a:gradFill>
            <a:ln cap="rnd" cmpd="sng" w="9525">
              <a:solidFill>
                <a:srgbClr val="EA951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17" name="Google Shape;217;p6"/>
            <p:cNvSpPr/>
            <p:nvPr/>
          </p:nvSpPr>
          <p:spPr>
            <a:xfrm>
              <a:off x="0" y="22860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0" y="22860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 ESG-aligned asset in high-quality solar region</a:t>
              </a:r>
              <a:endParaRPr/>
            </a:p>
          </p:txBody>
        </p:sp>
        <p:cxnSp>
          <p:nvCxnSpPr>
            <p:cNvPr id="219" name="Google Shape;219;p6"/>
            <p:cNvCxnSpPr/>
            <p:nvPr/>
          </p:nvCxnSpPr>
          <p:spPr>
            <a:xfrm>
              <a:off x="0" y="28575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CB456"/>
                </a:gs>
                <a:gs pos="100000">
                  <a:srgbClr val="BA8017"/>
                </a:gs>
              </a:gsLst>
              <a:lin ang="5400000" scaled="0"/>
            </a:gradFill>
            <a:ln cap="rnd" cmpd="sng" w="9525">
              <a:solidFill>
                <a:srgbClr val="E9A11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20" name="Google Shape;220;p6"/>
            <p:cNvSpPr/>
            <p:nvPr/>
          </p:nvSpPr>
          <p:spPr>
            <a:xfrm>
              <a:off x="0" y="2857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0" y="2857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Recommendation:</a:t>
              </a:r>
              <a:endParaRPr/>
            </a:p>
          </p:txBody>
        </p:sp>
        <p:cxnSp>
          <p:nvCxnSpPr>
            <p:cNvPr id="222" name="Google Shape;222;p6"/>
            <p:cNvCxnSpPr/>
            <p:nvPr/>
          </p:nvCxnSpPr>
          <p:spPr>
            <a:xfrm>
              <a:off x="0" y="34290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CBC58"/>
                </a:gs>
                <a:gs pos="100000">
                  <a:srgbClr val="B8881A"/>
                </a:gs>
              </a:gsLst>
              <a:lin ang="5400000" scaled="0"/>
            </a:gradFill>
            <a:ln cap="rnd" cmpd="sng" w="9525">
              <a:solidFill>
                <a:srgbClr val="E7AC2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23" name="Google Shape;223;p6"/>
            <p:cNvSpPr/>
            <p:nvPr/>
          </p:nvSpPr>
          <p:spPr>
            <a:xfrm>
              <a:off x="0" y="34290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0" y="34290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Proceed to finalize PPA, EPC, and financing.</a:t>
              </a:r>
              <a:endParaRPr/>
            </a:p>
          </p:txBody>
        </p:sp>
        <p:cxnSp>
          <p:nvCxnSpPr>
            <p:cNvPr id="225" name="Google Shape;225;p6"/>
            <p:cNvCxnSpPr/>
            <p:nvPr/>
          </p:nvCxnSpPr>
          <p:spPr>
            <a:xfrm>
              <a:off x="0" y="4000500"/>
              <a:ext cx="6496050" cy="0"/>
            </a:xfrm>
            <a:prstGeom prst="straightConnector1">
              <a:avLst/>
            </a:prstGeom>
            <a:gradFill>
              <a:gsLst>
                <a:gs pos="0">
                  <a:srgbClr val="EBC45A"/>
                </a:gs>
                <a:gs pos="100000">
                  <a:srgbClr val="B7911E"/>
                </a:gs>
              </a:gsLst>
              <a:lin ang="5400000" scaled="0"/>
            </a:gradFill>
            <a:ln cap="rnd" cmpd="sng" w="9525">
              <a:solidFill>
                <a:srgbClr val="E6B62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5400">
                <a:srgbClr val="000000">
                  <a:alpha val="44705"/>
                </a:srgbClr>
              </a:outerShdw>
            </a:effectLst>
          </p:spPr>
        </p:cxnSp>
        <p:sp>
          <p:nvSpPr>
            <p:cNvPr id="226" name="Google Shape;226;p6"/>
            <p:cNvSpPr/>
            <p:nvPr/>
          </p:nvSpPr>
          <p:spPr>
            <a:xfrm>
              <a:off x="0" y="4000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0" y="4000500"/>
              <a:ext cx="64960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GB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Advance Sunridge to Financial Close in 2027.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chris dilling</dc:creator>
</cp:coreProperties>
</file>
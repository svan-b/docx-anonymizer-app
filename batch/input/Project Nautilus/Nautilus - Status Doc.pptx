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Arimo"/>
      <p:regular r:id="rId15"/>
      <p:bold r:id="rId16"/>
      <p:italic r:id="rId17"/>
      <p:boldItalic r:id="rId18"/>
    </p:embeddedFont>
    <p:embeddedFont>
      <p:font typeface="Arimo SemiBold"/>
      <p:regular r:id="rId19"/>
      <p:bold r:id="rId20"/>
      <p:italic r:id="rId21"/>
      <p:boldItalic r:id="rId22"/>
    </p:embeddedFont>
    <p:embeddedFont>
      <p:font typeface="Arimo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084931-11FB-4FBF-A312-EDAA522CAAB5}">
  <a:tblStyle styleId="{30084931-11FB-4FBF-A312-EDAA522CAA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SemiBold-bold.fntdata"/><Relationship Id="rId22" Type="http://schemas.openxmlformats.org/officeDocument/2006/relationships/font" Target="fonts/ArimoSemiBold-boldItalic.fntdata"/><Relationship Id="rId21" Type="http://schemas.openxmlformats.org/officeDocument/2006/relationships/font" Target="fonts/ArimoSemiBold-italic.fntdata"/><Relationship Id="rId24" Type="http://schemas.openxmlformats.org/officeDocument/2006/relationships/font" Target="fonts/ArimoMedium-bold.fntdata"/><Relationship Id="rId23" Type="http://schemas.openxmlformats.org/officeDocument/2006/relationships/font" Target="fonts/Arimo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rimoMedium-boldItalic.fntdata"/><Relationship Id="rId25" Type="http://schemas.openxmlformats.org/officeDocument/2006/relationships/font" Target="fonts/Arimo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Arimo-regular.fntdata"/><Relationship Id="rId14" Type="http://schemas.openxmlformats.org/officeDocument/2006/relationships/slide" Target="slides/slide8.xml"/><Relationship Id="rId17" Type="http://schemas.openxmlformats.org/officeDocument/2006/relationships/font" Target="fonts/Arimo-italic.fntdata"/><Relationship Id="rId16" Type="http://schemas.openxmlformats.org/officeDocument/2006/relationships/font" Target="fonts/Arimo-bold.fntdata"/><Relationship Id="rId19" Type="http://schemas.openxmlformats.org/officeDocument/2006/relationships/font" Target="fonts/ArimoSemiBold-regular.fntdata"/><Relationship Id="rId18" Type="http://schemas.openxmlformats.org/officeDocument/2006/relationships/font" Target="fonts/Arim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a21748b2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a21748b2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a21748b28e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a21748b28e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a21748b28e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a21748b28e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21748b28e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a21748b28e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a25250c2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a25250c2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a25250c24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a25250c24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a25250c24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a25250c24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a25250c24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a25250c24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19" name="Google Shape;19;p3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3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21" name="Google Shape;21;p3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24" name="Google Shape;24;p3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9" name="Google Shape;29;p4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0" name="Google Shape;30;p4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1" name="Google Shape;31;p4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2" name="Google Shape;32;p4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3" name="Google Shape;33;p4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7" name="Google Shape;37;p4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8" name="Google Shape;38;p4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9" name="Google Shape;39;p4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0" name="Google Shape;40;p4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1" name="Google Shape;41;p4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2" name="Google Shape;42;p4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7" name="Google Shape;57;p5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8" name="Google Shape;58;p5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9" name="Google Shape;59;p5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0" name="Google Shape;60;p5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1" name="Google Shape;61;p5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6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74" name="Google Shape;74;p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5" name="Google Shape;75;p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7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78" name="Google Shape;78;p7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79" name="Google Shape;79;p7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0" name="Google Shape;80;p7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1" name="Google Shape;81;p7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2" name="Google Shape;82;p7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92" name="Google Shape;92;p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3" name="Google Shape;93;p8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9"/>
          <p:cNvPicPr preferRelativeResize="0"/>
          <p:nvPr/>
        </p:nvPicPr>
        <p:blipFill rotWithShape="1">
          <a:blip r:embed="rId2">
            <a:alphaModFix amt="10000"/>
          </a:blip>
          <a:srcRect b="720" l="1068" r="19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97" name="Google Shape;97;p9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1" name="Google Shape;101;p10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2" name="Google Shape;102;p10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04" name="Google Shape;104;p10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5" name="Google Shape;105;p10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6" name="Google Shape;106;p1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09" name="Google Shape;109;p11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10" name="Google Shape;110;p11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111" name="Google Shape;111;p11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8" name="Google Shape;118;p12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119" name="Google Shape;119;p12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2" name="Google Shape;122;p12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6" name="Google Shape;126;p13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8" name="Google Shape;128;p13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14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6" name="Google Shape;136;p14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7" name="Google Shape;137;p14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8" name="Google Shape;138;p14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1" name="Google Shape;141;p15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2" name="Google Shape;142;p15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3" name="Google Shape;143;p1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5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8" name="Google Shape;148;p15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9" name="Google Shape;149;p15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50" name="Google Shape;150;p15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5" name="Google Shape;155;p16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6" name="Google Shape;156;p16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7" name="Google Shape;157;p16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158" name="Google Shape;158;p16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16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17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4" name="Google Shape;174;p17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5" name="Google Shape;175;p17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6" name="Google Shape;176;p17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7" name="Google Shape;177;p17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83" name="Google Shape;183;p18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184" name="Google Shape;184;p18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5" name="Google Shape;185;p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8" name="Google Shape;188;p19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89" name="Google Shape;189;p19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0" name="Google Shape;190;p19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1" name="Google Shape;191;p19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2" name="Google Shape;192;p19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3" name="Google Shape;193;p19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4" name="Google Shape;194;p19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5" name="Google Shape;195;p19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6" name="Google Shape;196;p19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7" name="Google Shape;197;p19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8" name="Google Shape;198;p19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00" name="Google Shape;200;p19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1" name="Google Shape;201;p19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2" name="Google Shape;202;p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05" name="Google Shape;205;p20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6" name="Google Shape;206;p20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7" name="Google Shape;207;p20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3" name="Google Shape;213;p21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5" name="Google Shape;215;p21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16" name="Google Shape;216;p21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17" name="Google Shape;217;p21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18" name="Google Shape;218;p21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19" name="Google Shape;219;p21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20" name="Google Shape;220;p21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21" name="Google Shape;221;p21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23" name="Google Shape;223;p21"/>
          <p:cNvCxnSpPr>
            <a:stCxn id="221" idx="1"/>
            <a:endCxn id="221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1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8" name="Google Shape;228;p21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9" name="Google Shape;229;p21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0" name="Google Shape;230;p21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1" name="Google Shape;231;p21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2" name="Google Shape;232;p21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3" name="Google Shape;233;p21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4" name="Google Shape;234;p21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5" name="Google Shape;235;p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21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39" name="Google Shape;239;p22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40" name="Google Shape;240;p22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1" name="Google Shape;241;p22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2" name="Google Shape;242;p22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3" name="Google Shape;243;p22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4" name="Google Shape;244;p2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45" name="Google Shape;245;p22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6" name="Google Shape;246;p22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7" name="Google Shape;247;p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50" name="Google Shape;250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8" name="Google Shape;258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9" name="Google Shape;259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69" name="Google Shape;269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0" name="Google Shape;270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275" name="Google Shape;275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1" name="Google Shape;281;p3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2" name="Google Shape;282;p3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3" name="Google Shape;283;p3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4" name="Google Shape;284;p3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7" name="Google Shape;287;p3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8" name="Google Shape;288;p3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1" name="Google Shape;291;p3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2" name="Google Shape;292;p3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3" name="Google Shape;293;p3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3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8" name="Google Shape;298;p3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9" name="Google Shape;299;p3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0" name="Google Shape;300;p3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1" name="Google Shape;301;p3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2" name="Google Shape;302;p3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5" name="Google Shape;305;p3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3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3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8" name="Google Shape;308;p3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9" name="Google Shape;309;p3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3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3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2" name="Google Shape;312;p3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5" name="Google Shape;315;p3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8" name="Google Shape;318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1" name="Google Shape;32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2" name="Google Shape;322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3" name="Google Shape;323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6" name="Google Shape;326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9" name="Google Shape;329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1" name="Google Shape;33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2" name="Google Shape;332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3" name="Google Shape;333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4" name="Google Shape;334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4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4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5" name="Google Shape;345;p4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4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4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43" Type="http://schemas.openxmlformats.org/officeDocument/2006/relationships/theme" Target="../theme/theme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4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353" name="Google Shape;353;p44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  <p:sp>
        <p:nvSpPr>
          <p:cNvPr id="354" name="Google Shape;354;p44"/>
          <p:cNvSpPr txBox="1"/>
          <p:nvPr>
            <p:ph type="title"/>
          </p:nvPr>
        </p:nvSpPr>
        <p:spPr>
          <a:xfrm>
            <a:off x="795525" y="2323100"/>
            <a:ext cx="78663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Nautilus - Past Pitch</a:t>
            </a:r>
            <a:br>
              <a:rPr lang="en" sz="1000"/>
            </a:br>
            <a:br>
              <a:rPr lang="en" sz="1000"/>
            </a:br>
            <a:r>
              <a:rPr i="1" lang="en" sz="1400"/>
              <a:t>Highly professional advice from a (most likely) Real Pitch Deck </a:t>
            </a:r>
            <a:endParaRPr i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5"/>
          <p:cNvSpPr txBox="1"/>
          <p:nvPr/>
        </p:nvSpPr>
        <p:spPr>
          <a:xfrm>
            <a:off x="4605200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Credit Downgrade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As pre-warned in the pitch, downgrade by S&amp;P Global from BB- to B+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60" name="Google Shape;360;p45"/>
          <p:cNvSpPr txBox="1"/>
          <p:nvPr/>
        </p:nvSpPr>
        <p:spPr>
          <a:xfrm>
            <a:off x="1723275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Nautilus files 10-K for 2014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Cannot be used for the VDR. 2011-2013 will be used for the VDR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61" name="Google Shape;361;p4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 short history of the pitch deck found on scribd</a:t>
            </a:r>
            <a:endParaRPr sz="2000"/>
          </a:p>
        </p:txBody>
      </p:sp>
      <p:sp>
        <p:nvSpPr>
          <p:cNvPr id="362" name="Google Shape;362;p45"/>
          <p:cNvSpPr txBox="1"/>
          <p:nvPr/>
        </p:nvSpPr>
        <p:spPr>
          <a:xfrm>
            <a:off x="282300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Pitch to the Nautilus Board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Deck Recommendations: </a:t>
            </a:r>
            <a:b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“Do a convertible to avoid a credit downgrade by S&amp;P”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descr="A timeline stretching across several years. " id="363" name="Google Shape;363;p45"/>
          <p:cNvCxnSpPr/>
          <p:nvPr/>
        </p:nvCxnSpPr>
        <p:spPr>
          <a:xfrm>
            <a:off x="282300" y="2869750"/>
            <a:ext cx="857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364" name="Google Shape;364;p45"/>
          <p:cNvCxnSpPr/>
          <p:nvPr/>
        </p:nvCxnSpPr>
        <p:spPr>
          <a:xfrm>
            <a:off x="96999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45"/>
          <p:cNvCxnSpPr/>
          <p:nvPr/>
        </p:nvCxnSpPr>
        <p:spPr>
          <a:xfrm>
            <a:off x="241004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45"/>
          <p:cNvCxnSpPr/>
          <p:nvPr/>
        </p:nvCxnSpPr>
        <p:spPr>
          <a:xfrm>
            <a:off x="385009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45"/>
          <p:cNvCxnSpPr/>
          <p:nvPr/>
        </p:nvCxnSpPr>
        <p:spPr>
          <a:xfrm>
            <a:off x="529014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45"/>
          <p:cNvCxnSpPr/>
          <p:nvPr/>
        </p:nvCxnSpPr>
        <p:spPr>
          <a:xfrm>
            <a:off x="673019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45"/>
          <p:cNvCxnSpPr/>
          <p:nvPr/>
        </p:nvCxnSpPr>
        <p:spPr>
          <a:xfrm>
            <a:off x="8170249" y="2419900"/>
            <a:ext cx="0" cy="42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45"/>
          <p:cNvSpPr/>
          <p:nvPr/>
        </p:nvSpPr>
        <p:spPr>
          <a:xfrm>
            <a:off x="617425" y="2093402"/>
            <a:ext cx="896100" cy="3264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28-Jan-</a:t>
            </a: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2015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1" name="Google Shape;371;p45"/>
          <p:cNvSpPr/>
          <p:nvPr/>
        </p:nvSpPr>
        <p:spPr>
          <a:xfrm>
            <a:off x="2057475" y="2093500"/>
            <a:ext cx="896100" cy="3264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29-Jan-2015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2" name="Google Shape;372;p45"/>
          <p:cNvSpPr/>
          <p:nvPr/>
        </p:nvSpPr>
        <p:spPr>
          <a:xfrm>
            <a:off x="3497525" y="2093500"/>
            <a:ext cx="896100" cy="3264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2-Feb-2015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3" name="Google Shape;373;p45"/>
          <p:cNvSpPr/>
          <p:nvPr/>
        </p:nvSpPr>
        <p:spPr>
          <a:xfrm>
            <a:off x="4937575" y="2093500"/>
            <a:ext cx="896100" cy="3264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2-Feb-2015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4" name="Google Shape;374;p45"/>
          <p:cNvSpPr/>
          <p:nvPr/>
        </p:nvSpPr>
        <p:spPr>
          <a:xfrm>
            <a:off x="6377625" y="2093500"/>
            <a:ext cx="858600" cy="3264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Stock Rally -&gt; 2020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5" name="Google Shape;375;p45"/>
          <p:cNvSpPr/>
          <p:nvPr/>
        </p:nvSpPr>
        <p:spPr>
          <a:xfrm>
            <a:off x="7810849" y="2175400"/>
            <a:ext cx="718800" cy="2445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rPr>
              <a:t>Today</a:t>
            </a:r>
            <a:endParaRPr sz="8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6" name="Google Shape;376;p45"/>
          <p:cNvSpPr/>
          <p:nvPr/>
        </p:nvSpPr>
        <p:spPr>
          <a:xfrm>
            <a:off x="93999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7" name="Google Shape;377;p45"/>
          <p:cNvSpPr/>
          <p:nvPr/>
        </p:nvSpPr>
        <p:spPr>
          <a:xfrm>
            <a:off x="238004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8" name="Google Shape;378;p45"/>
          <p:cNvSpPr/>
          <p:nvPr/>
        </p:nvSpPr>
        <p:spPr>
          <a:xfrm>
            <a:off x="382009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79" name="Google Shape;379;p45"/>
          <p:cNvSpPr/>
          <p:nvPr/>
        </p:nvSpPr>
        <p:spPr>
          <a:xfrm>
            <a:off x="526014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80" name="Google Shape;380;p45"/>
          <p:cNvSpPr/>
          <p:nvPr/>
        </p:nvSpPr>
        <p:spPr>
          <a:xfrm>
            <a:off x="670019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81" name="Google Shape;381;p45"/>
          <p:cNvSpPr/>
          <p:nvPr/>
        </p:nvSpPr>
        <p:spPr>
          <a:xfrm>
            <a:off x="8140249" y="2841250"/>
            <a:ext cx="60000" cy="6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82" name="Google Shape;382;p4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Nautilus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5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14-Nov-2015</a:t>
            </a:r>
            <a:endParaRPr/>
          </a:p>
        </p:txBody>
      </p:sp>
      <p:sp>
        <p:nvSpPr>
          <p:cNvPr id="384" name="Google Shape;384;p4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5" name="Google Shape;385;p45"/>
          <p:cNvSpPr txBox="1"/>
          <p:nvPr/>
        </p:nvSpPr>
        <p:spPr>
          <a:xfrm>
            <a:off x="3164225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Straight Bond Issuance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This can be an extension of your previous milestone, or something completely new 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86" name="Google Shape;386;p45"/>
          <p:cNvSpPr txBox="1"/>
          <p:nvPr/>
        </p:nvSpPr>
        <p:spPr>
          <a:xfrm>
            <a:off x="6046150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Stock performing very well 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Would have been a good deal for the investors and potentially prevent a rating downgrade. Also, the hedging strategy suggested was good advice ex post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87" name="Google Shape;387;p45"/>
          <p:cNvSpPr txBox="1"/>
          <p:nvPr/>
        </p:nvSpPr>
        <p:spPr>
          <a:xfrm>
            <a:off x="7487125" y="3176350"/>
            <a:ext cx="13854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7150" spcFirstLastPara="1" rIns="1371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Nautilus is now rated A by S&amp;P </a:t>
            </a:r>
            <a:endParaRPr i="1"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Completely different credit quality as the company generates significant FCF on the back of a successful internationalization strategy</a:t>
            </a:r>
            <a:endParaRPr sz="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Deal Overview</a:t>
            </a:r>
            <a:endParaRPr sz="2000"/>
          </a:p>
        </p:txBody>
      </p:sp>
      <p:sp>
        <p:nvSpPr>
          <p:cNvPr id="393" name="Google Shape;393;p4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394" name="Google Shape;394;p46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  <p:sp>
        <p:nvSpPr>
          <p:cNvPr id="395" name="Google Shape;395;p46"/>
          <p:cNvSpPr txBox="1"/>
          <p:nvPr/>
        </p:nvSpPr>
        <p:spPr>
          <a:xfrm>
            <a:off x="277500" y="975925"/>
            <a:ext cx="8229600" cy="3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-132397" lvl="0" marL="173037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▪"/>
            </a:pPr>
            <a:r>
              <a:rPr b="0" i="0" lang="en" sz="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Based on this analysis, we believe the company could issue a convertible bond in Q1 with the following terms: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Offering Size: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$1.5 billion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Conversion Price: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$641.58 (45.0% premium to current share price)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Conversion Ratio: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1.5586 (based on par value of $1,000)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Coupon Rate and YTM: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1.50%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Maturity: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December 31, 2020 (6-year tenor)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Payments: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Semiannual on June 30 and December 31 of each year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Optional Redemption: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Make-whole call at T+50bps any time prior to maturity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 of Control: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Put @ 101% of principal plus accrued interest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Settlement: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Cash settlement option available</a:t>
            </a:r>
            <a:endParaRPr sz="800"/>
          </a:p>
          <a:p>
            <a:pPr indent="-132397" lvl="0" marL="173037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▪"/>
            </a:pPr>
            <a:r>
              <a:rPr b="0" i="0" lang="en" sz="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reduce dilution and raise the effective conversion price, it is prudent to use a call-spread with the following terms: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Purchased Call Options: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2.3380 million (100% offset of convertible bond dilution) at a $641.58 exercise price</a:t>
            </a:r>
            <a:endParaRPr sz="800"/>
          </a:p>
          <a:p>
            <a:pPr indent="-132397" lvl="1" marL="346075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Sold Warrants: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1.7535 million (75% of call options) at a $774.32 exercise price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2397" lvl="0" marL="173037" marR="0" rtl="0" algn="l">
              <a:spcBef>
                <a:spcPts val="124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 Symbols"/>
              <a:buChar char="▪"/>
            </a:pPr>
            <a:r>
              <a:rPr b="0" i="0" lang="en" sz="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Such a strategy might increase pre-tax cost of funding to ~2.6% and raise the effective conversion premium to 75%</a:t>
            </a:r>
            <a:endParaRPr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7"/>
          <p:cNvSpPr txBox="1"/>
          <p:nvPr/>
        </p:nvSpPr>
        <p:spPr>
          <a:xfrm>
            <a:off x="255750" y="1234225"/>
            <a:ext cx="8632500" cy="27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+ Collect past data (more than 10 years) -&gt; Nautilus had very good data availability - even the trading levels of matured bonds were still available on Bloomberg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+ Not quite synthetic, but potentially less patterns for Grok to recognize the company, as the data is relatively old - at the same time, there are not many companies with similar narratives (at the time international expansion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+ We save the time on the output and can focus on a higher VDR quality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+ Data is anonymized, but it is rather clear which company is behind the data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+ For a few executed bond deals per year, debt coverage teams had to do 100+ bond pitch presentations. This is a process (creation of a convertible debt pitch deck) that is likely to be much better </a:t>
            </a:r>
            <a:r>
              <a:rPr lang="en" sz="800"/>
              <a:t>with</a:t>
            </a:r>
            <a:r>
              <a:rPr lang="en" sz="800"/>
              <a:t> AI-enabled techniques allowing more/higher quality presentations with clients (more client-facing activity leading to more deal-making potentially).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- Any issues in the context of Grok - mixing up with current topics? -&gt; no issue in the process so far, but Grok often identified the company as the most likely one.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rPr lang="en" sz="800"/>
              <a:t>- Convertible deal did not really take place (a straight bond was issued instead). Thus, we only have an price indication probably discussed at the BoD meeting of Nautilus (28-Jan-2015).</a:t>
            </a:r>
            <a:endParaRPr sz="8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401" name="Google Shape;401;p4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Advantages and Disadvantages of re-using a past I-Banking Pitch Deck</a:t>
            </a:r>
            <a:endParaRPr sz="2000"/>
          </a:p>
        </p:txBody>
      </p:sp>
      <p:sp>
        <p:nvSpPr>
          <p:cNvPr id="402" name="Google Shape;402;p4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403" name="Google Shape;403;p4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8" name="Google Shape;408;p48"/>
          <p:cNvGraphicFramePr/>
          <p:nvPr/>
        </p:nvGraphicFramePr>
        <p:xfrm>
          <a:off x="196250" y="828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944125"/>
                <a:gridCol w="1033475"/>
                <a:gridCol w="1060675"/>
                <a:gridCol w="5483950"/>
              </a:tblGrid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1.1 Overview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Giampaolo/Alan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1.2 Model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Shah (Financials) / Alan (Pricing)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1.3 Customer Data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Godo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1.4 Comp Models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Giampaolo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1.5 Compliance Certificates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Alan Tai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1.6 Audited Financials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Emmanuel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1.7 Working Capital Analysis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Adam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1.8 Sources &amp; Uses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Adam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1.9 Capex / Content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Emmanuel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1.10 Financing &amp; Capital Structure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Adam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1.11-12 </a:t>
                      </a:r>
                      <a:r>
                        <a:rPr lang="en" sz="600">
                          <a:solidFill>
                            <a:schemeClr val="lt1"/>
                          </a:solidFill>
                        </a:rPr>
                        <a:t>Investor Presentation / Industry Reports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Emmanuel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1.13 Rating Reports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Giampaolo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9" name="Google Shape;409;p48"/>
          <p:cNvSpPr txBox="1"/>
          <p:nvPr>
            <p:ph type="title"/>
          </p:nvPr>
        </p:nvSpPr>
        <p:spPr>
          <a:xfrm>
            <a:off x="277500" y="358755"/>
            <a:ext cx="8589000" cy="425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Current Status of Nautilus - Financials</a:t>
            </a:r>
            <a:endParaRPr sz="2000"/>
          </a:p>
        </p:txBody>
      </p:sp>
      <p:sp>
        <p:nvSpPr>
          <p:cNvPr id="410" name="Google Shape;410;p4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411" name="Google Shape;411;p48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6" name="Google Shape;416;p49"/>
          <p:cNvGraphicFramePr/>
          <p:nvPr/>
        </p:nvGraphicFramePr>
        <p:xfrm>
          <a:off x="236875" y="106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944025"/>
                <a:gridCol w="1033375"/>
                <a:gridCol w="1129525"/>
                <a:gridCol w="5414475"/>
              </a:tblGrid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2</a:t>
                      </a:r>
                      <a:r>
                        <a:rPr lang="en" sz="600"/>
                        <a:t>.1 Legal Entity Chart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2.2 </a:t>
                      </a:r>
                      <a:r>
                        <a:rPr lang="en" sz="600"/>
                        <a:t> Formation Documents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2</a:t>
                      </a:r>
                      <a:r>
                        <a:rPr lang="en" sz="600"/>
                        <a:t>.3 Indenture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2</a:t>
                      </a:r>
                      <a:r>
                        <a:rPr lang="en" sz="600"/>
                        <a:t>.4 BoD Minutes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Godo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2</a:t>
                      </a:r>
                      <a:r>
                        <a:rPr lang="en" sz="600"/>
                        <a:t>.5 Capitalization Table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Godo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17" name="Google Shape;417;p4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Current Status of Nautilus - Legal &amp; Corporate</a:t>
            </a:r>
            <a:endParaRPr sz="2000"/>
          </a:p>
        </p:txBody>
      </p:sp>
      <p:sp>
        <p:nvSpPr>
          <p:cNvPr id="418" name="Google Shape;418;p4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419" name="Google Shape;419;p4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  <p:sp>
        <p:nvSpPr>
          <p:cNvPr id="420" name="Google Shape;420;p49"/>
          <p:cNvSpPr txBox="1"/>
          <p:nvPr/>
        </p:nvSpPr>
        <p:spPr>
          <a:xfrm>
            <a:off x="277500" y="1469875"/>
            <a:ext cx="86325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5" name="Google Shape;425;p50"/>
          <p:cNvGraphicFramePr/>
          <p:nvPr/>
        </p:nvGraphicFramePr>
        <p:xfrm>
          <a:off x="236875" y="106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944025"/>
                <a:gridCol w="1033375"/>
                <a:gridCol w="1143475"/>
                <a:gridCol w="5400525"/>
              </a:tblGrid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3</a:t>
                      </a:r>
                      <a:r>
                        <a:rPr lang="en" sz="600"/>
                        <a:t>.1 Material Contracts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3</a:t>
                      </a:r>
                      <a:r>
                        <a:rPr lang="en" sz="600"/>
                        <a:t>.2  Real Estate (Leased &amp; Owned)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3</a:t>
                      </a:r>
                      <a:r>
                        <a:rPr lang="en" sz="600"/>
                        <a:t>.3 Social Media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All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26" name="Google Shape;426;p50"/>
          <p:cNvGraphicFramePr/>
          <p:nvPr/>
        </p:nvGraphicFramePr>
        <p:xfrm>
          <a:off x="236875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944025"/>
                <a:gridCol w="1033375"/>
                <a:gridCol w="1143475"/>
                <a:gridCol w="5400525"/>
              </a:tblGrid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4</a:t>
                      </a:r>
                      <a:r>
                        <a:rPr lang="en" sz="600"/>
                        <a:t>.1 Census Data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Alan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4</a:t>
                      </a:r>
                      <a:r>
                        <a:rPr lang="en" sz="600"/>
                        <a:t>.2 Mgmt Incentive Plans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Adam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4.</a:t>
                      </a:r>
                      <a:r>
                        <a:rPr lang="en" sz="600"/>
                        <a:t>3 Org Chart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4.4 Employee Contracts / Top Mgmt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Chan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27" name="Google Shape;427;p50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Current Status of Nautilus - 3. Operational &amp; Commercial &amp; 4. HR</a:t>
            </a:r>
            <a:endParaRPr sz="2000"/>
          </a:p>
        </p:txBody>
      </p:sp>
      <p:sp>
        <p:nvSpPr>
          <p:cNvPr id="428" name="Google Shape;428;p5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429" name="Google Shape;429;p50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  <p:sp>
        <p:nvSpPr>
          <p:cNvPr id="430" name="Google Shape;430;p50"/>
          <p:cNvSpPr txBox="1"/>
          <p:nvPr/>
        </p:nvSpPr>
        <p:spPr>
          <a:xfrm>
            <a:off x="0" y="1486125"/>
            <a:ext cx="86325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marR="0" rtl="0" algn="l">
              <a:spcBef>
                <a:spcPts val="124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5" name="Google Shape;435;p51"/>
          <p:cNvGraphicFramePr/>
          <p:nvPr/>
        </p:nvGraphicFramePr>
        <p:xfrm>
          <a:off x="236875" y="126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1455925"/>
                <a:gridCol w="724600"/>
                <a:gridCol w="977725"/>
                <a:gridCol w="5363150"/>
              </a:tblGrid>
              <a:tr h="48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 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4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5</a:t>
                      </a:r>
                      <a:r>
                        <a:rPr lang="en" sz="600"/>
                        <a:t>.1 IT Ops and Vendors</a:t>
                      </a:r>
                      <a:endParaRPr sz="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Giampaolo</a:t>
                      </a:r>
                      <a:endParaRPr sz="6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/>
                </a:tc>
              </a:tr>
              <a:tr h="24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5.2 Platform Architecture &amp; Infra</a:t>
                      </a:r>
                      <a:endParaRPr sz="6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Godo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D</a:t>
                      </a:r>
                      <a:r>
                        <a:rPr lang="en" sz="600">
                          <a:solidFill>
                            <a:schemeClr val="lt1"/>
                          </a:solidFill>
                        </a:rPr>
                        <a:t>one/Anon./Reviewed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4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5.3 Product Dev. &amp; Engineering</a:t>
                      </a:r>
                      <a:endParaRPr sz="6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Giampaolo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5.4 Technology Risk &amp; Compliance</a:t>
                      </a:r>
                      <a:endParaRPr sz="6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Alan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5.5. Cybersecurity and Data Mgmt</a:t>
                      </a:r>
                      <a:endParaRPr sz="6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Alan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aphicFrame>
        <p:nvGraphicFramePr>
          <p:cNvPr id="436" name="Google Shape;436;p51"/>
          <p:cNvGraphicFramePr/>
          <p:nvPr/>
        </p:nvGraphicFramePr>
        <p:xfrm>
          <a:off x="236875" y="3274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1455925"/>
                <a:gridCol w="724600"/>
                <a:gridCol w="977725"/>
                <a:gridCol w="5363150"/>
              </a:tblGrid>
              <a:tr h="216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6.1 Patents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Godo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</a:t>
                      </a:r>
                      <a:r>
                        <a:rPr lang="en" sz="600">
                          <a:solidFill>
                            <a:schemeClr val="lt1"/>
                          </a:solidFill>
                        </a:rPr>
                        <a:t>one/Anon./Reviewed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37" name="Google Shape;437;p51"/>
          <p:cNvGraphicFramePr/>
          <p:nvPr/>
        </p:nvGraphicFramePr>
        <p:xfrm>
          <a:off x="236875" y="4131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{30084931-11FB-4FBF-A312-EDAA522CAAB5}</a:tableStyleId>
              </a:tblPr>
              <a:tblGrid>
                <a:gridCol w="1455925"/>
                <a:gridCol w="724600"/>
                <a:gridCol w="977725"/>
                <a:gridCol w="5363150"/>
              </a:tblGrid>
              <a:tr h="216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Folder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Person in Charge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Status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Comments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7</a:t>
                      </a:r>
                      <a:r>
                        <a:rPr lang="en" sz="600"/>
                        <a:t>.1 Others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/>
                        <a:t>All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600">
                          <a:solidFill>
                            <a:schemeClr val="lt1"/>
                          </a:solidFill>
                        </a:rPr>
                        <a:t>Done/Anon./Reviewed</a:t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8" name="Google Shape;438;p51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Current Status of Nautilus - 5. IT &amp; Tech &amp; 6. IP &amp; 7. Others</a:t>
            </a:r>
            <a:endParaRPr sz="2000"/>
          </a:p>
        </p:txBody>
      </p:sp>
      <p:sp>
        <p:nvSpPr>
          <p:cNvPr id="439" name="Google Shape;439;p5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Nautilus</a:t>
            </a:r>
            <a:endParaRPr/>
          </a:p>
        </p:txBody>
      </p:sp>
      <p:sp>
        <p:nvSpPr>
          <p:cNvPr id="440" name="Google Shape;440;p51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14-Nov-2025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
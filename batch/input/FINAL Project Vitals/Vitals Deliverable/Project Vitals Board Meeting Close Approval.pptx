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t Payan" userId="b50954ae23ea60ac" providerId="LiveId" clId="{E802DEB1-CB16-49F5-8056-88274C1BEE21}"/>
    <pc:docChg chg="modSld">
      <pc:chgData name="Amit Payan" userId="b50954ae23ea60ac" providerId="LiveId" clId="{E802DEB1-CB16-49F5-8056-88274C1BEE21}" dt="2025-11-14T22:36:03.497" v="1" actId="20577"/>
      <pc:docMkLst>
        <pc:docMk/>
      </pc:docMkLst>
      <pc:sldChg chg="modSp mod">
        <pc:chgData name="Amit Payan" userId="b50954ae23ea60ac" providerId="LiveId" clId="{E802DEB1-CB16-49F5-8056-88274C1BEE21}" dt="2025-11-14T22:36:03.497" v="1" actId="20577"/>
        <pc:sldMkLst>
          <pc:docMk/>
          <pc:sldMk cId="0" sldId="256"/>
        </pc:sldMkLst>
        <pc:spChg chg="mod">
          <ac:chgData name="Amit Payan" userId="b50954ae23ea60ac" providerId="LiveId" clId="{E802DEB1-CB16-49F5-8056-88274C1BEE21}" dt="2025-11-14T22:36:03.497" v="1" actId="20577"/>
          <ac:spMkLst>
            <pc:docMk/>
            <pc:sldMk cId="0" sldId="256"/>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0B8599"/>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2019</c:v>
                </c:pt>
                <c:pt idx="1">
                  <c:v>2020</c:v>
                </c:pt>
                <c:pt idx="2">
                  <c:v>2021</c:v>
                </c:pt>
                <c:pt idx="3">
                  <c:v>2022</c:v>
                </c:pt>
              </c:strCache>
            </c:strRef>
          </c:cat>
          <c:val>
            <c:numRef>
              <c:f>Sheet1!$B$2:$B$5</c:f>
              <c:numCache>
                <c:formatCode>General</c:formatCode>
                <c:ptCount val="4"/>
                <c:pt idx="0">
                  <c:v>557</c:v>
                </c:pt>
                <c:pt idx="1">
                  <c:v>883</c:v>
                </c:pt>
                <c:pt idx="2">
                  <c:v>1433</c:v>
                </c:pt>
                <c:pt idx="3">
                  <c:v>2160</c:v>
                </c:pt>
              </c:numCache>
            </c:numRef>
          </c:val>
          <c:extLst>
            <c:ext xmlns:c16="http://schemas.microsoft.com/office/drawing/2014/chart" uri="{C3380CC4-5D6E-409C-BE32-E72D297353CC}">
              <c16:uniqueId val="{00000000-1A6A-4908-97E0-B858B75FBB6F}"/>
            </c:ext>
          </c:extLst>
        </c:ser>
        <c:ser>
          <c:idx val="1"/>
          <c:order val="1"/>
          <c:tx>
            <c:strRef>
              <c:f>Sheet1!$C$1</c:f>
              <c:strCache>
                <c:ptCount val="1"/>
                <c:pt idx="0">
                  <c:v>Adj. EBITDA</c:v>
                </c:pt>
              </c:strCache>
            </c:strRef>
          </c:tx>
          <c:spPr>
            <a:solidFill>
              <a:srgbClr val="7C8B9F"/>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2019</c:v>
                </c:pt>
                <c:pt idx="1">
                  <c:v>2020</c:v>
                </c:pt>
                <c:pt idx="2">
                  <c:v>2021</c:v>
                </c:pt>
                <c:pt idx="3">
                  <c:v>2022</c:v>
                </c:pt>
              </c:strCache>
            </c:strRef>
          </c:cat>
          <c:val>
            <c:numRef>
              <c:f>Sheet1!$C$2:$C$5</c:f>
              <c:numCache>
                <c:formatCode>General</c:formatCode>
                <c:ptCount val="4"/>
                <c:pt idx="0">
                  <c:v>-95</c:v>
                </c:pt>
                <c:pt idx="1">
                  <c:v>-168</c:v>
                </c:pt>
                <c:pt idx="2">
                  <c:v>-229</c:v>
                </c:pt>
                <c:pt idx="3">
                  <c:v>-286</c:v>
                </c:pt>
              </c:numCache>
            </c:numRef>
          </c:val>
          <c:extLst>
            <c:ext xmlns:c16="http://schemas.microsoft.com/office/drawing/2014/chart" uri="{C3380CC4-5D6E-409C-BE32-E72D297353CC}">
              <c16:uniqueId val="{00000001-1A6A-4908-97E0-B858B75FBB6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2500"/>
          <c:min val="-1000"/>
        </c:scaling>
        <c:delete val="0"/>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25400">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Synergies</c:v>
                </c:pt>
              </c:strCache>
            </c:strRef>
          </c:tx>
          <c:spPr>
            <a:solidFill>
              <a:schemeClr val="accent1"/>
            </a:solidFill>
            <a:ln w="9525" cap="flat">
              <a:solidFill>
                <a:srgbClr val="F9F9F9"/>
              </a:solidFill>
              <a:prstDash val="solid"/>
              <a:round/>
            </a:ln>
            <a:effectLst/>
          </c:spPr>
          <c:dPt>
            <c:idx val="0"/>
            <c:bubble3D val="0"/>
            <c:spPr>
              <a:solidFill>
                <a:srgbClr val="1C3A5C"/>
              </a:solidFill>
              <a:effectLst/>
            </c:spPr>
            <c:extLst>
              <c:ext xmlns:c16="http://schemas.microsoft.com/office/drawing/2014/chart" uri="{C3380CC4-5D6E-409C-BE32-E72D297353CC}">
                <c16:uniqueId val="{00000001-80B2-4268-8D39-D7E5F16F98A5}"/>
              </c:ext>
            </c:extLst>
          </c:dPt>
          <c:dPt>
            <c:idx val="1"/>
            <c:bubble3D val="0"/>
            <c:spPr>
              <a:solidFill>
                <a:srgbClr val="0B8599"/>
              </a:solidFill>
              <a:effectLst/>
            </c:spPr>
            <c:extLst>
              <c:ext xmlns:c16="http://schemas.microsoft.com/office/drawing/2014/chart" uri="{C3380CC4-5D6E-409C-BE32-E72D297353CC}">
                <c16:uniqueId val="{00000003-80B2-4268-8D39-D7E5F16F98A5}"/>
              </c:ext>
            </c:extLst>
          </c:dPt>
          <c:dPt>
            <c:idx val="2"/>
            <c:bubble3D val="0"/>
            <c:spPr>
              <a:solidFill>
                <a:srgbClr val="4A6C8F"/>
              </a:solidFill>
              <a:effectLst/>
            </c:spPr>
            <c:extLst>
              <c:ext xmlns:c16="http://schemas.microsoft.com/office/drawing/2014/chart" uri="{C3380CC4-5D6E-409C-BE32-E72D297353CC}">
                <c16:uniqueId val="{00000005-80B2-4268-8D39-D7E5F16F98A5}"/>
              </c:ext>
            </c:extLst>
          </c:dPt>
          <c:dLbls>
            <c:dLbl>
              <c:idx val="0"/>
              <c:numFmt formatCode="General" sourceLinked="0"/>
              <c:spPr/>
              <c:txPr>
                <a:bodyPr/>
                <a:lstStyle/>
                <a:p>
                  <a:pPr>
                    <a:defRPr sz="1200" b="0" i="0" u="none" strike="noStrike" baseline="0">
                      <a:solidFill>
                        <a:schemeClr val="bg1"/>
                      </a:solidFill>
                      <a:latin typeface="Arial"/>
                    </a:defRPr>
                  </a:pPr>
                  <a:endParaRPr lang="en-US"/>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0B2-4268-8D39-D7E5F16F98A5}"/>
                </c:ext>
              </c:extLst>
            </c:dLbl>
            <c:dLbl>
              <c:idx val="1"/>
              <c:numFmt formatCode="General" sourceLinked="0"/>
              <c:spPr/>
              <c:txPr>
                <a:bodyPr/>
                <a:lstStyle/>
                <a:p>
                  <a:pPr>
                    <a:defRPr sz="1200" b="0" i="0" u="none" strike="noStrike" baseline="0">
                      <a:solidFill>
                        <a:schemeClr val="bg1"/>
                      </a:solidFill>
                      <a:latin typeface="Arial"/>
                    </a:defRPr>
                  </a:pPr>
                  <a:endParaRPr lang="en-US"/>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0B2-4268-8D39-D7E5F16F98A5}"/>
                </c:ext>
              </c:extLst>
            </c:dLbl>
            <c:dLbl>
              <c:idx val="2"/>
              <c:numFmt formatCode="General" sourceLinked="0"/>
              <c:spPr/>
              <c:txPr>
                <a:bodyPr/>
                <a:lstStyle/>
                <a:p>
                  <a:pPr>
                    <a:defRPr sz="1200" b="0" i="0" u="none" strike="noStrike" baseline="0">
                      <a:solidFill>
                        <a:schemeClr val="bg1"/>
                      </a:solidFill>
                      <a:latin typeface="Arial"/>
                    </a:defRPr>
                  </a:pPr>
                  <a:endParaRPr lang="en-US"/>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0B2-4268-8D39-D7E5F16F98A5}"/>
                </c:ext>
              </c:extLst>
            </c:dLbl>
            <c:numFmt formatCode="General" sourceLinked="0"/>
            <c:spPr>
              <a:noFill/>
              <a:ln>
                <a:noFill/>
              </a:ln>
              <a:effectLst/>
            </c:spPr>
            <c:txPr>
              <a:bodyPr/>
              <a:lstStyle/>
              <a:p>
                <a:pPr>
                  <a:defRPr sz="1800" b="0" i="0" u="none" strike="noStrike" baseline="0">
                    <a:solidFill>
                      <a:schemeClr val="bg1"/>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Revenue Synergies</c:v>
                </c:pt>
                <c:pt idx="1">
                  <c:v>Cost Synergies</c:v>
                </c:pt>
                <c:pt idx="2">
                  <c:v>Medical Cost Reduction</c:v>
                </c:pt>
              </c:strCache>
            </c:strRef>
          </c:cat>
          <c:val>
            <c:numRef>
              <c:f>Sheet1!$B$2:$B$4</c:f>
              <c:numCache>
                <c:formatCode>General</c:formatCode>
                <c:ptCount val="3"/>
                <c:pt idx="0">
                  <c:v>225</c:v>
                </c:pt>
                <c:pt idx="1">
                  <c:v>275</c:v>
                </c:pt>
                <c:pt idx="2">
                  <c:v>75</c:v>
                </c:pt>
              </c:numCache>
            </c:numRef>
          </c:val>
          <c:extLst>
            <c:ext xmlns:c16="http://schemas.microsoft.com/office/drawing/2014/chart" uri="{C3380CC4-5D6E-409C-BE32-E72D297353CC}">
              <c16:uniqueId val="{00000006-80B2-4268-8D39-D7E5F16F98A5}"/>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926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52357" y="1326207"/>
            <a:ext cx="3439287" cy="586680"/>
          </a:xfrm>
          <a:prstGeom prst="rect">
            <a:avLst/>
          </a:prstGeom>
          <a:noFill/>
          <a:ln/>
        </p:spPr>
        <p:txBody>
          <a:bodyPr wrap="square" lIns="0" tIns="0" rIns="0" bIns="0" rtlCol="0" anchor="t"/>
          <a:lstStyle/>
          <a:p>
            <a:pPr marL="0" indent="0" algn="ctr">
              <a:lnSpc>
                <a:spcPts val="4620"/>
              </a:lnSpc>
              <a:spcAft>
                <a:spcPts val="1500"/>
              </a:spcAft>
              <a:buNone/>
            </a:pPr>
            <a:r>
              <a:rPr lang="en-US" sz="4200" b="1" dirty="0">
                <a:solidFill>
                  <a:srgbClr val="FFFFFF"/>
                </a:solidFill>
                <a:latin typeface="Arial" pitchFamily="34" charset="0"/>
                <a:ea typeface="Arial" pitchFamily="34" charset="-122"/>
                <a:cs typeface="Arial" pitchFamily="34" charset="-120"/>
              </a:rPr>
              <a:t>Project Vitals</a:t>
            </a:r>
            <a:endParaRPr lang="en-US" sz="4200" dirty="0"/>
          </a:p>
        </p:txBody>
      </p:sp>
      <p:sp>
        <p:nvSpPr>
          <p:cNvPr id="3" name="Text 1"/>
          <p:cNvSpPr/>
          <p:nvPr/>
        </p:nvSpPr>
        <p:spPr>
          <a:xfrm>
            <a:off x="2290831" y="2103388"/>
            <a:ext cx="4562338" cy="338584"/>
          </a:xfrm>
          <a:prstGeom prst="rect">
            <a:avLst/>
          </a:prstGeom>
          <a:noFill/>
          <a:ln/>
        </p:spPr>
        <p:txBody>
          <a:bodyPr wrap="square" lIns="0" tIns="0" rIns="0" bIns="0" rtlCol="0" anchor="t"/>
          <a:lstStyle/>
          <a:p>
            <a:pPr marL="0" indent="0" algn="ctr">
              <a:lnSpc>
                <a:spcPts val="2667"/>
              </a:lnSpc>
              <a:spcAft>
                <a:spcPts val="3000"/>
              </a:spcAft>
              <a:buNone/>
            </a:pPr>
            <a:r>
              <a:rPr lang="en-US" sz="2400" dirty="0">
                <a:solidFill>
                  <a:srgbClr val="FFFFFF">
                    <a:alpha val="90000"/>
                  </a:srgbClr>
                </a:solidFill>
                <a:latin typeface="Arial" pitchFamily="34" charset="0"/>
                <a:ea typeface="Arial" pitchFamily="34" charset="-122"/>
                <a:cs typeface="Arial" pitchFamily="34" charset="-120"/>
              </a:rPr>
              <a:t>Acquisition of Maple Point Health</a:t>
            </a:r>
            <a:endParaRPr lang="en-US" sz="2400" dirty="0"/>
          </a:p>
        </p:txBody>
      </p:sp>
      <p:sp>
        <p:nvSpPr>
          <p:cNvPr id="4" name="Text 2"/>
          <p:cNvSpPr/>
          <p:nvPr/>
        </p:nvSpPr>
        <p:spPr>
          <a:xfrm>
            <a:off x="4000500" y="2822972"/>
            <a:ext cx="1143000" cy="19050"/>
          </a:xfrm>
          <a:prstGeom prst="rect">
            <a:avLst/>
          </a:prstGeom>
          <a:solidFill>
            <a:srgbClr val="0B8599"/>
          </a:solidFill>
          <a:ln/>
        </p:spPr>
        <p:txBody>
          <a:bodyPr wrap="square" rtlCol="0" anchor="ctr"/>
          <a:lstStyle/>
          <a:p>
            <a:pPr marL="0" indent="0">
              <a:buNone/>
            </a:pPr>
            <a:endParaRPr lang="en-US" dirty="0"/>
          </a:p>
        </p:txBody>
      </p:sp>
      <p:sp>
        <p:nvSpPr>
          <p:cNvPr id="5" name="Text 3"/>
          <p:cNvSpPr/>
          <p:nvPr/>
        </p:nvSpPr>
        <p:spPr>
          <a:xfrm>
            <a:off x="2290831" y="3223022"/>
            <a:ext cx="4562338" cy="266700"/>
          </a:xfrm>
          <a:prstGeom prst="rect">
            <a:avLst/>
          </a:prstGeom>
          <a:noFill/>
          <a:ln/>
        </p:spPr>
        <p:txBody>
          <a:bodyPr wrap="square" lIns="0" tIns="0" rIns="0" bIns="0" rtlCol="0" anchor="t"/>
          <a:lstStyle/>
          <a:p>
            <a:pPr marL="0" indent="0" algn="ctr">
              <a:lnSpc>
                <a:spcPts val="2100"/>
              </a:lnSpc>
              <a:spcBef>
                <a:spcPts val="300"/>
              </a:spcBef>
              <a:spcAft>
                <a:spcPts val="600"/>
              </a:spcAft>
              <a:buNone/>
            </a:pPr>
            <a:r>
              <a:rPr lang="en-US" sz="1500" dirty="0">
                <a:solidFill>
                  <a:srgbClr val="FFFFFF">
                    <a:alpha val="85000"/>
                  </a:srgbClr>
                </a:solidFill>
                <a:latin typeface="Arial" pitchFamily="34" charset="0"/>
                <a:ea typeface="Arial" pitchFamily="34" charset="-122"/>
                <a:cs typeface="Arial" pitchFamily="34" charset="-120"/>
              </a:rPr>
              <a:t>PBM Board of Directors </a:t>
            </a:r>
          </a:p>
          <a:p>
            <a:pPr marL="0" indent="0" algn="ctr">
              <a:lnSpc>
                <a:spcPts val="2100"/>
              </a:lnSpc>
              <a:spcBef>
                <a:spcPts val="300"/>
              </a:spcBef>
              <a:spcAft>
                <a:spcPts val="600"/>
              </a:spcAft>
              <a:buNone/>
            </a:pPr>
            <a:r>
              <a:rPr lang="en-US" sz="1500" dirty="0">
                <a:solidFill>
                  <a:srgbClr val="FFFFFF">
                    <a:alpha val="85000"/>
                  </a:srgbClr>
                </a:solidFill>
                <a:latin typeface="Arial" pitchFamily="34" charset="0"/>
                <a:ea typeface="Arial" pitchFamily="34" charset="-122"/>
                <a:cs typeface="Arial" pitchFamily="34" charset="-120"/>
              </a:rPr>
              <a:t>Transaction Close Approval Meeting</a:t>
            </a:r>
            <a:endParaRPr lang="en-US" sz="1500" dirty="0"/>
          </a:p>
        </p:txBody>
      </p:sp>
      <p:sp>
        <p:nvSpPr>
          <p:cNvPr id="6" name="Text 4"/>
          <p:cNvSpPr/>
          <p:nvPr/>
        </p:nvSpPr>
        <p:spPr>
          <a:xfrm>
            <a:off x="2290831" y="4107528"/>
            <a:ext cx="4562338" cy="213271"/>
          </a:xfrm>
          <a:prstGeom prst="rect">
            <a:avLst/>
          </a:prstGeom>
          <a:noFill/>
          <a:ln/>
        </p:spPr>
        <p:txBody>
          <a:bodyPr wrap="square" lIns="0" tIns="0" rIns="0" bIns="0" rtlCol="0" anchor="t"/>
          <a:lstStyle/>
          <a:p>
            <a:pPr marL="0" indent="0" algn="ctr">
              <a:lnSpc>
                <a:spcPts val="1680"/>
              </a:lnSpc>
              <a:spcBef>
                <a:spcPts val="300"/>
              </a:spcBef>
              <a:spcAft>
                <a:spcPts val="300"/>
              </a:spcAft>
              <a:buNone/>
            </a:pPr>
            <a:r>
              <a:rPr lang="en-US" sz="1200" dirty="0">
                <a:solidFill>
                  <a:srgbClr val="FFFFFF">
                    <a:alpha val="70000"/>
                  </a:srgbClr>
                </a:solidFill>
                <a:latin typeface="Arial" pitchFamily="34" charset="0"/>
                <a:ea typeface="Arial" pitchFamily="34" charset="-122"/>
                <a:cs typeface="Arial" pitchFamily="34" charset="-120"/>
              </a:rPr>
              <a:t>March 21,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5217224"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Executive Summary &amp; Recommendation</a:t>
            </a:r>
            <a:endParaRPr lang="en-US" sz="2100" dirty="0"/>
          </a:p>
        </p:txBody>
      </p:sp>
      <p:sp>
        <p:nvSpPr>
          <p:cNvPr id="4" name="Text 2"/>
          <p:cNvSpPr/>
          <p:nvPr/>
        </p:nvSpPr>
        <p:spPr>
          <a:xfrm>
            <a:off x="457200" y="1134517"/>
            <a:ext cx="8229600" cy="609600"/>
          </a:xfrm>
          <a:prstGeom prst="roundRect">
            <a:avLst>
              <a:gd name="adj" fmla="val 6250"/>
            </a:avLst>
          </a:prstGeom>
          <a:solidFill>
            <a:srgbClr val="0B8599"/>
          </a:solidFill>
          <a:ln/>
        </p:spPr>
        <p:txBody>
          <a:bodyPr wrap="square" rtlCol="0" anchor="ctr"/>
          <a:lstStyle/>
          <a:p>
            <a:pPr marL="0" indent="0">
              <a:buNone/>
            </a:pPr>
            <a:endParaRPr lang="en-US" dirty="0"/>
          </a:p>
        </p:txBody>
      </p:sp>
      <p:sp>
        <p:nvSpPr>
          <p:cNvPr id="5" name="Shape 3"/>
          <p:cNvSpPr/>
          <p:nvPr/>
        </p:nvSpPr>
        <p:spPr>
          <a:xfrm>
            <a:off x="485775" y="1134517"/>
            <a:ext cx="0" cy="609600"/>
          </a:xfrm>
          <a:prstGeom prst="line">
            <a:avLst/>
          </a:prstGeom>
          <a:noFill/>
          <a:ln w="57150">
            <a:solidFill>
              <a:srgbClr val="1C3A5C"/>
            </a:solidFill>
            <a:prstDash val="solid"/>
          </a:ln>
        </p:spPr>
        <p:txBody>
          <a:bodyPr/>
          <a:lstStyle/>
          <a:p>
            <a:endParaRPr lang="en-US"/>
          </a:p>
        </p:txBody>
      </p:sp>
      <p:sp>
        <p:nvSpPr>
          <p:cNvPr id="6" name="Text 4"/>
          <p:cNvSpPr/>
          <p:nvPr/>
        </p:nvSpPr>
        <p:spPr>
          <a:xfrm>
            <a:off x="742950" y="1305967"/>
            <a:ext cx="7869555" cy="26670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Arial" pitchFamily="34" charset="0"/>
                <a:ea typeface="Arial" pitchFamily="34" charset="-122"/>
                <a:cs typeface="Arial" pitchFamily="34" charset="-120"/>
              </a:rPr>
              <a:t>Management Recommendation: Approve Transaction Close</a:t>
            </a:r>
            <a:endParaRPr lang="en-US" sz="1500" dirty="0"/>
          </a:p>
        </p:txBody>
      </p:sp>
      <p:sp>
        <p:nvSpPr>
          <p:cNvPr id="7" name="Text 5"/>
          <p:cNvSpPr/>
          <p:nvPr/>
        </p:nvSpPr>
        <p:spPr>
          <a:xfrm>
            <a:off x="457200" y="1934617"/>
            <a:ext cx="4041648" cy="182761"/>
          </a:xfrm>
          <a:prstGeom prst="rect">
            <a:avLst/>
          </a:prstGeom>
          <a:noFill/>
          <a:ln/>
        </p:spPr>
        <p:txBody>
          <a:bodyPr wrap="square" lIns="0" tIns="0" rIns="0" bIns="0" rtlCol="0" anchor="t"/>
          <a:lstStyle/>
          <a:p>
            <a:pPr marL="0" indent="0" algn="l">
              <a:lnSpc>
                <a:spcPts val="1440"/>
              </a:lnSpc>
              <a:spcAft>
                <a:spcPts val="750"/>
              </a:spcAft>
              <a:buNone/>
            </a:pPr>
            <a:r>
              <a:rPr lang="en-US" sz="1200" b="1" dirty="0">
                <a:solidFill>
                  <a:srgbClr val="1C3A5C"/>
                </a:solidFill>
                <a:latin typeface="Arial" pitchFamily="34" charset="0"/>
                <a:ea typeface="Arial" pitchFamily="34" charset="-122"/>
                <a:cs typeface="Arial" pitchFamily="34" charset="-120"/>
              </a:rPr>
              <a:t>Transaction Highlights</a:t>
            </a:r>
            <a:endParaRPr lang="en-US" sz="1200" dirty="0"/>
          </a:p>
        </p:txBody>
      </p:sp>
      <p:sp>
        <p:nvSpPr>
          <p:cNvPr id="8" name="Text 6"/>
          <p:cNvSpPr/>
          <p:nvPr/>
        </p:nvSpPr>
        <p:spPr>
          <a:xfrm>
            <a:off x="457200" y="2212628"/>
            <a:ext cx="3962400" cy="1981200"/>
          </a:xfrm>
          <a:prstGeom prst="rect">
            <a:avLst/>
          </a:prstGeom>
          <a:noFill/>
          <a:ln/>
        </p:spPr>
        <p:txBody>
          <a:bodyPr wrap="square" lIns="95250" tIns="0" rIns="0" bIns="0" rtlCol="0" anchor="t"/>
          <a:lstStyle/>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All-cash acquisition at $39.00/share ($10.6B enterprise value)</a:t>
            </a:r>
            <a:endParaRPr lang="en-US" sz="1350" dirty="0"/>
          </a:p>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All closing conditions satisfied or waived</a:t>
            </a:r>
            <a:endParaRPr lang="en-US" sz="1350" dirty="0"/>
          </a:p>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Regulatory clearances obtained; no material conditions imposed</a:t>
            </a:r>
            <a:endParaRPr lang="en-US" sz="1350" dirty="0"/>
          </a:p>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Due diligence completed with no material adverse findings</a:t>
            </a:r>
            <a:endParaRPr lang="en-US" sz="1350" dirty="0"/>
          </a:p>
        </p:txBody>
      </p:sp>
      <p:sp>
        <p:nvSpPr>
          <p:cNvPr id="9" name="Text 7"/>
          <p:cNvSpPr/>
          <p:nvPr/>
        </p:nvSpPr>
        <p:spPr>
          <a:xfrm>
            <a:off x="4724400" y="1934617"/>
            <a:ext cx="4041648" cy="182761"/>
          </a:xfrm>
          <a:prstGeom prst="rect">
            <a:avLst/>
          </a:prstGeom>
          <a:noFill/>
          <a:ln/>
        </p:spPr>
        <p:txBody>
          <a:bodyPr wrap="square" lIns="0" tIns="0" rIns="0" bIns="0" rtlCol="0" anchor="t"/>
          <a:lstStyle/>
          <a:p>
            <a:pPr marL="0" indent="0" algn="l">
              <a:lnSpc>
                <a:spcPts val="1440"/>
              </a:lnSpc>
              <a:spcAft>
                <a:spcPts val="750"/>
              </a:spcAft>
              <a:buNone/>
            </a:pPr>
            <a:r>
              <a:rPr lang="en-US" sz="1200" b="1" dirty="0">
                <a:solidFill>
                  <a:srgbClr val="1C3A5C"/>
                </a:solidFill>
                <a:latin typeface="Arial" pitchFamily="34" charset="0"/>
                <a:ea typeface="Arial" pitchFamily="34" charset="-122"/>
                <a:cs typeface="Arial" pitchFamily="34" charset="-120"/>
              </a:rPr>
              <a:t>Strategic Value</a:t>
            </a:r>
            <a:endParaRPr lang="en-US" sz="1200" dirty="0"/>
          </a:p>
        </p:txBody>
      </p:sp>
      <p:sp>
        <p:nvSpPr>
          <p:cNvPr id="10" name="Text 8"/>
          <p:cNvSpPr/>
          <p:nvPr/>
        </p:nvSpPr>
        <p:spPr>
          <a:xfrm>
            <a:off x="4724400" y="2212628"/>
            <a:ext cx="3962400" cy="1714500"/>
          </a:xfrm>
          <a:prstGeom prst="rect">
            <a:avLst/>
          </a:prstGeom>
          <a:noFill/>
          <a:ln/>
        </p:spPr>
        <p:txBody>
          <a:bodyPr wrap="square" lIns="95250" tIns="0" rIns="0" bIns="0" rtlCol="0" anchor="t"/>
          <a:lstStyle/>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Accelerates value-based care platform for Medicare Advantage seniors</a:t>
            </a:r>
            <a:endParaRPr lang="en-US" sz="1350" dirty="0"/>
          </a:p>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Proven clinic economics: $7M EBITDA per mature center</a:t>
            </a:r>
            <a:endParaRPr lang="en-US" sz="1350" dirty="0"/>
          </a:p>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$500M+ annual synergy potential confirmed</a:t>
            </a:r>
            <a:endParaRPr lang="en-US" sz="1350" dirty="0"/>
          </a:p>
          <a:p>
            <a:pPr marL="95250" indent="-95250"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Management team committed through integration</a:t>
            </a:r>
            <a:endParaRPr lang="en-US" sz="1350" dirty="0"/>
          </a:p>
        </p:txBody>
      </p:sp>
      <p:sp>
        <p:nvSpPr>
          <p:cNvPr id="11" name="Text 9"/>
          <p:cNvSpPr/>
          <p:nvPr/>
        </p:nvSpPr>
        <p:spPr>
          <a:xfrm>
            <a:off x="457200" y="4384328"/>
            <a:ext cx="8229600" cy="638175"/>
          </a:xfrm>
          <a:prstGeom prst="roundRect">
            <a:avLst>
              <a:gd name="adj" fmla="val 5970"/>
            </a:avLst>
          </a:prstGeom>
          <a:solidFill>
            <a:srgbClr val="F5F7F9"/>
          </a:solidFill>
          <a:ln/>
        </p:spPr>
        <p:txBody>
          <a:bodyPr wrap="square" rtlCol="0" anchor="ctr"/>
          <a:lstStyle/>
          <a:p>
            <a:pPr marL="0" indent="0">
              <a:buNone/>
            </a:pPr>
            <a:endParaRPr lang="en-US" dirty="0"/>
          </a:p>
        </p:txBody>
      </p:sp>
      <p:sp>
        <p:nvSpPr>
          <p:cNvPr id="12" name="Text 10"/>
          <p:cNvSpPr/>
          <p:nvPr/>
        </p:nvSpPr>
        <p:spPr>
          <a:xfrm>
            <a:off x="685800" y="4517678"/>
            <a:ext cx="7927848" cy="371475"/>
          </a:xfrm>
          <a:prstGeom prst="rect">
            <a:avLst/>
          </a:prstGeom>
          <a:noFill/>
          <a:ln/>
        </p:spPr>
        <p:txBody>
          <a:bodyPr wrap="square" lIns="0" tIns="0" rIns="0" bIns="0" rtlCol="0" anchor="t"/>
          <a:lstStyle/>
          <a:p>
            <a:pPr marL="0" indent="0" algn="l">
              <a:lnSpc>
                <a:spcPts val="1463"/>
              </a:lnSpc>
              <a:buNone/>
            </a:pPr>
            <a:r>
              <a:rPr lang="en-US" sz="975" b="1" dirty="0">
                <a:solidFill>
                  <a:srgbClr val="1A1A1A"/>
                </a:solidFill>
                <a:latin typeface="Arial" pitchFamily="34" charset="0"/>
                <a:ea typeface="Arial" pitchFamily="34" charset="-122"/>
                <a:cs typeface="Arial" pitchFamily="34" charset="-120"/>
              </a:rPr>
              <a:t>Next Steps:</a:t>
            </a:r>
            <a:r>
              <a:rPr lang="en-US" sz="975" dirty="0">
                <a:solidFill>
                  <a:srgbClr val="1A1A1A"/>
                </a:solidFill>
                <a:latin typeface="Arial" pitchFamily="34" charset="0"/>
                <a:ea typeface="Arial" pitchFamily="34" charset="-122"/>
                <a:cs typeface="Arial" pitchFamily="34" charset="-120"/>
              </a:rPr>
              <a:t> Upon Board approval, execute closing documentation, fund transaction via committed financing, and commence Day 1 integration activities under established governance framework.</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535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228600"/>
            <a:ext cx="4206812"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Transaction Overview</a:t>
            </a:r>
            <a:endParaRPr lang="en-US" sz="2100" dirty="0"/>
          </a:p>
        </p:txBody>
      </p:sp>
      <p:sp>
        <p:nvSpPr>
          <p:cNvPr id="4" name="Shape 2"/>
          <p:cNvSpPr/>
          <p:nvPr/>
        </p:nvSpPr>
        <p:spPr>
          <a:xfrm>
            <a:off x="457200" y="1602135"/>
            <a:ext cx="2540050" cy="0"/>
          </a:xfrm>
          <a:prstGeom prst="line">
            <a:avLst/>
          </a:prstGeom>
          <a:noFill/>
          <a:ln w="28575">
            <a:solidFill>
              <a:srgbClr val="0B8599"/>
            </a:solidFill>
            <a:prstDash val="solid"/>
          </a:ln>
        </p:spPr>
        <p:txBody>
          <a:bodyPr/>
          <a:lstStyle/>
          <a:p>
            <a:endParaRPr lang="en-US"/>
          </a:p>
        </p:txBody>
      </p:sp>
      <p:sp>
        <p:nvSpPr>
          <p:cNvPr id="5" name="Text 3"/>
          <p:cNvSpPr/>
          <p:nvPr/>
        </p:nvSpPr>
        <p:spPr>
          <a:xfrm>
            <a:off x="457200" y="1305967"/>
            <a:ext cx="2590851" cy="205680"/>
          </a:xfrm>
          <a:prstGeom prst="rect">
            <a:avLst/>
          </a:prstGeom>
          <a:noFill/>
          <a:ln/>
        </p:spPr>
        <p:txBody>
          <a:bodyPr wrap="square" lIns="0" tIns="0" rIns="0" bIns="0" rtlCol="0" anchor="t"/>
          <a:lstStyle/>
          <a:p>
            <a:pPr marL="0" indent="0" algn="l">
              <a:lnSpc>
                <a:spcPts val="1620"/>
              </a:lnSpc>
              <a:buNone/>
            </a:pPr>
            <a:r>
              <a:rPr lang="en-US" sz="1350" b="1" dirty="0">
                <a:solidFill>
                  <a:srgbClr val="1C3A5C"/>
                </a:solidFill>
                <a:latin typeface="Arial" pitchFamily="34" charset="0"/>
                <a:ea typeface="Arial" pitchFamily="34" charset="-122"/>
                <a:cs typeface="Arial" pitchFamily="34" charset="-120"/>
              </a:rPr>
              <a:t>Transaction Terms</a:t>
            </a:r>
            <a:endParaRPr lang="en-US" sz="1350" dirty="0"/>
          </a:p>
        </p:txBody>
      </p:sp>
      <p:sp>
        <p:nvSpPr>
          <p:cNvPr id="6" name="Text 4"/>
          <p:cNvSpPr/>
          <p:nvPr/>
        </p:nvSpPr>
        <p:spPr>
          <a:xfrm>
            <a:off x="457200" y="1768822"/>
            <a:ext cx="2540050" cy="2552700"/>
          </a:xfrm>
          <a:prstGeom prst="rect">
            <a:avLst/>
          </a:prstGeom>
          <a:noFill/>
          <a:ln/>
        </p:spPr>
        <p:txBody>
          <a:bodyPr wrap="square" lIns="95250" tIns="0" rIns="0" bIns="0" rtlCol="0" anchor="t"/>
          <a:lstStyle/>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Structure:</a:t>
            </a:r>
            <a:r>
              <a:rPr lang="en-US" sz="1350" dirty="0">
                <a:solidFill>
                  <a:srgbClr val="1A1A1A"/>
                </a:solidFill>
                <a:latin typeface="Arial" pitchFamily="34" charset="0"/>
                <a:ea typeface="Arial" pitchFamily="34" charset="-122"/>
                <a:cs typeface="Arial" pitchFamily="34" charset="-120"/>
              </a:rPr>
              <a:t> All-cash, single-step merger</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Price:</a:t>
            </a:r>
            <a:r>
              <a:rPr lang="en-US" sz="1350" dirty="0">
                <a:solidFill>
                  <a:srgbClr val="1A1A1A"/>
                </a:solidFill>
                <a:latin typeface="Arial" pitchFamily="34" charset="0"/>
                <a:ea typeface="Arial" pitchFamily="34" charset="-122"/>
                <a:cs typeface="Arial" pitchFamily="34" charset="-120"/>
              </a:rPr>
              <a:t> $39.00 per share</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Enterprise Value:</a:t>
            </a:r>
            <a:r>
              <a:rPr lang="en-US" sz="1350" dirty="0">
                <a:solidFill>
                  <a:srgbClr val="1A1A1A"/>
                </a:solidFill>
                <a:latin typeface="Arial" pitchFamily="34" charset="0"/>
                <a:ea typeface="Arial" pitchFamily="34" charset="-122"/>
                <a:cs typeface="Arial" pitchFamily="34" charset="-120"/>
              </a:rPr>
              <a:t> ~$10.6 billion</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Valuation:</a:t>
            </a:r>
            <a:r>
              <a:rPr lang="en-US" sz="1350" dirty="0">
                <a:solidFill>
                  <a:srgbClr val="1A1A1A"/>
                </a:solidFill>
                <a:latin typeface="Arial" pitchFamily="34" charset="0"/>
                <a:ea typeface="Arial" pitchFamily="34" charset="-122"/>
                <a:cs typeface="Arial" pitchFamily="34" charset="-120"/>
              </a:rPr>
              <a:t> 4.8x FY2022 revenue</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Financing:</a:t>
            </a:r>
            <a:r>
              <a:rPr lang="en-US" sz="1350" dirty="0">
                <a:solidFill>
                  <a:srgbClr val="1A1A1A"/>
                </a:solidFill>
                <a:latin typeface="Arial" pitchFamily="34" charset="0"/>
                <a:ea typeface="Arial" pitchFamily="34" charset="-122"/>
                <a:cs typeface="Arial" pitchFamily="34" charset="-120"/>
              </a:rPr>
              <a:t> $5.0B term loan + cash</a:t>
            </a:r>
            <a:endParaRPr lang="en-US" sz="1350" dirty="0"/>
          </a:p>
        </p:txBody>
      </p:sp>
      <p:sp>
        <p:nvSpPr>
          <p:cNvPr id="7" name="Shape 5"/>
          <p:cNvSpPr/>
          <p:nvPr/>
        </p:nvSpPr>
        <p:spPr>
          <a:xfrm>
            <a:off x="3302050" y="1602605"/>
            <a:ext cx="2540050" cy="0"/>
          </a:xfrm>
          <a:prstGeom prst="line">
            <a:avLst/>
          </a:prstGeom>
          <a:noFill/>
          <a:ln w="28575">
            <a:solidFill>
              <a:srgbClr val="0B8599"/>
            </a:solidFill>
            <a:prstDash val="solid"/>
          </a:ln>
        </p:spPr>
        <p:txBody>
          <a:bodyPr/>
          <a:lstStyle/>
          <a:p>
            <a:endParaRPr lang="en-US"/>
          </a:p>
        </p:txBody>
      </p:sp>
      <p:sp>
        <p:nvSpPr>
          <p:cNvPr id="8" name="Text 6"/>
          <p:cNvSpPr/>
          <p:nvPr/>
        </p:nvSpPr>
        <p:spPr>
          <a:xfrm>
            <a:off x="3302050" y="1306437"/>
            <a:ext cx="2590851" cy="205680"/>
          </a:xfrm>
          <a:prstGeom prst="rect">
            <a:avLst/>
          </a:prstGeom>
          <a:noFill/>
          <a:ln/>
        </p:spPr>
        <p:txBody>
          <a:bodyPr wrap="square" lIns="0" tIns="0" rIns="0" bIns="0" rtlCol="0" anchor="t"/>
          <a:lstStyle/>
          <a:p>
            <a:pPr marL="0" indent="0" algn="l">
              <a:lnSpc>
                <a:spcPts val="1620"/>
              </a:lnSpc>
              <a:buNone/>
            </a:pPr>
            <a:r>
              <a:rPr lang="en-US" sz="1350" b="1" dirty="0">
                <a:solidFill>
                  <a:srgbClr val="1C3A5C"/>
                </a:solidFill>
                <a:latin typeface="Arial" pitchFamily="34" charset="0"/>
                <a:ea typeface="Arial" pitchFamily="34" charset="-122"/>
                <a:cs typeface="Arial" pitchFamily="34" charset="-120"/>
              </a:rPr>
              <a:t>Timeline</a:t>
            </a:r>
            <a:endParaRPr lang="en-US" sz="1350" dirty="0"/>
          </a:p>
        </p:txBody>
      </p:sp>
      <p:sp>
        <p:nvSpPr>
          <p:cNvPr id="9" name="Text 7"/>
          <p:cNvSpPr/>
          <p:nvPr/>
        </p:nvSpPr>
        <p:spPr>
          <a:xfrm>
            <a:off x="3302050" y="1769292"/>
            <a:ext cx="2540050" cy="2019300"/>
          </a:xfrm>
          <a:prstGeom prst="rect">
            <a:avLst/>
          </a:prstGeom>
          <a:noFill/>
          <a:ln/>
        </p:spPr>
        <p:txBody>
          <a:bodyPr wrap="square" lIns="95250" tIns="0" rIns="0" bIns="0" rtlCol="0" anchor="t"/>
          <a:lstStyle/>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LOI Approval:</a:t>
            </a:r>
            <a:r>
              <a:rPr lang="en-US" sz="1350" dirty="0">
                <a:solidFill>
                  <a:srgbClr val="1A1A1A"/>
                </a:solidFill>
                <a:latin typeface="Arial" pitchFamily="34" charset="0"/>
                <a:ea typeface="Arial" pitchFamily="34" charset="-122"/>
                <a:cs typeface="Arial" pitchFamily="34" charset="-120"/>
              </a:rPr>
              <a:t> October 2025</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Announcement:</a:t>
            </a:r>
            <a:r>
              <a:rPr lang="en-US" sz="1350" dirty="0">
                <a:solidFill>
                  <a:srgbClr val="1A1A1A"/>
                </a:solidFill>
                <a:latin typeface="Arial" pitchFamily="34" charset="0"/>
                <a:ea typeface="Arial" pitchFamily="34" charset="-122"/>
                <a:cs typeface="Arial" pitchFamily="34" charset="-120"/>
              </a:rPr>
              <a:t> November 10, 2025</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HSR Clearance:</a:t>
            </a:r>
            <a:r>
              <a:rPr lang="en-US" sz="1350" dirty="0">
                <a:solidFill>
                  <a:srgbClr val="1A1A1A"/>
                </a:solidFill>
                <a:latin typeface="Arial" pitchFamily="34" charset="0"/>
                <a:ea typeface="Arial" pitchFamily="34" charset="-122"/>
                <a:cs typeface="Arial" pitchFamily="34" charset="-120"/>
              </a:rPr>
              <a:t> February 2026</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Target Close:</a:t>
            </a:r>
            <a:r>
              <a:rPr lang="en-US" sz="1350" dirty="0">
                <a:solidFill>
                  <a:srgbClr val="1A1A1A"/>
                </a:solidFill>
                <a:latin typeface="Arial" pitchFamily="34" charset="0"/>
                <a:ea typeface="Arial" pitchFamily="34" charset="-122"/>
                <a:cs typeface="Arial" pitchFamily="34" charset="-120"/>
              </a:rPr>
              <a:t> April 1, 2026</a:t>
            </a:r>
            <a:endParaRPr lang="en-US" sz="1350" dirty="0"/>
          </a:p>
          <a:p>
            <a:pPr marL="95250" indent="-95250" algn="l">
              <a:lnSpc>
                <a:spcPts val="2100"/>
              </a:lnSpc>
              <a:buSzPct val="100000"/>
              <a:buChar char="•"/>
            </a:pPr>
            <a:r>
              <a:rPr lang="en-US" sz="1350" b="1" dirty="0">
                <a:solidFill>
                  <a:srgbClr val="1A1A1A"/>
                </a:solidFill>
                <a:latin typeface="Arial" pitchFamily="34" charset="0"/>
                <a:ea typeface="Arial" pitchFamily="34" charset="-122"/>
                <a:cs typeface="Arial" pitchFamily="34" charset="-120"/>
              </a:rPr>
              <a:t>Integration Launch:</a:t>
            </a:r>
            <a:r>
              <a:rPr lang="en-US" sz="1350" dirty="0">
                <a:solidFill>
                  <a:srgbClr val="1A1A1A"/>
                </a:solidFill>
                <a:latin typeface="Arial" pitchFamily="34" charset="0"/>
                <a:ea typeface="Arial" pitchFamily="34" charset="-122"/>
                <a:cs typeface="Arial" pitchFamily="34" charset="-120"/>
              </a:rPr>
              <a:t> Day 1</a:t>
            </a:r>
            <a:endParaRPr lang="en-US" sz="1350" dirty="0"/>
          </a:p>
        </p:txBody>
      </p:sp>
      <p:sp>
        <p:nvSpPr>
          <p:cNvPr id="10" name="Shape 8"/>
          <p:cNvSpPr/>
          <p:nvPr/>
        </p:nvSpPr>
        <p:spPr>
          <a:xfrm>
            <a:off x="6146899" y="1597622"/>
            <a:ext cx="2540050" cy="0"/>
          </a:xfrm>
          <a:prstGeom prst="line">
            <a:avLst/>
          </a:prstGeom>
          <a:noFill/>
          <a:ln w="28575">
            <a:solidFill>
              <a:srgbClr val="0B8599"/>
            </a:solidFill>
            <a:prstDash val="solid"/>
          </a:ln>
        </p:spPr>
        <p:txBody>
          <a:bodyPr/>
          <a:lstStyle/>
          <a:p>
            <a:endParaRPr lang="en-US" dirty="0"/>
          </a:p>
        </p:txBody>
      </p:sp>
      <p:sp>
        <p:nvSpPr>
          <p:cNvPr id="11" name="Text 9"/>
          <p:cNvSpPr/>
          <p:nvPr/>
        </p:nvSpPr>
        <p:spPr>
          <a:xfrm>
            <a:off x="6146899" y="1306437"/>
            <a:ext cx="2590851" cy="205680"/>
          </a:xfrm>
          <a:prstGeom prst="rect">
            <a:avLst/>
          </a:prstGeom>
          <a:noFill/>
          <a:ln/>
        </p:spPr>
        <p:txBody>
          <a:bodyPr wrap="square" lIns="0" tIns="0" rIns="0" bIns="0" rtlCol="0" anchor="t"/>
          <a:lstStyle/>
          <a:p>
            <a:pPr marL="0" indent="0" algn="l">
              <a:lnSpc>
                <a:spcPts val="1620"/>
              </a:lnSpc>
              <a:buNone/>
            </a:pPr>
            <a:r>
              <a:rPr lang="en-US" sz="1350" b="1" dirty="0">
                <a:solidFill>
                  <a:srgbClr val="1C3A5C"/>
                </a:solidFill>
                <a:latin typeface="Arial" pitchFamily="34" charset="0"/>
                <a:ea typeface="Arial" pitchFamily="34" charset="-122"/>
                <a:cs typeface="Arial" pitchFamily="34" charset="-120"/>
              </a:rPr>
              <a:t>Advisors</a:t>
            </a:r>
            <a:endParaRPr lang="en-US" sz="1350" dirty="0"/>
          </a:p>
        </p:txBody>
      </p:sp>
      <p:sp>
        <p:nvSpPr>
          <p:cNvPr id="12" name="Text 10"/>
          <p:cNvSpPr/>
          <p:nvPr/>
        </p:nvSpPr>
        <p:spPr>
          <a:xfrm>
            <a:off x="6146899" y="1749772"/>
            <a:ext cx="2590851" cy="266700"/>
          </a:xfrm>
          <a:prstGeom prst="rect">
            <a:avLst/>
          </a:prstGeom>
          <a:noFill/>
          <a:ln/>
        </p:spPr>
        <p:txBody>
          <a:bodyPr wrap="square" lIns="0" tIns="0" rIns="0" bIns="0" rtlCol="0" anchor="t"/>
          <a:lstStyle/>
          <a:p>
            <a:pPr marL="0" indent="0" algn="l">
              <a:lnSpc>
                <a:spcPts val="2100"/>
              </a:lnSpc>
              <a:spcAft>
                <a:spcPts val="900"/>
              </a:spcAft>
              <a:buNone/>
            </a:pPr>
            <a:r>
              <a:rPr lang="en-US" sz="1350" b="1" dirty="0">
                <a:solidFill>
                  <a:srgbClr val="1C3A5C"/>
                </a:solidFill>
                <a:latin typeface="Arial" pitchFamily="34" charset="0"/>
                <a:ea typeface="Arial" pitchFamily="34" charset="-122"/>
                <a:cs typeface="Arial" pitchFamily="34" charset="-120"/>
              </a:rPr>
              <a:t>PBM Health:</a:t>
            </a:r>
            <a:endParaRPr lang="en-US" sz="1350" dirty="0"/>
          </a:p>
        </p:txBody>
      </p:sp>
      <p:sp>
        <p:nvSpPr>
          <p:cNvPr id="13" name="Text 11"/>
          <p:cNvSpPr/>
          <p:nvPr/>
        </p:nvSpPr>
        <p:spPr>
          <a:xfrm>
            <a:off x="6146899" y="2130772"/>
            <a:ext cx="2590851" cy="533400"/>
          </a:xfrm>
          <a:prstGeom prst="rect">
            <a:avLst/>
          </a:prstGeom>
          <a:noFill/>
          <a:ln/>
        </p:spPr>
        <p:txBody>
          <a:bodyPr wrap="square" lIns="0" tIns="0" rIns="0" bIns="0" rtlCol="0" anchor="t"/>
          <a:lstStyle/>
          <a:p>
            <a:pPr marL="0" indent="0" algn="l">
              <a:lnSpc>
                <a:spcPts val="2100"/>
              </a:lnSpc>
              <a:spcAft>
                <a:spcPts val="300"/>
              </a:spcAft>
              <a:buNone/>
            </a:pPr>
            <a:r>
              <a:rPr lang="en-US" sz="1350" dirty="0">
                <a:solidFill>
                  <a:srgbClr val="1A1A1A"/>
                </a:solidFill>
                <a:latin typeface="Arial" pitchFamily="34" charset="0"/>
                <a:ea typeface="Arial" pitchFamily="34" charset="-122"/>
                <a:cs typeface="Arial" pitchFamily="34" charset="-120"/>
              </a:rPr>
              <a:t>Financial: Credit Suisse, Lazard</a:t>
            </a:r>
            <a:endParaRPr lang="en-US" sz="1350" dirty="0"/>
          </a:p>
        </p:txBody>
      </p:sp>
      <p:sp>
        <p:nvSpPr>
          <p:cNvPr id="14" name="Text 12"/>
          <p:cNvSpPr/>
          <p:nvPr/>
        </p:nvSpPr>
        <p:spPr>
          <a:xfrm>
            <a:off x="6146899" y="2391713"/>
            <a:ext cx="2590851" cy="266700"/>
          </a:xfrm>
          <a:prstGeom prst="rect">
            <a:avLst/>
          </a:prstGeom>
          <a:noFill/>
          <a:ln/>
        </p:spPr>
        <p:txBody>
          <a:bodyPr wrap="square" lIns="0" tIns="0" rIns="0" bIns="0" rtlCol="0" anchor="t"/>
          <a:lstStyle/>
          <a:p>
            <a:pPr marL="0" indent="0" algn="l">
              <a:lnSpc>
                <a:spcPts val="2100"/>
              </a:lnSpc>
              <a:spcAft>
                <a:spcPts val="1200"/>
              </a:spcAft>
              <a:buNone/>
            </a:pPr>
            <a:r>
              <a:rPr lang="en-US" sz="1350" dirty="0">
                <a:solidFill>
                  <a:srgbClr val="1A1A1A"/>
                </a:solidFill>
                <a:latin typeface="Arial" pitchFamily="34" charset="0"/>
                <a:ea typeface="Arial" pitchFamily="34" charset="-122"/>
                <a:cs typeface="Arial" pitchFamily="34" charset="-120"/>
              </a:rPr>
              <a:t>Legal: Davis Polk &amp; Wardwell</a:t>
            </a:r>
            <a:endParaRPr lang="en-US" sz="1350" dirty="0"/>
          </a:p>
        </p:txBody>
      </p:sp>
      <p:sp>
        <p:nvSpPr>
          <p:cNvPr id="15" name="Text 13"/>
          <p:cNvSpPr/>
          <p:nvPr/>
        </p:nvSpPr>
        <p:spPr>
          <a:xfrm>
            <a:off x="6146899" y="2879570"/>
            <a:ext cx="2590851" cy="266700"/>
          </a:xfrm>
          <a:prstGeom prst="rect">
            <a:avLst/>
          </a:prstGeom>
          <a:noFill/>
          <a:ln/>
        </p:spPr>
        <p:txBody>
          <a:bodyPr wrap="square" lIns="0" tIns="0" rIns="0" bIns="0" rtlCol="0" anchor="t"/>
          <a:lstStyle/>
          <a:p>
            <a:pPr marL="0" indent="0" algn="l">
              <a:lnSpc>
                <a:spcPts val="2100"/>
              </a:lnSpc>
              <a:spcAft>
                <a:spcPts val="900"/>
              </a:spcAft>
              <a:buNone/>
            </a:pPr>
            <a:r>
              <a:rPr lang="en-US" sz="1350" b="1" dirty="0">
                <a:solidFill>
                  <a:srgbClr val="1C3A5C"/>
                </a:solidFill>
                <a:latin typeface="Arial" pitchFamily="34" charset="0"/>
                <a:ea typeface="Arial" pitchFamily="34" charset="-122"/>
                <a:cs typeface="Arial" pitchFamily="34" charset="-120"/>
              </a:rPr>
              <a:t>Maple Point:</a:t>
            </a:r>
            <a:endParaRPr lang="en-US" sz="1350" dirty="0"/>
          </a:p>
        </p:txBody>
      </p:sp>
      <p:sp>
        <p:nvSpPr>
          <p:cNvPr id="16" name="Text 14"/>
          <p:cNvSpPr/>
          <p:nvPr/>
        </p:nvSpPr>
        <p:spPr>
          <a:xfrm>
            <a:off x="6146899" y="3260570"/>
            <a:ext cx="2590851" cy="533400"/>
          </a:xfrm>
          <a:prstGeom prst="rect">
            <a:avLst/>
          </a:prstGeom>
          <a:noFill/>
          <a:ln/>
        </p:spPr>
        <p:txBody>
          <a:bodyPr wrap="square" lIns="0" tIns="0" rIns="0" bIns="0" rtlCol="0" anchor="t"/>
          <a:lstStyle/>
          <a:p>
            <a:pPr marL="0" indent="0" algn="l">
              <a:lnSpc>
                <a:spcPts val="2100"/>
              </a:lnSpc>
              <a:spcAft>
                <a:spcPts val="300"/>
              </a:spcAft>
              <a:buNone/>
            </a:pPr>
            <a:r>
              <a:rPr lang="en-US" sz="1350" dirty="0">
                <a:solidFill>
                  <a:srgbClr val="1A1A1A"/>
                </a:solidFill>
                <a:latin typeface="Arial" pitchFamily="34" charset="0"/>
                <a:ea typeface="Arial" pitchFamily="34" charset="-122"/>
                <a:cs typeface="Arial" pitchFamily="34" charset="-120"/>
              </a:rPr>
              <a:t>Financial: Goldman Sachs, JPM</a:t>
            </a:r>
            <a:endParaRPr lang="en-US" sz="1350" dirty="0"/>
          </a:p>
        </p:txBody>
      </p:sp>
      <p:sp>
        <p:nvSpPr>
          <p:cNvPr id="17" name="Text 15"/>
          <p:cNvSpPr/>
          <p:nvPr/>
        </p:nvSpPr>
        <p:spPr>
          <a:xfrm>
            <a:off x="6146899" y="3517920"/>
            <a:ext cx="2590851" cy="266700"/>
          </a:xfrm>
          <a:prstGeom prst="rect">
            <a:avLst/>
          </a:prstGeom>
          <a:noFill/>
          <a:ln/>
        </p:spPr>
        <p:txBody>
          <a:bodyPr wrap="square" lIns="0" tIns="0" rIns="0" bIns="0" rtlCol="0" anchor="t"/>
          <a:lstStyle/>
          <a:p>
            <a:pPr marL="0" indent="0" algn="l">
              <a:lnSpc>
                <a:spcPts val="2100"/>
              </a:lnSpc>
              <a:buNone/>
            </a:pPr>
            <a:r>
              <a:rPr lang="en-US" sz="1350" dirty="0">
                <a:solidFill>
                  <a:srgbClr val="1A1A1A"/>
                </a:solidFill>
                <a:latin typeface="Arial" pitchFamily="34" charset="0"/>
                <a:ea typeface="Arial" pitchFamily="34" charset="-122"/>
                <a:cs typeface="Arial" pitchFamily="34" charset="-120"/>
              </a:rPr>
              <a:t>Legal: Latham &amp; Watkins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4206812"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Strategic Rationale</a:t>
            </a:r>
            <a:endParaRPr lang="en-US" sz="2100" dirty="0"/>
          </a:p>
        </p:txBody>
      </p:sp>
      <p:sp>
        <p:nvSpPr>
          <p:cNvPr id="4" name="Text 2"/>
          <p:cNvSpPr/>
          <p:nvPr/>
        </p:nvSpPr>
        <p:spPr>
          <a:xfrm>
            <a:off x="457200" y="1134517"/>
            <a:ext cx="3962400" cy="1227683"/>
          </a:xfrm>
          <a:prstGeom prst="roundRect">
            <a:avLst>
              <a:gd name="adj" fmla="val 3103"/>
            </a:avLst>
          </a:prstGeom>
          <a:solidFill>
            <a:srgbClr val="F5F7F9"/>
          </a:solidFill>
          <a:ln/>
        </p:spPr>
        <p:txBody>
          <a:bodyPr wrap="square" rtlCol="0" anchor="ctr"/>
          <a:lstStyle/>
          <a:p>
            <a:pPr marL="0" indent="0">
              <a:buNone/>
            </a:pPr>
            <a:endParaRPr lang="en-US" dirty="0"/>
          </a:p>
        </p:txBody>
      </p:sp>
      <p:sp>
        <p:nvSpPr>
          <p:cNvPr id="5" name="Shape 3"/>
          <p:cNvSpPr/>
          <p:nvPr/>
        </p:nvSpPr>
        <p:spPr>
          <a:xfrm>
            <a:off x="476250" y="1134517"/>
            <a:ext cx="0" cy="1227683"/>
          </a:xfrm>
          <a:prstGeom prst="line">
            <a:avLst/>
          </a:prstGeom>
          <a:noFill/>
          <a:ln w="38100">
            <a:solidFill>
              <a:srgbClr val="0B8599"/>
            </a:solidFill>
            <a:prstDash val="solid"/>
          </a:ln>
        </p:spPr>
        <p:txBody>
          <a:bodyPr/>
          <a:lstStyle/>
          <a:p>
            <a:endParaRPr lang="en-US"/>
          </a:p>
        </p:txBody>
      </p:sp>
      <p:sp>
        <p:nvSpPr>
          <p:cNvPr id="6" name="Text 4"/>
          <p:cNvSpPr/>
          <p:nvPr/>
        </p:nvSpPr>
        <p:spPr>
          <a:xfrm>
            <a:off x="685800" y="1325017"/>
            <a:ext cx="3614166" cy="194221"/>
          </a:xfrm>
          <a:prstGeom prst="rect">
            <a:avLst/>
          </a:prstGeom>
          <a:noFill/>
          <a:ln/>
        </p:spPr>
        <p:txBody>
          <a:bodyPr wrap="square" lIns="0" tIns="0" rIns="0" bIns="0" rtlCol="0" anchor="t"/>
          <a:lstStyle/>
          <a:p>
            <a:pPr marL="0" indent="0" algn="l">
              <a:lnSpc>
                <a:spcPts val="1530"/>
              </a:lnSpc>
              <a:spcAft>
                <a:spcPts val="750"/>
              </a:spcAft>
              <a:buNone/>
            </a:pPr>
            <a:r>
              <a:rPr lang="en-US" sz="1275" b="1" dirty="0">
                <a:solidFill>
                  <a:srgbClr val="1C3A5C"/>
                </a:solidFill>
                <a:latin typeface="Arial" pitchFamily="34" charset="0"/>
                <a:ea typeface="Arial" pitchFamily="34" charset="-122"/>
                <a:cs typeface="Arial" pitchFamily="34" charset="-120"/>
              </a:rPr>
              <a:t>Accelerates Medicare Advantage Strategy</a:t>
            </a:r>
            <a:endParaRPr lang="en-US" sz="1275" dirty="0"/>
          </a:p>
        </p:txBody>
      </p:sp>
      <p:sp>
        <p:nvSpPr>
          <p:cNvPr id="7" name="Text 5"/>
          <p:cNvSpPr/>
          <p:nvPr/>
        </p:nvSpPr>
        <p:spPr>
          <a:xfrm>
            <a:off x="685800" y="1614488"/>
            <a:ext cx="3614166" cy="557213"/>
          </a:xfrm>
          <a:prstGeom prst="rect">
            <a:avLst/>
          </a:prstGeom>
          <a:noFill/>
          <a:ln/>
        </p:spPr>
        <p:txBody>
          <a:bodyPr wrap="square" lIns="0" tIns="0" rIns="0" bIns="0" rtlCol="0" anchor="t"/>
          <a:lstStyle/>
          <a:p>
            <a:pPr marL="0" indent="0" algn="l">
              <a:lnSpc>
                <a:spcPts val="1463"/>
              </a:lnSpc>
              <a:buNone/>
            </a:pPr>
            <a:r>
              <a:rPr lang="en-US" sz="975" dirty="0">
                <a:solidFill>
                  <a:srgbClr val="1A1A1A"/>
                </a:solidFill>
                <a:latin typeface="Arial" pitchFamily="34" charset="0"/>
                <a:ea typeface="Arial" pitchFamily="34" charset="-122"/>
                <a:cs typeface="Arial" pitchFamily="34" charset="-120"/>
              </a:rPr>
              <a:t>Adds 169 centers and 224K patients to strengthen value-based care platform. Proven model for underserved seniors with high clinical quality scores.</a:t>
            </a:r>
            <a:endParaRPr lang="en-US" sz="975" dirty="0"/>
          </a:p>
        </p:txBody>
      </p:sp>
      <p:sp>
        <p:nvSpPr>
          <p:cNvPr id="8" name="Text 6"/>
          <p:cNvSpPr/>
          <p:nvPr/>
        </p:nvSpPr>
        <p:spPr>
          <a:xfrm>
            <a:off x="4724400" y="1134517"/>
            <a:ext cx="3962400" cy="1227683"/>
          </a:xfrm>
          <a:prstGeom prst="roundRect">
            <a:avLst>
              <a:gd name="adj" fmla="val 3103"/>
            </a:avLst>
          </a:prstGeom>
          <a:solidFill>
            <a:srgbClr val="F5F7F9"/>
          </a:solidFill>
          <a:ln/>
        </p:spPr>
        <p:txBody>
          <a:bodyPr wrap="square" rtlCol="0" anchor="ctr"/>
          <a:lstStyle/>
          <a:p>
            <a:pPr marL="0" indent="0">
              <a:buNone/>
            </a:pPr>
            <a:endParaRPr lang="en-US" dirty="0"/>
          </a:p>
        </p:txBody>
      </p:sp>
      <p:sp>
        <p:nvSpPr>
          <p:cNvPr id="9" name="Shape 7"/>
          <p:cNvSpPr/>
          <p:nvPr/>
        </p:nvSpPr>
        <p:spPr>
          <a:xfrm>
            <a:off x="4743450" y="1134517"/>
            <a:ext cx="0" cy="1227683"/>
          </a:xfrm>
          <a:prstGeom prst="line">
            <a:avLst/>
          </a:prstGeom>
          <a:noFill/>
          <a:ln w="38100">
            <a:solidFill>
              <a:srgbClr val="0B8599"/>
            </a:solidFill>
            <a:prstDash val="solid"/>
          </a:ln>
        </p:spPr>
        <p:txBody>
          <a:bodyPr/>
          <a:lstStyle/>
          <a:p>
            <a:endParaRPr lang="en-US"/>
          </a:p>
        </p:txBody>
      </p:sp>
      <p:sp>
        <p:nvSpPr>
          <p:cNvPr id="10" name="Text 8"/>
          <p:cNvSpPr/>
          <p:nvPr/>
        </p:nvSpPr>
        <p:spPr>
          <a:xfrm>
            <a:off x="4953000" y="1325017"/>
            <a:ext cx="3614166" cy="194221"/>
          </a:xfrm>
          <a:prstGeom prst="rect">
            <a:avLst/>
          </a:prstGeom>
          <a:noFill/>
          <a:ln/>
        </p:spPr>
        <p:txBody>
          <a:bodyPr wrap="square" lIns="0" tIns="0" rIns="0" bIns="0" rtlCol="0" anchor="t"/>
          <a:lstStyle/>
          <a:p>
            <a:pPr marL="0" indent="0" algn="l">
              <a:lnSpc>
                <a:spcPts val="1530"/>
              </a:lnSpc>
              <a:spcAft>
                <a:spcPts val="750"/>
              </a:spcAft>
              <a:buNone/>
            </a:pPr>
            <a:r>
              <a:rPr lang="en-US" sz="1275" b="1" dirty="0">
                <a:solidFill>
                  <a:srgbClr val="1C3A5C"/>
                </a:solidFill>
                <a:latin typeface="Arial" pitchFamily="34" charset="0"/>
                <a:ea typeface="Arial" pitchFamily="34" charset="-122"/>
                <a:cs typeface="Arial" pitchFamily="34" charset="-120"/>
              </a:rPr>
              <a:t>Proven Economics</a:t>
            </a:r>
            <a:endParaRPr lang="en-US" sz="1275" dirty="0"/>
          </a:p>
        </p:txBody>
      </p:sp>
      <p:sp>
        <p:nvSpPr>
          <p:cNvPr id="11" name="Text 9"/>
          <p:cNvSpPr/>
          <p:nvPr/>
        </p:nvSpPr>
        <p:spPr>
          <a:xfrm>
            <a:off x="4953000" y="1614488"/>
            <a:ext cx="3614166" cy="557213"/>
          </a:xfrm>
          <a:prstGeom prst="rect">
            <a:avLst/>
          </a:prstGeom>
          <a:noFill/>
          <a:ln/>
        </p:spPr>
        <p:txBody>
          <a:bodyPr wrap="square" lIns="0" tIns="0" rIns="0" bIns="0" rtlCol="0" anchor="t"/>
          <a:lstStyle/>
          <a:p>
            <a:pPr marL="0" indent="0" algn="l">
              <a:lnSpc>
                <a:spcPts val="1463"/>
              </a:lnSpc>
              <a:buNone/>
            </a:pPr>
            <a:r>
              <a:rPr lang="en-US" sz="975" dirty="0">
                <a:solidFill>
                  <a:srgbClr val="1A1A1A"/>
                </a:solidFill>
                <a:latin typeface="Arial" pitchFamily="34" charset="0"/>
                <a:ea typeface="Arial" pitchFamily="34" charset="-122"/>
                <a:cs typeface="Arial" pitchFamily="34" charset="-120"/>
              </a:rPr>
              <a:t>Mature centers generate $7M annual EBITDA. De novo expansion playbook validated across 21 states with predictable ramp curves and capital efficiency.</a:t>
            </a:r>
            <a:endParaRPr lang="en-US" sz="975" dirty="0"/>
          </a:p>
        </p:txBody>
      </p:sp>
      <p:sp>
        <p:nvSpPr>
          <p:cNvPr id="12" name="Text 10"/>
          <p:cNvSpPr/>
          <p:nvPr/>
        </p:nvSpPr>
        <p:spPr>
          <a:xfrm>
            <a:off x="457200" y="2571750"/>
            <a:ext cx="3962400" cy="1227683"/>
          </a:xfrm>
          <a:prstGeom prst="roundRect">
            <a:avLst>
              <a:gd name="adj" fmla="val 3103"/>
            </a:avLst>
          </a:prstGeom>
          <a:solidFill>
            <a:srgbClr val="F5F7F9"/>
          </a:solidFill>
          <a:ln/>
        </p:spPr>
        <p:txBody>
          <a:bodyPr wrap="square" rtlCol="0" anchor="ctr"/>
          <a:lstStyle/>
          <a:p>
            <a:pPr marL="0" indent="0">
              <a:buNone/>
            </a:pPr>
            <a:endParaRPr lang="en-US" dirty="0"/>
          </a:p>
        </p:txBody>
      </p:sp>
      <p:sp>
        <p:nvSpPr>
          <p:cNvPr id="13" name="Shape 11"/>
          <p:cNvSpPr/>
          <p:nvPr/>
        </p:nvSpPr>
        <p:spPr>
          <a:xfrm>
            <a:off x="476250" y="2571750"/>
            <a:ext cx="0" cy="1227683"/>
          </a:xfrm>
          <a:prstGeom prst="line">
            <a:avLst/>
          </a:prstGeom>
          <a:noFill/>
          <a:ln w="38100">
            <a:solidFill>
              <a:srgbClr val="0B8599"/>
            </a:solidFill>
            <a:prstDash val="solid"/>
          </a:ln>
        </p:spPr>
        <p:txBody>
          <a:bodyPr/>
          <a:lstStyle/>
          <a:p>
            <a:endParaRPr lang="en-US"/>
          </a:p>
        </p:txBody>
      </p:sp>
      <p:sp>
        <p:nvSpPr>
          <p:cNvPr id="14" name="Text 12"/>
          <p:cNvSpPr/>
          <p:nvPr/>
        </p:nvSpPr>
        <p:spPr>
          <a:xfrm>
            <a:off x="685800" y="2762250"/>
            <a:ext cx="3614166" cy="194221"/>
          </a:xfrm>
          <a:prstGeom prst="rect">
            <a:avLst/>
          </a:prstGeom>
          <a:noFill/>
          <a:ln/>
        </p:spPr>
        <p:txBody>
          <a:bodyPr wrap="square" lIns="0" tIns="0" rIns="0" bIns="0" rtlCol="0" anchor="t"/>
          <a:lstStyle/>
          <a:p>
            <a:pPr marL="0" indent="0" algn="l">
              <a:lnSpc>
                <a:spcPts val="1530"/>
              </a:lnSpc>
              <a:spcAft>
                <a:spcPts val="750"/>
              </a:spcAft>
              <a:buNone/>
            </a:pPr>
            <a:r>
              <a:rPr lang="en-US" sz="1275" b="1" dirty="0">
                <a:solidFill>
                  <a:srgbClr val="1C3A5C"/>
                </a:solidFill>
                <a:latin typeface="Arial" pitchFamily="34" charset="0"/>
                <a:ea typeface="Arial" pitchFamily="34" charset="-122"/>
                <a:cs typeface="Arial" pitchFamily="34" charset="-120"/>
              </a:rPr>
              <a:t>Medical Economics</a:t>
            </a:r>
            <a:endParaRPr lang="en-US" sz="1275" dirty="0"/>
          </a:p>
        </p:txBody>
      </p:sp>
      <p:sp>
        <p:nvSpPr>
          <p:cNvPr id="15" name="Text 13"/>
          <p:cNvSpPr/>
          <p:nvPr/>
        </p:nvSpPr>
        <p:spPr>
          <a:xfrm>
            <a:off x="685800" y="3051721"/>
            <a:ext cx="3614166" cy="557213"/>
          </a:xfrm>
          <a:prstGeom prst="rect">
            <a:avLst/>
          </a:prstGeom>
          <a:noFill/>
          <a:ln/>
        </p:spPr>
        <p:txBody>
          <a:bodyPr wrap="square" lIns="0" tIns="0" rIns="0" bIns="0" rtlCol="0" anchor="t"/>
          <a:lstStyle/>
          <a:p>
            <a:pPr marL="0" indent="0" algn="l">
              <a:lnSpc>
                <a:spcPts val="1463"/>
              </a:lnSpc>
              <a:buNone/>
            </a:pPr>
            <a:r>
              <a:rPr lang="en-US" sz="975" dirty="0">
                <a:solidFill>
                  <a:srgbClr val="1A1A1A"/>
                </a:solidFill>
                <a:latin typeface="Arial" pitchFamily="34" charset="0"/>
                <a:ea typeface="Arial" pitchFamily="34" charset="-122"/>
                <a:cs typeface="Arial" pitchFamily="34" charset="-120"/>
              </a:rPr>
              <a:t>Expertise in RAF optimization and HCC coding integrity reduces MLR by 100-200 bps. Proactive care management prevents costly avoidable utilization.</a:t>
            </a:r>
            <a:endParaRPr lang="en-US" sz="975" dirty="0"/>
          </a:p>
        </p:txBody>
      </p:sp>
      <p:sp>
        <p:nvSpPr>
          <p:cNvPr id="16" name="Text 14"/>
          <p:cNvSpPr/>
          <p:nvPr/>
        </p:nvSpPr>
        <p:spPr>
          <a:xfrm>
            <a:off x="4724400" y="2571750"/>
            <a:ext cx="3962400" cy="1227683"/>
          </a:xfrm>
          <a:prstGeom prst="roundRect">
            <a:avLst>
              <a:gd name="adj" fmla="val 3103"/>
            </a:avLst>
          </a:prstGeom>
          <a:solidFill>
            <a:srgbClr val="F5F7F9"/>
          </a:solidFill>
          <a:ln/>
        </p:spPr>
        <p:txBody>
          <a:bodyPr wrap="square" rtlCol="0" anchor="ctr"/>
          <a:lstStyle/>
          <a:p>
            <a:pPr marL="0" indent="0">
              <a:buNone/>
            </a:pPr>
            <a:endParaRPr lang="en-US" dirty="0"/>
          </a:p>
        </p:txBody>
      </p:sp>
      <p:sp>
        <p:nvSpPr>
          <p:cNvPr id="17" name="Shape 15"/>
          <p:cNvSpPr/>
          <p:nvPr/>
        </p:nvSpPr>
        <p:spPr>
          <a:xfrm>
            <a:off x="4743450" y="2571750"/>
            <a:ext cx="0" cy="1227683"/>
          </a:xfrm>
          <a:prstGeom prst="line">
            <a:avLst/>
          </a:prstGeom>
          <a:noFill/>
          <a:ln w="38100">
            <a:solidFill>
              <a:srgbClr val="0B8599"/>
            </a:solidFill>
            <a:prstDash val="solid"/>
          </a:ln>
        </p:spPr>
        <p:txBody>
          <a:bodyPr/>
          <a:lstStyle/>
          <a:p>
            <a:endParaRPr lang="en-US"/>
          </a:p>
        </p:txBody>
      </p:sp>
      <p:sp>
        <p:nvSpPr>
          <p:cNvPr id="18" name="Text 16"/>
          <p:cNvSpPr/>
          <p:nvPr/>
        </p:nvSpPr>
        <p:spPr>
          <a:xfrm>
            <a:off x="4953000" y="2762250"/>
            <a:ext cx="3614166" cy="194221"/>
          </a:xfrm>
          <a:prstGeom prst="rect">
            <a:avLst/>
          </a:prstGeom>
          <a:noFill/>
          <a:ln/>
        </p:spPr>
        <p:txBody>
          <a:bodyPr wrap="square" lIns="0" tIns="0" rIns="0" bIns="0" rtlCol="0" anchor="t"/>
          <a:lstStyle/>
          <a:p>
            <a:pPr marL="0" indent="0" algn="l">
              <a:lnSpc>
                <a:spcPts val="1530"/>
              </a:lnSpc>
              <a:spcAft>
                <a:spcPts val="750"/>
              </a:spcAft>
              <a:buNone/>
            </a:pPr>
            <a:r>
              <a:rPr lang="en-US" sz="1275" b="1" dirty="0">
                <a:solidFill>
                  <a:srgbClr val="1C3A5C"/>
                </a:solidFill>
                <a:latin typeface="Arial" pitchFamily="34" charset="0"/>
                <a:ea typeface="Arial" pitchFamily="34" charset="-122"/>
                <a:cs typeface="Arial" pitchFamily="34" charset="-120"/>
              </a:rPr>
              <a:t>Omnichannel Access</a:t>
            </a:r>
            <a:endParaRPr lang="en-US" sz="1275" dirty="0"/>
          </a:p>
        </p:txBody>
      </p:sp>
      <p:sp>
        <p:nvSpPr>
          <p:cNvPr id="19" name="Text 17"/>
          <p:cNvSpPr/>
          <p:nvPr/>
        </p:nvSpPr>
        <p:spPr>
          <a:xfrm>
            <a:off x="4953000" y="3051721"/>
            <a:ext cx="3614166" cy="557213"/>
          </a:xfrm>
          <a:prstGeom prst="rect">
            <a:avLst/>
          </a:prstGeom>
          <a:noFill/>
          <a:ln/>
        </p:spPr>
        <p:txBody>
          <a:bodyPr wrap="square" lIns="0" tIns="0" rIns="0" bIns="0" rtlCol="0" anchor="t"/>
          <a:lstStyle/>
          <a:p>
            <a:pPr marL="0" indent="0" algn="l">
              <a:lnSpc>
                <a:spcPts val="1463"/>
              </a:lnSpc>
              <a:buNone/>
            </a:pPr>
            <a:r>
              <a:rPr lang="en-US" sz="975" dirty="0">
                <a:solidFill>
                  <a:srgbClr val="1A1A1A"/>
                </a:solidFill>
                <a:latin typeface="Arial" pitchFamily="34" charset="0"/>
                <a:ea typeface="Arial" pitchFamily="34" charset="-122"/>
                <a:cs typeface="Arial" pitchFamily="34" charset="-120"/>
              </a:rPr>
              <a:t>Integrates brick-and-mortar clinics with PBM's retail, virtual, and in-home capabilities. Seamless patient experience across all care settings drives engagement.</a:t>
            </a:r>
            <a:endParaRPr lang="en-US" sz="975" dirty="0"/>
          </a:p>
        </p:txBody>
      </p:sp>
      <p:pic>
        <p:nvPicPr>
          <p:cNvPr id="20" name="Image 0" descr="/tmp/rasterized-gradient-05e7391f.png"/>
          <p:cNvPicPr>
            <a:picLocks noChangeAspect="1"/>
          </p:cNvPicPr>
          <p:nvPr/>
        </p:nvPicPr>
        <p:blipFill>
          <a:blip r:embed="rId3"/>
          <a:stretch>
            <a:fillRect/>
          </a:stretch>
        </p:blipFill>
        <p:spPr>
          <a:xfrm>
            <a:off x="457200" y="4008983"/>
            <a:ext cx="8229600" cy="704850"/>
          </a:xfrm>
          <a:prstGeom prst="rect">
            <a:avLst/>
          </a:prstGeom>
        </p:spPr>
      </p:pic>
      <p:sp>
        <p:nvSpPr>
          <p:cNvPr id="21" name="Text 18"/>
          <p:cNvSpPr/>
          <p:nvPr/>
        </p:nvSpPr>
        <p:spPr>
          <a:xfrm>
            <a:off x="646938" y="4161383"/>
            <a:ext cx="7850124" cy="400050"/>
          </a:xfrm>
          <a:prstGeom prst="rect">
            <a:avLst/>
          </a:prstGeom>
          <a:noFill/>
          <a:ln/>
        </p:spPr>
        <p:txBody>
          <a:bodyPr wrap="square" lIns="0" tIns="0" rIns="0" bIns="0" rtlCol="0" anchor="t"/>
          <a:lstStyle/>
          <a:p>
            <a:pPr marL="0" indent="0" algn="ctr">
              <a:lnSpc>
                <a:spcPts val="1575"/>
              </a:lnSpc>
              <a:buNone/>
            </a:pPr>
            <a:r>
              <a:rPr lang="en-US" sz="1125" b="1" dirty="0">
                <a:solidFill>
                  <a:srgbClr val="FFFFFF"/>
                </a:solidFill>
                <a:latin typeface="Arial" pitchFamily="34" charset="0"/>
                <a:ea typeface="Arial" pitchFamily="34" charset="-122"/>
                <a:cs typeface="Arial" pitchFamily="34" charset="-120"/>
              </a:rPr>
              <a:t>Combined platform positions PBM as the leading value-based primary care provider for Medicare Advantage seniors</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4206812"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Due Diligence Summary</a:t>
            </a:r>
            <a:endParaRPr lang="en-US" sz="2100" dirty="0"/>
          </a:p>
        </p:txBody>
      </p:sp>
      <p:sp>
        <p:nvSpPr>
          <p:cNvPr id="4" name="Text 2"/>
          <p:cNvSpPr/>
          <p:nvPr/>
        </p:nvSpPr>
        <p:spPr>
          <a:xfrm>
            <a:off x="457200" y="1344067"/>
            <a:ext cx="4041648" cy="182761"/>
          </a:xfrm>
          <a:prstGeom prst="rect">
            <a:avLst/>
          </a:prstGeom>
          <a:noFill/>
          <a:ln/>
        </p:spPr>
        <p:txBody>
          <a:bodyPr wrap="square" lIns="0" tIns="0" rIns="0" bIns="0" rtlCol="0" anchor="t"/>
          <a:lstStyle/>
          <a:p>
            <a:pPr marL="0" indent="0" algn="l">
              <a:lnSpc>
                <a:spcPts val="1440"/>
              </a:lnSpc>
              <a:spcAft>
                <a:spcPts val="750"/>
              </a:spcAft>
              <a:buNone/>
            </a:pPr>
            <a:r>
              <a:rPr lang="en-US" sz="1200" b="1" dirty="0">
                <a:solidFill>
                  <a:srgbClr val="1C3A5C"/>
                </a:solidFill>
                <a:latin typeface="Arial" pitchFamily="34" charset="0"/>
                <a:ea typeface="Arial" pitchFamily="34" charset="-122"/>
                <a:cs typeface="Arial" pitchFamily="34" charset="-120"/>
              </a:rPr>
              <a:t>Key Findings</a:t>
            </a:r>
            <a:endParaRPr lang="en-US" sz="1200" dirty="0"/>
          </a:p>
        </p:txBody>
      </p:sp>
      <p:sp>
        <p:nvSpPr>
          <p:cNvPr id="5" name="Text 3"/>
          <p:cNvSpPr/>
          <p:nvPr/>
        </p:nvSpPr>
        <p:spPr>
          <a:xfrm>
            <a:off x="457200" y="1622078"/>
            <a:ext cx="3962400" cy="2324100"/>
          </a:xfrm>
          <a:prstGeom prst="rect">
            <a:avLst/>
          </a:prstGeom>
          <a:noFill/>
          <a:ln/>
        </p:spPr>
        <p:txBody>
          <a:bodyPr wrap="square" lIns="85725" tIns="0" rIns="0" bIns="0" rtlCol="0" anchor="t"/>
          <a:lstStyle/>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Financial statements audited and reconciled</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Payer contracts reviewed; no adverse terms</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Regulatory compliance validated across all states</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IT systems assessed; integration feasible</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Provider compensation competitive and sustainable</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Real estate portfolio confirmed; 95% lease terms acceptable</a:t>
            </a:r>
            <a:endParaRPr lang="en-US" sz="1350" dirty="0"/>
          </a:p>
        </p:txBody>
      </p:sp>
      <p:sp>
        <p:nvSpPr>
          <p:cNvPr id="6" name="Text 4"/>
          <p:cNvSpPr/>
          <p:nvPr/>
        </p:nvSpPr>
        <p:spPr>
          <a:xfrm>
            <a:off x="4724400" y="1077367"/>
            <a:ext cx="4041648" cy="182761"/>
          </a:xfrm>
          <a:prstGeom prst="rect">
            <a:avLst/>
          </a:prstGeom>
          <a:noFill/>
          <a:ln/>
        </p:spPr>
        <p:txBody>
          <a:bodyPr wrap="square" lIns="0" tIns="0" rIns="0" bIns="0" rtlCol="0" anchor="t"/>
          <a:lstStyle/>
          <a:p>
            <a:pPr marL="0" indent="0" algn="l">
              <a:lnSpc>
                <a:spcPts val="1440"/>
              </a:lnSpc>
              <a:spcAft>
                <a:spcPts val="750"/>
              </a:spcAft>
              <a:buNone/>
            </a:pPr>
            <a:r>
              <a:rPr lang="en-US" sz="1200" b="1" dirty="0">
                <a:solidFill>
                  <a:srgbClr val="1C3A5C"/>
                </a:solidFill>
                <a:latin typeface="Arial" pitchFamily="34" charset="0"/>
                <a:ea typeface="Arial" pitchFamily="34" charset="-122"/>
                <a:cs typeface="Arial" pitchFamily="34" charset="-120"/>
              </a:rPr>
              <a:t>Material Matters Addressed</a:t>
            </a:r>
            <a:endParaRPr lang="en-US" sz="1200" dirty="0"/>
          </a:p>
        </p:txBody>
      </p:sp>
      <p:sp>
        <p:nvSpPr>
          <p:cNvPr id="7" name="Text 5"/>
          <p:cNvSpPr/>
          <p:nvPr/>
        </p:nvSpPr>
        <p:spPr>
          <a:xfrm>
            <a:off x="4724400" y="1355378"/>
            <a:ext cx="3962400" cy="2857500"/>
          </a:xfrm>
          <a:prstGeom prst="rect">
            <a:avLst/>
          </a:prstGeom>
          <a:noFill/>
          <a:ln/>
        </p:spPr>
        <p:txBody>
          <a:bodyPr wrap="square" lIns="85725" tIns="0" rIns="0" bIns="0" rtlCol="0" anchor="t"/>
          <a:lstStyle/>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RADV audit exposure quantified; reserves adequate</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CMS Stars performance tracking to 4.5+ average</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Three pending litigation matters disclosed; immaterial</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Physician retention packages finalized</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Environmental assessments completed; no material issues</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Data privacy controls validated by external auditor</a:t>
            </a:r>
            <a:endParaRPr lang="en-US" sz="1350" dirty="0"/>
          </a:p>
        </p:txBody>
      </p:sp>
      <p:sp>
        <p:nvSpPr>
          <p:cNvPr id="8" name="Text 6"/>
          <p:cNvSpPr/>
          <p:nvPr/>
        </p:nvSpPr>
        <p:spPr>
          <a:xfrm>
            <a:off x="457200" y="4365278"/>
            <a:ext cx="8229600" cy="790426"/>
          </a:xfrm>
          <a:prstGeom prst="roundRect">
            <a:avLst>
              <a:gd name="adj" fmla="val 4820"/>
            </a:avLst>
          </a:prstGeom>
          <a:solidFill>
            <a:srgbClr val="F5F7F9"/>
          </a:solidFill>
          <a:ln/>
        </p:spPr>
        <p:txBody>
          <a:bodyPr wrap="square" rtlCol="0" anchor="ctr"/>
          <a:lstStyle/>
          <a:p>
            <a:pPr marL="0" indent="0">
              <a:buNone/>
            </a:pPr>
            <a:endParaRPr lang="en-US" dirty="0"/>
          </a:p>
        </p:txBody>
      </p:sp>
      <p:sp>
        <p:nvSpPr>
          <p:cNvPr id="9" name="Shape 7"/>
          <p:cNvSpPr/>
          <p:nvPr/>
        </p:nvSpPr>
        <p:spPr>
          <a:xfrm>
            <a:off x="457200" y="4384328"/>
            <a:ext cx="8229600" cy="0"/>
          </a:xfrm>
          <a:prstGeom prst="line">
            <a:avLst/>
          </a:prstGeom>
          <a:noFill/>
          <a:ln w="38100">
            <a:solidFill>
              <a:srgbClr val="0B8599"/>
            </a:solidFill>
            <a:prstDash val="solid"/>
          </a:ln>
        </p:spPr>
        <p:txBody>
          <a:bodyPr/>
          <a:lstStyle/>
          <a:p>
            <a:endParaRPr lang="en-US"/>
          </a:p>
        </p:txBody>
      </p:sp>
      <p:sp>
        <p:nvSpPr>
          <p:cNvPr id="10" name="Text 8"/>
          <p:cNvSpPr/>
          <p:nvPr/>
        </p:nvSpPr>
        <p:spPr>
          <a:xfrm>
            <a:off x="685800" y="4517678"/>
            <a:ext cx="7927848" cy="31998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C3A5C"/>
                </a:solidFill>
                <a:latin typeface="Arial" pitchFamily="34" charset="0"/>
                <a:ea typeface="Arial" pitchFamily="34" charset="-122"/>
                <a:cs typeface="Arial" pitchFamily="34" charset="-120"/>
              </a:rPr>
              <a:t>Conclusion:</a:t>
            </a:r>
            <a:r>
              <a:rPr lang="en-US" sz="900" dirty="0">
                <a:solidFill>
                  <a:srgbClr val="1A1A1A"/>
                </a:solidFill>
                <a:latin typeface="Arial" pitchFamily="34" charset="0"/>
                <a:ea typeface="Arial" pitchFamily="34" charset="-122"/>
                <a:cs typeface="Arial" pitchFamily="34" charset="-120"/>
              </a:rPr>
              <a:t> Due diligence process completed over 120+ day period with no findings that would materially impact transaction value or strategic rationale. All disclosed matters either resolved or appropriately reflected in purchase price adjustments.</a:t>
            </a:r>
            <a:endParaRPr lang="en-US" sz="900" dirty="0"/>
          </a:p>
        </p:txBody>
      </p:sp>
      <p:sp>
        <p:nvSpPr>
          <p:cNvPr id="11" name="Text 9"/>
          <p:cNvSpPr/>
          <p:nvPr/>
        </p:nvSpPr>
        <p:spPr>
          <a:xfrm>
            <a:off x="685800" y="4894808"/>
            <a:ext cx="7927848" cy="146596"/>
          </a:xfrm>
          <a:prstGeom prst="rect">
            <a:avLst/>
          </a:prstGeom>
          <a:noFill/>
          <a:ln/>
        </p:spPr>
        <p:txBody>
          <a:bodyPr wrap="square" lIns="0" tIns="0" rIns="0" bIns="0" rtlCol="0" anchor="t"/>
          <a:lstStyle/>
          <a:p>
            <a:pPr marL="0" indent="0" algn="l">
              <a:lnSpc>
                <a:spcPts val="1155"/>
              </a:lnSpc>
              <a:buNone/>
            </a:pPr>
            <a:r>
              <a:rPr lang="en-US" sz="825" i="1" dirty="0">
                <a:solidFill>
                  <a:srgbClr val="1A1A1A"/>
                </a:solidFill>
                <a:latin typeface="Arial" pitchFamily="34" charset="0"/>
                <a:ea typeface="Arial" pitchFamily="34" charset="-122"/>
                <a:cs typeface="Arial" pitchFamily="34" charset="-120"/>
              </a:rPr>
              <a:t>Review conducted by Davis Polk &amp; Wardwell (legal), Deloitte (financial/tax), and KPMG (IT/cybersecurity)</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535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228600"/>
            <a:ext cx="4478845"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Financial Performance &amp; Valuation</a:t>
            </a:r>
            <a:endParaRPr lang="en-US" sz="2100" dirty="0"/>
          </a:p>
        </p:txBody>
      </p:sp>
      <p:sp>
        <p:nvSpPr>
          <p:cNvPr id="4" name="Text 2"/>
          <p:cNvSpPr/>
          <p:nvPr/>
        </p:nvSpPr>
        <p:spPr>
          <a:xfrm>
            <a:off x="457200" y="898922"/>
            <a:ext cx="4041648" cy="205680"/>
          </a:xfrm>
          <a:prstGeom prst="rect">
            <a:avLst/>
          </a:prstGeom>
          <a:noFill/>
          <a:ln/>
        </p:spPr>
        <p:txBody>
          <a:bodyPr wrap="square" lIns="0" tIns="0" rIns="0" bIns="0" rtlCol="0" anchor="t"/>
          <a:lstStyle/>
          <a:p>
            <a:pPr marL="0" indent="0" algn="l">
              <a:lnSpc>
                <a:spcPts val="1620"/>
              </a:lnSpc>
              <a:spcAft>
                <a:spcPts val="1200"/>
              </a:spcAft>
              <a:buNone/>
            </a:pPr>
            <a:r>
              <a:rPr lang="en-US" sz="1350" b="1" dirty="0">
                <a:solidFill>
                  <a:srgbClr val="1C3A5C"/>
                </a:solidFill>
                <a:latin typeface="Arial" pitchFamily="34" charset="0"/>
                <a:ea typeface="Arial" pitchFamily="34" charset="-122"/>
                <a:cs typeface="Arial" pitchFamily="34" charset="-120"/>
              </a:rPr>
              <a:t>Historical Performance</a:t>
            </a:r>
            <a:endParaRPr lang="en-US" sz="1350" dirty="0"/>
          </a:p>
        </p:txBody>
      </p:sp>
      <p:sp>
        <p:nvSpPr>
          <p:cNvPr id="5" name="Text 3"/>
          <p:cNvSpPr/>
          <p:nvPr/>
        </p:nvSpPr>
        <p:spPr>
          <a:xfrm>
            <a:off x="457200" y="3851500"/>
            <a:ext cx="4041648" cy="557213"/>
          </a:xfrm>
          <a:prstGeom prst="rect">
            <a:avLst/>
          </a:prstGeom>
          <a:noFill/>
          <a:ln/>
        </p:spPr>
        <p:txBody>
          <a:bodyPr wrap="square" lIns="0" tIns="0" rIns="0" bIns="0" rtlCol="0" anchor="t"/>
          <a:lstStyle/>
          <a:p>
            <a:pPr marL="0" indent="0" algn="l">
              <a:lnSpc>
                <a:spcPts val="1463"/>
              </a:lnSpc>
              <a:spcBef>
                <a:spcPts val="900"/>
              </a:spcBef>
              <a:spcAft>
                <a:spcPts val="300"/>
              </a:spcAft>
              <a:buNone/>
            </a:pPr>
            <a:r>
              <a:rPr lang="en-US" sz="975" dirty="0">
                <a:solidFill>
                  <a:srgbClr val="1A1A1A"/>
                </a:solidFill>
                <a:latin typeface="Arial" pitchFamily="34" charset="0"/>
                <a:ea typeface="Arial" pitchFamily="34" charset="-122"/>
                <a:cs typeface="Arial" pitchFamily="34" charset="-120"/>
              </a:rPr>
              <a:t>Strong revenue trajectory with 51% CAGR from 2019-2022. Path to EBITDA breakeven by 2025 as mature centers scale and operating leverage improves.</a:t>
            </a:r>
            <a:endParaRPr lang="en-US" sz="975" dirty="0"/>
          </a:p>
        </p:txBody>
      </p:sp>
      <p:sp>
        <p:nvSpPr>
          <p:cNvPr id="6" name="Text 4"/>
          <p:cNvSpPr/>
          <p:nvPr/>
        </p:nvSpPr>
        <p:spPr>
          <a:xfrm>
            <a:off x="4724400" y="898922"/>
            <a:ext cx="4041648" cy="205680"/>
          </a:xfrm>
          <a:prstGeom prst="rect">
            <a:avLst/>
          </a:prstGeom>
          <a:noFill/>
          <a:ln/>
        </p:spPr>
        <p:txBody>
          <a:bodyPr wrap="square" lIns="0" tIns="0" rIns="0" bIns="0" rtlCol="0" anchor="t"/>
          <a:lstStyle/>
          <a:p>
            <a:pPr marL="0" indent="0" algn="l">
              <a:lnSpc>
                <a:spcPts val="1620"/>
              </a:lnSpc>
              <a:spcAft>
                <a:spcPts val="1200"/>
              </a:spcAft>
              <a:buNone/>
            </a:pPr>
            <a:r>
              <a:rPr lang="en-US" sz="1350" b="1" dirty="0">
                <a:solidFill>
                  <a:srgbClr val="1C3A5C"/>
                </a:solidFill>
                <a:latin typeface="Arial" pitchFamily="34" charset="0"/>
                <a:ea typeface="Arial" pitchFamily="34" charset="-122"/>
                <a:cs typeface="Arial" pitchFamily="34" charset="-120"/>
              </a:rPr>
              <a:t>Valuation Assessment</a:t>
            </a:r>
            <a:endParaRPr lang="en-US" sz="1350" dirty="0"/>
          </a:p>
        </p:txBody>
      </p:sp>
      <p:sp>
        <p:nvSpPr>
          <p:cNvPr id="7" name="Text 5"/>
          <p:cNvSpPr/>
          <p:nvPr/>
        </p:nvSpPr>
        <p:spPr>
          <a:xfrm>
            <a:off x="4724400" y="1257002"/>
            <a:ext cx="3962400" cy="1817043"/>
          </a:xfrm>
          <a:prstGeom prst="roundRect">
            <a:avLst>
              <a:gd name="adj" fmla="val 2097"/>
            </a:avLst>
          </a:prstGeom>
          <a:solidFill>
            <a:srgbClr val="F5F7F9"/>
          </a:solidFill>
          <a:ln/>
        </p:spPr>
        <p:txBody>
          <a:bodyPr wrap="square" rtlCol="0" anchor="ctr"/>
          <a:lstStyle/>
          <a:p>
            <a:pPr marL="0" indent="0">
              <a:buNone/>
            </a:pPr>
            <a:endParaRPr lang="en-US" dirty="0"/>
          </a:p>
        </p:txBody>
      </p:sp>
      <p:sp>
        <p:nvSpPr>
          <p:cNvPr id="8" name="Text 6"/>
          <p:cNvSpPr/>
          <p:nvPr/>
        </p:nvSpPr>
        <p:spPr>
          <a:xfrm>
            <a:off x="4914900" y="1447502"/>
            <a:ext cx="3653028"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A1A"/>
                </a:solidFill>
                <a:latin typeface="Arial" pitchFamily="34" charset="0"/>
                <a:ea typeface="Arial" pitchFamily="34" charset="-122"/>
                <a:cs typeface="Arial" pitchFamily="34" charset="-120"/>
              </a:rPr>
              <a:t>Transaction Valuation</a:t>
            </a:r>
            <a:endParaRPr lang="en-US" sz="975" dirty="0"/>
          </a:p>
        </p:txBody>
      </p:sp>
      <p:sp>
        <p:nvSpPr>
          <p:cNvPr id="9" name="Text 7"/>
          <p:cNvSpPr/>
          <p:nvPr/>
        </p:nvSpPr>
        <p:spPr>
          <a:xfrm>
            <a:off x="4914900" y="1677888"/>
            <a:ext cx="3653028" cy="373261"/>
          </a:xfrm>
          <a:prstGeom prst="rect">
            <a:avLst/>
          </a:prstGeom>
          <a:noFill/>
          <a:ln/>
        </p:spPr>
        <p:txBody>
          <a:bodyPr wrap="square" lIns="0" tIns="0" rIns="0" bIns="0" rtlCol="0" anchor="t"/>
          <a:lstStyle/>
          <a:p>
            <a:pPr marL="0" indent="0" algn="l">
              <a:lnSpc>
                <a:spcPts val="2940"/>
              </a:lnSpc>
              <a:buNone/>
            </a:pPr>
            <a:r>
              <a:rPr lang="en-US" sz="2100" dirty="0">
                <a:solidFill>
                  <a:srgbClr val="1C3A5C"/>
                </a:solidFill>
                <a:latin typeface="Arial" pitchFamily="34" charset="0"/>
                <a:ea typeface="Arial" pitchFamily="34" charset="-122"/>
                <a:cs typeface="Arial" pitchFamily="34" charset="-120"/>
              </a:rPr>
              <a:t>4.8x </a:t>
            </a:r>
            <a:r>
              <a:rPr lang="en-US" sz="1200" dirty="0">
                <a:solidFill>
                  <a:srgbClr val="1A1A1A"/>
                </a:solidFill>
                <a:latin typeface="Arial" pitchFamily="34" charset="0"/>
                <a:ea typeface="Arial" pitchFamily="34" charset="-122"/>
                <a:cs typeface="Arial" pitchFamily="34" charset="-120"/>
              </a:rPr>
              <a:t>FY2022 Revenue</a:t>
            </a:r>
            <a:endParaRPr lang="en-US" sz="2100" dirty="0"/>
          </a:p>
        </p:txBody>
      </p:sp>
      <p:sp>
        <p:nvSpPr>
          <p:cNvPr id="10" name="Shape 8"/>
          <p:cNvSpPr/>
          <p:nvPr/>
        </p:nvSpPr>
        <p:spPr>
          <a:xfrm>
            <a:off x="4914900" y="2208312"/>
            <a:ext cx="3581400" cy="0"/>
          </a:xfrm>
          <a:prstGeom prst="line">
            <a:avLst/>
          </a:prstGeom>
          <a:noFill/>
          <a:ln w="9525">
            <a:solidFill>
              <a:srgbClr val="DDDDDD"/>
            </a:solidFill>
            <a:prstDash val="solid"/>
          </a:ln>
        </p:spPr>
        <p:txBody>
          <a:bodyPr/>
          <a:lstStyle/>
          <a:p>
            <a:endParaRPr lang="en-US"/>
          </a:p>
        </p:txBody>
      </p:sp>
      <p:sp>
        <p:nvSpPr>
          <p:cNvPr id="11" name="Text 9"/>
          <p:cNvSpPr/>
          <p:nvPr/>
        </p:nvSpPr>
        <p:spPr>
          <a:xfrm>
            <a:off x="4914900" y="2327374"/>
            <a:ext cx="3653028"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1A1A1A"/>
                </a:solidFill>
                <a:latin typeface="Arial" pitchFamily="34" charset="0"/>
                <a:ea typeface="Arial" pitchFamily="34" charset="-122"/>
                <a:cs typeface="Arial" pitchFamily="34" charset="-120"/>
              </a:rPr>
              <a:t>Enterprise Value: </a:t>
            </a:r>
            <a:r>
              <a:rPr lang="en-US" sz="900" b="1" dirty="0">
                <a:solidFill>
                  <a:srgbClr val="1A1A1A"/>
                </a:solidFill>
                <a:latin typeface="Arial" pitchFamily="34" charset="0"/>
                <a:ea typeface="Arial" pitchFamily="34" charset="-122"/>
                <a:cs typeface="Arial" pitchFamily="34" charset="-120"/>
              </a:rPr>
              <a:t>$10.6B</a:t>
            </a:r>
            <a:endParaRPr lang="en-US" sz="900" dirty="0"/>
          </a:p>
        </p:txBody>
      </p:sp>
      <p:sp>
        <p:nvSpPr>
          <p:cNvPr id="12" name="Text 10"/>
          <p:cNvSpPr/>
          <p:nvPr/>
        </p:nvSpPr>
        <p:spPr>
          <a:xfrm>
            <a:off x="4914900" y="2525464"/>
            <a:ext cx="3653028"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1A1A1A"/>
                </a:solidFill>
                <a:latin typeface="Arial" pitchFamily="34" charset="0"/>
                <a:ea typeface="Arial" pitchFamily="34" charset="-122"/>
                <a:cs typeface="Arial" pitchFamily="34" charset="-120"/>
              </a:rPr>
              <a:t>FY2022 Revenue: </a:t>
            </a:r>
            <a:r>
              <a:rPr lang="en-US" sz="900" b="1" dirty="0">
                <a:solidFill>
                  <a:srgbClr val="1A1A1A"/>
                </a:solidFill>
                <a:latin typeface="Arial" pitchFamily="34" charset="0"/>
                <a:ea typeface="Arial" pitchFamily="34" charset="-122"/>
                <a:cs typeface="Arial" pitchFamily="34" charset="-120"/>
              </a:rPr>
              <a:t>$2.2B</a:t>
            </a:r>
            <a:endParaRPr lang="en-US" sz="900" dirty="0"/>
          </a:p>
        </p:txBody>
      </p:sp>
      <p:sp>
        <p:nvSpPr>
          <p:cNvPr id="13" name="Text 11"/>
          <p:cNvSpPr/>
          <p:nvPr/>
        </p:nvSpPr>
        <p:spPr>
          <a:xfrm>
            <a:off x="4914900" y="2723555"/>
            <a:ext cx="3653028" cy="159990"/>
          </a:xfrm>
          <a:prstGeom prst="rect">
            <a:avLst/>
          </a:prstGeom>
          <a:noFill/>
          <a:ln/>
        </p:spPr>
        <p:txBody>
          <a:bodyPr wrap="square" lIns="0" tIns="0" rIns="0" bIns="0" rtlCol="0" anchor="t"/>
          <a:lstStyle/>
          <a:p>
            <a:pPr marL="0" indent="0" algn="l">
              <a:lnSpc>
                <a:spcPts val="1260"/>
              </a:lnSpc>
              <a:buNone/>
            </a:pPr>
            <a:r>
              <a:rPr lang="en-US" sz="900" dirty="0">
                <a:solidFill>
                  <a:srgbClr val="1A1A1A"/>
                </a:solidFill>
                <a:latin typeface="Arial" pitchFamily="34" charset="0"/>
                <a:ea typeface="Arial" pitchFamily="34" charset="-122"/>
                <a:cs typeface="Arial" pitchFamily="34" charset="-120"/>
              </a:rPr>
              <a:t>Implied Multiple: </a:t>
            </a:r>
            <a:r>
              <a:rPr lang="en-US" sz="900" b="1" dirty="0">
                <a:solidFill>
                  <a:srgbClr val="1A1A1A"/>
                </a:solidFill>
                <a:latin typeface="Arial" pitchFamily="34" charset="0"/>
                <a:ea typeface="Arial" pitchFamily="34" charset="-122"/>
                <a:cs typeface="Arial" pitchFamily="34" charset="-120"/>
              </a:rPr>
              <a:t>4.8x</a:t>
            </a:r>
            <a:endParaRPr lang="en-US" sz="900" dirty="0"/>
          </a:p>
        </p:txBody>
      </p:sp>
      <p:sp>
        <p:nvSpPr>
          <p:cNvPr id="14" name="Text 12"/>
          <p:cNvSpPr/>
          <p:nvPr/>
        </p:nvSpPr>
        <p:spPr>
          <a:xfrm>
            <a:off x="4724400" y="3622900"/>
            <a:ext cx="4041648" cy="152400"/>
          </a:xfrm>
          <a:prstGeom prst="rect">
            <a:avLst/>
          </a:prstGeom>
          <a:noFill/>
          <a:ln/>
        </p:spPr>
        <p:txBody>
          <a:bodyPr wrap="square" lIns="0" tIns="0" rIns="0" bIns="0" rtlCol="0" anchor="t"/>
          <a:lstStyle/>
          <a:p>
            <a:pPr marL="0" indent="0" algn="l">
              <a:spcAft>
                <a:spcPts val="750"/>
              </a:spcAft>
              <a:buNone/>
            </a:pPr>
            <a:r>
              <a:rPr lang="en-US" sz="1050" b="1" dirty="0">
                <a:solidFill>
                  <a:srgbClr val="1C3A5C"/>
                </a:solidFill>
                <a:latin typeface="Arial" pitchFamily="34" charset="0"/>
                <a:ea typeface="Arial" pitchFamily="34" charset="-122"/>
                <a:cs typeface="Arial" pitchFamily="34" charset="-120"/>
              </a:rPr>
              <a:t>Comparable Transactions</a:t>
            </a:r>
            <a:endParaRPr lang="en-US" sz="1050" dirty="0"/>
          </a:p>
        </p:txBody>
      </p:sp>
      <p:sp>
        <p:nvSpPr>
          <p:cNvPr id="15" name="Text 13"/>
          <p:cNvSpPr/>
          <p:nvPr/>
        </p:nvSpPr>
        <p:spPr>
          <a:xfrm>
            <a:off x="4724400" y="3870550"/>
            <a:ext cx="3962400" cy="698897"/>
          </a:xfrm>
          <a:prstGeom prst="rect">
            <a:avLst/>
          </a:prstGeom>
          <a:noFill/>
          <a:ln/>
        </p:spPr>
        <p:txBody>
          <a:bodyPr wrap="square" lIns="85725" tIns="0" rIns="0" bIns="0" rtlCol="0" anchor="t"/>
          <a:lstStyle/>
          <a:p>
            <a:pPr marL="85725" indent="-85725" algn="l">
              <a:buSzPct val="100000"/>
              <a:buChar char="•"/>
            </a:pPr>
            <a:r>
              <a:rPr lang="en-US" sz="1050" dirty="0">
                <a:solidFill>
                  <a:srgbClr val="1A1A1A"/>
                </a:solidFill>
                <a:latin typeface="Arial" pitchFamily="34" charset="0"/>
                <a:ea typeface="Arial" pitchFamily="34" charset="-122"/>
                <a:cs typeface="Arial" pitchFamily="34" charset="-120"/>
              </a:rPr>
              <a:t>Amazon / One Medical: 5.2x revenue</a:t>
            </a:r>
            <a:endParaRPr lang="en-US" sz="1050" dirty="0"/>
          </a:p>
          <a:p>
            <a:pPr marL="85725" indent="-85725" algn="l">
              <a:buSzPct val="100000"/>
              <a:buChar char="•"/>
            </a:pPr>
            <a:r>
              <a:rPr lang="en-US" sz="1050" dirty="0">
                <a:solidFill>
                  <a:srgbClr val="1A1A1A"/>
                </a:solidFill>
                <a:latin typeface="Arial" pitchFamily="34" charset="0"/>
                <a:ea typeface="Arial" pitchFamily="34" charset="-122"/>
                <a:cs typeface="Arial" pitchFamily="34" charset="-120"/>
              </a:rPr>
              <a:t>PBM / Signify Health: premium asset</a:t>
            </a:r>
            <a:endParaRPr lang="en-US" sz="1050" dirty="0"/>
          </a:p>
          <a:p>
            <a:pPr marL="85725" indent="-85725" algn="l">
              <a:buSzPct val="100000"/>
              <a:buChar char="•"/>
            </a:pPr>
            <a:r>
              <a:rPr lang="en-US" sz="1050" dirty="0">
                <a:solidFill>
                  <a:srgbClr val="1A1A1A"/>
                </a:solidFill>
                <a:latin typeface="Arial" pitchFamily="34" charset="0"/>
                <a:ea typeface="Arial" pitchFamily="34" charset="-122"/>
                <a:cs typeface="Arial" pitchFamily="34" charset="-120"/>
              </a:rPr>
              <a:t>Walgreens-VillageMD / Summit: 6.5x+</a:t>
            </a:r>
            <a:endParaRPr lang="en-US" sz="1050" dirty="0"/>
          </a:p>
          <a:p>
            <a:pPr marL="85725" indent="-85725" algn="l">
              <a:buSzPct val="100000"/>
              <a:buChar char="•"/>
            </a:pPr>
            <a:r>
              <a:rPr lang="en-US" sz="1050" dirty="0">
                <a:solidFill>
                  <a:srgbClr val="1A1A1A"/>
                </a:solidFill>
                <a:latin typeface="Arial" pitchFamily="34" charset="0"/>
                <a:ea typeface="Arial" pitchFamily="34" charset="-122"/>
                <a:cs typeface="Arial" pitchFamily="34" charset="-120"/>
              </a:rPr>
              <a:t>Median primary care multiple: 5.0x</a:t>
            </a:r>
            <a:endParaRPr lang="en-US" sz="1050" dirty="0"/>
          </a:p>
        </p:txBody>
      </p:sp>
      <p:sp>
        <p:nvSpPr>
          <p:cNvPr id="16" name="Text 14"/>
          <p:cNvSpPr/>
          <p:nvPr/>
        </p:nvSpPr>
        <p:spPr>
          <a:xfrm>
            <a:off x="4724400" y="3131195"/>
            <a:ext cx="4041648" cy="342900"/>
          </a:xfrm>
          <a:prstGeom prst="rect">
            <a:avLst/>
          </a:prstGeom>
          <a:noFill/>
          <a:ln/>
        </p:spPr>
        <p:txBody>
          <a:bodyPr wrap="square" lIns="0" tIns="0" rIns="0" bIns="0" rtlCol="0" anchor="t"/>
          <a:lstStyle/>
          <a:p>
            <a:pPr marL="0" indent="0" algn="l">
              <a:lnSpc>
                <a:spcPts val="1350"/>
              </a:lnSpc>
              <a:spcBef>
                <a:spcPts val="900"/>
              </a:spcBef>
              <a:spcAft>
                <a:spcPts val="300"/>
              </a:spcAft>
              <a:buNone/>
            </a:pPr>
            <a:r>
              <a:rPr lang="en-US" sz="900" i="1" dirty="0">
                <a:solidFill>
                  <a:srgbClr val="1A1A1A"/>
                </a:solidFill>
                <a:latin typeface="Arial" pitchFamily="34" charset="0"/>
                <a:ea typeface="Arial" pitchFamily="34" charset="-122"/>
                <a:cs typeface="Arial" pitchFamily="34" charset="-120"/>
              </a:rPr>
              <a:t>Valuation reflects growth stage with near-term profitability trajectory and proven unit economics at maturity.</a:t>
            </a:r>
            <a:endParaRPr lang="en-US" sz="900" dirty="0"/>
          </a:p>
        </p:txBody>
      </p:sp>
      <p:graphicFrame>
        <p:nvGraphicFramePr>
          <p:cNvPr id="17" name="Chart 0"/>
          <p:cNvGraphicFramePr/>
          <p:nvPr>
            <p:extLst>
              <p:ext uri="{D42A27DB-BD31-4B8C-83A1-F6EECF244321}">
                <p14:modId xmlns:p14="http://schemas.microsoft.com/office/powerpoint/2010/main" val="955512248"/>
              </p:ext>
            </p:extLst>
          </p:nvPr>
        </p:nvGraphicFramePr>
        <p:xfrm>
          <a:off x="457200" y="1413100"/>
          <a:ext cx="39624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a:extLst>
              <a:ext uri="{FF2B5EF4-FFF2-40B4-BE49-F238E27FC236}">
                <a16:creationId xmlns:a16="http://schemas.microsoft.com/office/drawing/2014/main" id="{644AF56F-56D8-66CB-A37E-1FF9480B9E30}"/>
              </a:ext>
            </a:extLst>
          </p:cNvPr>
          <p:cNvSpPr/>
          <p:nvPr/>
        </p:nvSpPr>
        <p:spPr>
          <a:xfrm>
            <a:off x="457200" y="1260700"/>
            <a:ext cx="4041648" cy="205680"/>
          </a:xfrm>
          <a:prstGeom prst="rect">
            <a:avLst/>
          </a:prstGeom>
          <a:noFill/>
          <a:ln/>
        </p:spPr>
        <p:txBody>
          <a:bodyPr wrap="square" lIns="0" tIns="0" rIns="0" bIns="0" rtlCol="0" anchor="t"/>
          <a:lstStyle/>
          <a:p>
            <a:pPr marL="0" indent="0" algn="l">
              <a:lnSpc>
                <a:spcPts val="1350"/>
              </a:lnSpc>
              <a:spcBef>
                <a:spcPts val="900"/>
              </a:spcBef>
              <a:spcAft>
                <a:spcPts val="300"/>
              </a:spcAft>
              <a:buNone/>
            </a:pPr>
            <a:r>
              <a:rPr lang="en-US" sz="900" i="1" dirty="0">
                <a:solidFill>
                  <a:srgbClr val="1A1A1A"/>
                </a:solidFill>
                <a:latin typeface="Arial" pitchFamily="34" charset="0"/>
                <a:ea typeface="Arial" pitchFamily="34" charset="-122"/>
                <a:cs typeface="Arial" pitchFamily="34" charset="-120"/>
              </a:rPr>
              <a:t>Chart figures in millions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535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228600"/>
            <a:ext cx="4206812"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Synergy Analysis</a:t>
            </a:r>
            <a:endParaRPr lang="en-US" sz="2100" dirty="0"/>
          </a:p>
        </p:txBody>
      </p:sp>
      <p:sp>
        <p:nvSpPr>
          <p:cNvPr id="4" name="Text 2"/>
          <p:cNvSpPr/>
          <p:nvPr/>
        </p:nvSpPr>
        <p:spPr>
          <a:xfrm>
            <a:off x="457200" y="1161901"/>
            <a:ext cx="4041648" cy="205680"/>
          </a:xfrm>
          <a:prstGeom prst="rect">
            <a:avLst/>
          </a:prstGeom>
          <a:noFill/>
          <a:ln/>
        </p:spPr>
        <p:txBody>
          <a:bodyPr wrap="square" lIns="0" tIns="0" rIns="0" bIns="0" rtlCol="0" anchor="t"/>
          <a:lstStyle/>
          <a:p>
            <a:pPr marL="0" indent="0" algn="l">
              <a:lnSpc>
                <a:spcPts val="1620"/>
              </a:lnSpc>
              <a:spcAft>
                <a:spcPts val="1200"/>
              </a:spcAft>
              <a:buNone/>
            </a:pPr>
            <a:r>
              <a:rPr lang="en-US" sz="1350" b="1" dirty="0">
                <a:solidFill>
                  <a:srgbClr val="1C3A5C"/>
                </a:solidFill>
                <a:latin typeface="Arial" pitchFamily="34" charset="0"/>
                <a:ea typeface="Arial" pitchFamily="34" charset="-122"/>
                <a:cs typeface="Arial" pitchFamily="34" charset="-120"/>
              </a:rPr>
              <a:t>Annual Run-Rate Synergies</a:t>
            </a:r>
            <a:endParaRPr lang="en-US" sz="1350" dirty="0"/>
          </a:p>
        </p:txBody>
      </p:sp>
      <p:sp>
        <p:nvSpPr>
          <p:cNvPr id="5" name="Text 3"/>
          <p:cNvSpPr/>
          <p:nvPr/>
        </p:nvSpPr>
        <p:spPr>
          <a:xfrm>
            <a:off x="4724400" y="1161901"/>
            <a:ext cx="4041648" cy="205680"/>
          </a:xfrm>
          <a:prstGeom prst="rect">
            <a:avLst/>
          </a:prstGeom>
          <a:noFill/>
          <a:ln/>
        </p:spPr>
        <p:txBody>
          <a:bodyPr wrap="square" lIns="0" tIns="0" rIns="0" bIns="0" rtlCol="0" anchor="t"/>
          <a:lstStyle/>
          <a:p>
            <a:pPr marL="0" indent="0" algn="l">
              <a:lnSpc>
                <a:spcPts val="1620"/>
              </a:lnSpc>
              <a:spcAft>
                <a:spcPts val="1200"/>
              </a:spcAft>
              <a:buNone/>
            </a:pPr>
            <a:r>
              <a:rPr lang="en-US" sz="1350" b="1" dirty="0">
                <a:solidFill>
                  <a:srgbClr val="1C3A5C"/>
                </a:solidFill>
                <a:latin typeface="Arial" pitchFamily="34" charset="0"/>
                <a:ea typeface="Arial" pitchFamily="34" charset="-122"/>
                <a:cs typeface="Arial" pitchFamily="34" charset="-120"/>
              </a:rPr>
              <a:t>Synergy Categories</a:t>
            </a:r>
            <a:endParaRPr lang="en-US" sz="1350" dirty="0"/>
          </a:p>
        </p:txBody>
      </p:sp>
      <p:sp>
        <p:nvSpPr>
          <p:cNvPr id="6" name="Text 4"/>
          <p:cNvSpPr/>
          <p:nvPr/>
        </p:nvSpPr>
        <p:spPr>
          <a:xfrm>
            <a:off x="4724400" y="1519982"/>
            <a:ext cx="3962400" cy="891480"/>
          </a:xfrm>
          <a:prstGeom prst="roundRect">
            <a:avLst>
              <a:gd name="adj" fmla="val 4274"/>
            </a:avLst>
          </a:prstGeom>
          <a:solidFill>
            <a:srgbClr val="F5F7F9"/>
          </a:solidFill>
          <a:ln/>
        </p:spPr>
        <p:txBody>
          <a:bodyPr wrap="square" rtlCol="0" anchor="ctr"/>
          <a:lstStyle/>
          <a:p>
            <a:pPr marL="0" indent="0">
              <a:buNone/>
            </a:pPr>
            <a:endParaRPr lang="en-US" dirty="0"/>
          </a:p>
        </p:txBody>
      </p:sp>
      <p:sp>
        <p:nvSpPr>
          <p:cNvPr id="7" name="Shape 5"/>
          <p:cNvSpPr/>
          <p:nvPr/>
        </p:nvSpPr>
        <p:spPr>
          <a:xfrm>
            <a:off x="4743450" y="1519982"/>
            <a:ext cx="0" cy="891480"/>
          </a:xfrm>
          <a:prstGeom prst="line">
            <a:avLst/>
          </a:prstGeom>
          <a:noFill/>
          <a:ln w="38100">
            <a:solidFill>
              <a:srgbClr val="0B8599"/>
            </a:solidFill>
            <a:prstDash val="solid"/>
          </a:ln>
        </p:spPr>
        <p:txBody>
          <a:bodyPr/>
          <a:lstStyle/>
          <a:p>
            <a:endParaRPr lang="en-US"/>
          </a:p>
        </p:txBody>
      </p:sp>
      <p:sp>
        <p:nvSpPr>
          <p:cNvPr id="8" name="Text 6"/>
          <p:cNvSpPr/>
          <p:nvPr/>
        </p:nvSpPr>
        <p:spPr>
          <a:xfrm>
            <a:off x="4914900" y="1672382"/>
            <a:ext cx="3691890"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1C3A5C"/>
                </a:solidFill>
                <a:latin typeface="Arial" pitchFamily="34" charset="0"/>
                <a:ea typeface="Arial" pitchFamily="34" charset="-122"/>
                <a:cs typeface="Arial" pitchFamily="34" charset="-120"/>
              </a:rPr>
              <a:t>Revenue Synergies: $200-250M</a:t>
            </a:r>
            <a:endParaRPr lang="en-US" sz="1050" dirty="0"/>
          </a:p>
        </p:txBody>
      </p:sp>
      <p:sp>
        <p:nvSpPr>
          <p:cNvPr id="9" name="Text 7"/>
          <p:cNvSpPr/>
          <p:nvPr/>
        </p:nvSpPr>
        <p:spPr>
          <a:xfrm>
            <a:off x="4914900" y="1916162"/>
            <a:ext cx="3691890" cy="342900"/>
          </a:xfrm>
          <a:prstGeom prst="rect">
            <a:avLst/>
          </a:prstGeom>
          <a:noFill/>
          <a:ln/>
        </p:spPr>
        <p:txBody>
          <a:bodyPr wrap="square" lIns="0" tIns="0" rIns="0" bIns="0" rtlCol="0" anchor="t"/>
          <a:lstStyle/>
          <a:p>
            <a:pPr marL="0" indent="0" algn="l">
              <a:lnSpc>
                <a:spcPts val="1350"/>
              </a:lnSpc>
              <a:buNone/>
            </a:pPr>
            <a:r>
              <a:rPr lang="en-US" sz="900" dirty="0">
                <a:solidFill>
                  <a:srgbClr val="1A1A1A"/>
                </a:solidFill>
                <a:latin typeface="Arial" pitchFamily="34" charset="0"/>
                <a:ea typeface="Arial" pitchFamily="34" charset="-122"/>
                <a:cs typeface="Arial" pitchFamily="34" charset="-120"/>
              </a:rPr>
              <a:t>Cross-sell Aetna MA plans to Maple Point patients; retail </a:t>
            </a:r>
            <a:r>
              <a:rPr lang="en-US" sz="900" dirty="0" err="1">
                <a:solidFill>
                  <a:srgbClr val="1A1A1A"/>
                </a:solidFill>
                <a:latin typeface="Arial" pitchFamily="34" charset="0"/>
                <a:ea typeface="Arial" pitchFamily="34" charset="-122"/>
                <a:cs typeface="Arial" pitchFamily="34" charset="-120"/>
              </a:rPr>
              <a:t>QuickClinic</a:t>
            </a:r>
            <a:r>
              <a:rPr lang="en-US" sz="900" dirty="0">
                <a:solidFill>
                  <a:srgbClr val="1A1A1A"/>
                </a:solidFill>
                <a:latin typeface="Arial" pitchFamily="34" charset="0"/>
                <a:ea typeface="Arial" pitchFamily="34" charset="-122"/>
                <a:cs typeface="Arial" pitchFamily="34" charset="-120"/>
              </a:rPr>
              <a:t> referrals; specialty pharmacy attachment</a:t>
            </a:r>
            <a:endParaRPr lang="en-US" sz="900" dirty="0"/>
          </a:p>
        </p:txBody>
      </p:sp>
      <p:sp>
        <p:nvSpPr>
          <p:cNvPr id="10" name="Text 8"/>
          <p:cNvSpPr/>
          <p:nvPr/>
        </p:nvSpPr>
        <p:spPr>
          <a:xfrm>
            <a:off x="4724400" y="2525762"/>
            <a:ext cx="3962400" cy="891480"/>
          </a:xfrm>
          <a:prstGeom prst="roundRect">
            <a:avLst>
              <a:gd name="adj" fmla="val 4274"/>
            </a:avLst>
          </a:prstGeom>
          <a:solidFill>
            <a:srgbClr val="F5F7F9"/>
          </a:solidFill>
          <a:ln/>
        </p:spPr>
        <p:txBody>
          <a:bodyPr wrap="square" rtlCol="0" anchor="ctr"/>
          <a:lstStyle/>
          <a:p>
            <a:pPr marL="0" indent="0">
              <a:buNone/>
            </a:pPr>
            <a:endParaRPr lang="en-US" dirty="0"/>
          </a:p>
        </p:txBody>
      </p:sp>
      <p:sp>
        <p:nvSpPr>
          <p:cNvPr id="11" name="Shape 9"/>
          <p:cNvSpPr/>
          <p:nvPr/>
        </p:nvSpPr>
        <p:spPr>
          <a:xfrm>
            <a:off x="4743450" y="2525762"/>
            <a:ext cx="0" cy="891480"/>
          </a:xfrm>
          <a:prstGeom prst="line">
            <a:avLst/>
          </a:prstGeom>
          <a:noFill/>
          <a:ln w="38100">
            <a:solidFill>
              <a:srgbClr val="0B8599"/>
            </a:solidFill>
            <a:prstDash val="solid"/>
          </a:ln>
        </p:spPr>
        <p:txBody>
          <a:bodyPr/>
          <a:lstStyle/>
          <a:p>
            <a:endParaRPr lang="en-US"/>
          </a:p>
        </p:txBody>
      </p:sp>
      <p:sp>
        <p:nvSpPr>
          <p:cNvPr id="12" name="Text 10"/>
          <p:cNvSpPr/>
          <p:nvPr/>
        </p:nvSpPr>
        <p:spPr>
          <a:xfrm>
            <a:off x="4914900" y="2678162"/>
            <a:ext cx="3691890"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1C3A5C"/>
                </a:solidFill>
                <a:latin typeface="Arial" pitchFamily="34" charset="0"/>
                <a:ea typeface="Arial" pitchFamily="34" charset="-122"/>
                <a:cs typeface="Arial" pitchFamily="34" charset="-120"/>
              </a:rPr>
              <a:t>Cost Synergies: $250-300M</a:t>
            </a:r>
            <a:endParaRPr lang="en-US" sz="1050" dirty="0"/>
          </a:p>
        </p:txBody>
      </p:sp>
      <p:sp>
        <p:nvSpPr>
          <p:cNvPr id="13" name="Text 11"/>
          <p:cNvSpPr/>
          <p:nvPr/>
        </p:nvSpPr>
        <p:spPr>
          <a:xfrm>
            <a:off x="4914900" y="2921943"/>
            <a:ext cx="3691890" cy="342900"/>
          </a:xfrm>
          <a:prstGeom prst="rect">
            <a:avLst/>
          </a:prstGeom>
          <a:noFill/>
          <a:ln/>
        </p:spPr>
        <p:txBody>
          <a:bodyPr wrap="square" lIns="0" tIns="0" rIns="0" bIns="0" rtlCol="0" anchor="t"/>
          <a:lstStyle/>
          <a:p>
            <a:pPr marL="0" indent="0" algn="l">
              <a:lnSpc>
                <a:spcPts val="1350"/>
              </a:lnSpc>
              <a:buNone/>
            </a:pPr>
            <a:r>
              <a:rPr lang="en-US" sz="900" dirty="0">
                <a:solidFill>
                  <a:srgbClr val="1A1A1A"/>
                </a:solidFill>
                <a:latin typeface="Arial" pitchFamily="34" charset="0"/>
                <a:ea typeface="Arial" pitchFamily="34" charset="-122"/>
                <a:cs typeface="Arial" pitchFamily="34" charset="-120"/>
              </a:rPr>
              <a:t>Payer contracting leverage; IT infrastructure consolidation; G&amp;A rationalization; procurement savings; real estate optimization</a:t>
            </a:r>
            <a:endParaRPr lang="en-US" sz="900" dirty="0"/>
          </a:p>
        </p:txBody>
      </p:sp>
      <p:sp>
        <p:nvSpPr>
          <p:cNvPr id="14" name="Text 12"/>
          <p:cNvSpPr/>
          <p:nvPr/>
        </p:nvSpPr>
        <p:spPr>
          <a:xfrm>
            <a:off x="4724400" y="3531543"/>
            <a:ext cx="3962400" cy="891480"/>
          </a:xfrm>
          <a:prstGeom prst="roundRect">
            <a:avLst>
              <a:gd name="adj" fmla="val 4274"/>
            </a:avLst>
          </a:prstGeom>
          <a:solidFill>
            <a:srgbClr val="F5F7F9"/>
          </a:solidFill>
          <a:ln/>
        </p:spPr>
        <p:txBody>
          <a:bodyPr wrap="square" rtlCol="0" anchor="ctr"/>
          <a:lstStyle/>
          <a:p>
            <a:pPr marL="0" indent="0">
              <a:buNone/>
            </a:pPr>
            <a:endParaRPr lang="en-US" dirty="0"/>
          </a:p>
        </p:txBody>
      </p:sp>
      <p:sp>
        <p:nvSpPr>
          <p:cNvPr id="15" name="Shape 13"/>
          <p:cNvSpPr/>
          <p:nvPr/>
        </p:nvSpPr>
        <p:spPr>
          <a:xfrm>
            <a:off x="4743450" y="3531543"/>
            <a:ext cx="0" cy="891480"/>
          </a:xfrm>
          <a:prstGeom prst="line">
            <a:avLst/>
          </a:prstGeom>
          <a:noFill/>
          <a:ln w="38100">
            <a:solidFill>
              <a:srgbClr val="0B8599"/>
            </a:solidFill>
            <a:prstDash val="solid"/>
          </a:ln>
        </p:spPr>
        <p:txBody>
          <a:bodyPr/>
          <a:lstStyle/>
          <a:p>
            <a:endParaRPr lang="en-US"/>
          </a:p>
        </p:txBody>
      </p:sp>
      <p:sp>
        <p:nvSpPr>
          <p:cNvPr id="16" name="Text 14"/>
          <p:cNvSpPr/>
          <p:nvPr/>
        </p:nvSpPr>
        <p:spPr>
          <a:xfrm>
            <a:off x="4914900" y="3683943"/>
            <a:ext cx="3691890" cy="186630"/>
          </a:xfrm>
          <a:prstGeom prst="rect">
            <a:avLst/>
          </a:prstGeom>
          <a:noFill/>
          <a:ln/>
        </p:spPr>
        <p:txBody>
          <a:bodyPr wrap="square" lIns="0" tIns="0" rIns="0" bIns="0" rtlCol="0" anchor="t"/>
          <a:lstStyle/>
          <a:p>
            <a:pPr marL="0" indent="0" algn="l">
              <a:lnSpc>
                <a:spcPts val="1470"/>
              </a:lnSpc>
              <a:spcAft>
                <a:spcPts val="450"/>
              </a:spcAft>
              <a:buNone/>
            </a:pPr>
            <a:r>
              <a:rPr lang="en-US" sz="1050" b="1" dirty="0">
                <a:solidFill>
                  <a:srgbClr val="1C3A5C"/>
                </a:solidFill>
                <a:latin typeface="Arial" pitchFamily="34" charset="0"/>
                <a:ea typeface="Arial" pitchFamily="34" charset="-122"/>
                <a:cs typeface="Arial" pitchFamily="34" charset="-120"/>
              </a:rPr>
              <a:t>Medical Cost Reduction: $50-100M</a:t>
            </a:r>
            <a:endParaRPr lang="en-US" sz="1050" dirty="0"/>
          </a:p>
        </p:txBody>
      </p:sp>
      <p:sp>
        <p:nvSpPr>
          <p:cNvPr id="17" name="Text 15"/>
          <p:cNvSpPr/>
          <p:nvPr/>
        </p:nvSpPr>
        <p:spPr>
          <a:xfrm>
            <a:off x="4914900" y="3927723"/>
            <a:ext cx="3691890" cy="342900"/>
          </a:xfrm>
          <a:prstGeom prst="rect">
            <a:avLst/>
          </a:prstGeom>
          <a:noFill/>
          <a:ln/>
        </p:spPr>
        <p:txBody>
          <a:bodyPr wrap="square" lIns="0" tIns="0" rIns="0" bIns="0" rtlCol="0" anchor="t"/>
          <a:lstStyle/>
          <a:p>
            <a:pPr marL="0" indent="0" algn="l">
              <a:lnSpc>
                <a:spcPts val="1350"/>
              </a:lnSpc>
              <a:buNone/>
            </a:pPr>
            <a:r>
              <a:rPr lang="en-US" sz="900" dirty="0">
                <a:solidFill>
                  <a:srgbClr val="1A1A1A"/>
                </a:solidFill>
                <a:latin typeface="Arial" pitchFamily="34" charset="0"/>
                <a:ea typeface="Arial" pitchFamily="34" charset="-122"/>
                <a:cs typeface="Arial" pitchFamily="34" charset="-120"/>
              </a:rPr>
              <a:t>Enhanced care coordination; pharmacy benefits integration; predictive analytics deployment; SNF utilization reduction</a:t>
            </a:r>
            <a:endParaRPr lang="en-US" sz="900" dirty="0"/>
          </a:p>
        </p:txBody>
      </p:sp>
      <p:sp>
        <p:nvSpPr>
          <p:cNvPr id="18" name="Text 16"/>
          <p:cNvSpPr/>
          <p:nvPr/>
        </p:nvSpPr>
        <p:spPr>
          <a:xfrm>
            <a:off x="457202" y="4594473"/>
            <a:ext cx="8229598" cy="293191"/>
          </a:xfrm>
          <a:prstGeom prst="rect">
            <a:avLst/>
          </a:prstGeom>
          <a:noFill/>
          <a:ln/>
        </p:spPr>
        <p:txBody>
          <a:bodyPr wrap="square" lIns="0" tIns="0" rIns="0" bIns="0" rtlCol="0" anchor="t"/>
          <a:lstStyle/>
          <a:p>
            <a:pPr marL="0" indent="0" algn="l">
              <a:lnSpc>
                <a:spcPts val="1155"/>
              </a:lnSpc>
              <a:buNone/>
            </a:pPr>
            <a:r>
              <a:rPr lang="en-US" sz="825" i="1" dirty="0">
                <a:solidFill>
                  <a:srgbClr val="1A1A1A"/>
                </a:solidFill>
                <a:latin typeface="Arial" pitchFamily="34" charset="0"/>
                <a:ea typeface="Arial" pitchFamily="34" charset="-122"/>
                <a:cs typeface="Arial" pitchFamily="34" charset="-120"/>
              </a:rPr>
              <a:t>Synergy realization over 24-36 months; 75% confidence level. One-time integration costs of $75-125M.</a:t>
            </a:r>
            <a:endParaRPr lang="en-US" sz="825" dirty="0"/>
          </a:p>
        </p:txBody>
      </p:sp>
      <p:graphicFrame>
        <p:nvGraphicFramePr>
          <p:cNvPr id="19" name="Chart 0"/>
          <p:cNvGraphicFramePr/>
          <p:nvPr>
            <p:extLst>
              <p:ext uri="{D42A27DB-BD31-4B8C-83A1-F6EECF244321}">
                <p14:modId xmlns:p14="http://schemas.microsoft.com/office/powerpoint/2010/main" val="1873664059"/>
              </p:ext>
            </p:extLst>
          </p:nvPr>
        </p:nvGraphicFramePr>
        <p:xfrm>
          <a:off x="457201" y="1705034"/>
          <a:ext cx="3962400"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4">
            <a:extLst>
              <a:ext uri="{FF2B5EF4-FFF2-40B4-BE49-F238E27FC236}">
                <a16:creationId xmlns:a16="http://schemas.microsoft.com/office/drawing/2014/main" id="{D1C9A967-332C-4A9D-0BD6-D3785C0D393E}"/>
              </a:ext>
            </a:extLst>
          </p:cNvPr>
          <p:cNvSpPr/>
          <p:nvPr/>
        </p:nvSpPr>
        <p:spPr>
          <a:xfrm>
            <a:off x="457200" y="1516037"/>
            <a:ext cx="4041648" cy="205680"/>
          </a:xfrm>
          <a:prstGeom prst="rect">
            <a:avLst/>
          </a:prstGeom>
          <a:noFill/>
          <a:ln/>
        </p:spPr>
        <p:txBody>
          <a:bodyPr wrap="square" lIns="0" tIns="0" rIns="0" bIns="0" rtlCol="0" anchor="t"/>
          <a:lstStyle/>
          <a:p>
            <a:pPr marL="0" indent="0" algn="l">
              <a:lnSpc>
                <a:spcPts val="1350"/>
              </a:lnSpc>
              <a:spcBef>
                <a:spcPts val="900"/>
              </a:spcBef>
              <a:spcAft>
                <a:spcPts val="300"/>
              </a:spcAft>
              <a:buNone/>
            </a:pPr>
            <a:r>
              <a:rPr lang="en-US" sz="900" i="1" dirty="0">
                <a:solidFill>
                  <a:srgbClr val="1A1A1A"/>
                </a:solidFill>
                <a:latin typeface="Arial" pitchFamily="34" charset="0"/>
                <a:ea typeface="Arial" pitchFamily="34" charset="-122"/>
                <a:cs typeface="Arial" pitchFamily="34" charset="-120"/>
              </a:rPr>
              <a:t>Chart figures in USD millions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4323398"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Key Risks &amp; Mitigation Strategies</a:t>
            </a:r>
            <a:endParaRPr lang="en-US" sz="2100" dirty="0"/>
          </a:p>
        </p:txBody>
      </p:sp>
      <p:sp>
        <p:nvSpPr>
          <p:cNvPr id="4" name="Text 2"/>
          <p:cNvSpPr/>
          <p:nvPr/>
        </p:nvSpPr>
        <p:spPr>
          <a:xfrm>
            <a:off x="457200" y="1115467"/>
            <a:ext cx="4038600" cy="1434108"/>
          </a:xfrm>
          <a:prstGeom prst="roundRect">
            <a:avLst>
              <a:gd name="adj" fmla="val 2657"/>
            </a:avLst>
          </a:prstGeom>
          <a:solidFill>
            <a:srgbClr val="F5F7F9"/>
          </a:solidFill>
          <a:ln/>
        </p:spPr>
        <p:txBody>
          <a:bodyPr wrap="square" rtlCol="0" anchor="ctr"/>
          <a:lstStyle/>
          <a:p>
            <a:pPr marL="0" indent="0">
              <a:buNone/>
            </a:pPr>
            <a:endParaRPr lang="en-US" dirty="0"/>
          </a:p>
        </p:txBody>
      </p:sp>
      <p:sp>
        <p:nvSpPr>
          <p:cNvPr id="5" name="Shape 3"/>
          <p:cNvSpPr/>
          <p:nvPr/>
        </p:nvSpPr>
        <p:spPr>
          <a:xfrm>
            <a:off x="457200" y="1129754"/>
            <a:ext cx="4038600" cy="0"/>
          </a:xfrm>
          <a:prstGeom prst="line">
            <a:avLst/>
          </a:prstGeom>
          <a:noFill/>
          <a:ln w="28575">
            <a:solidFill>
              <a:srgbClr val="C54242"/>
            </a:solidFill>
            <a:prstDash val="solid"/>
          </a:ln>
        </p:spPr>
        <p:txBody>
          <a:bodyPr/>
          <a:lstStyle/>
          <a:p>
            <a:endParaRPr lang="en-US"/>
          </a:p>
        </p:txBody>
      </p:sp>
      <p:sp>
        <p:nvSpPr>
          <p:cNvPr id="6" name="Text 4"/>
          <p:cNvSpPr/>
          <p:nvPr/>
        </p:nvSpPr>
        <p:spPr>
          <a:xfrm>
            <a:off x="609600" y="1296442"/>
            <a:ext cx="3808476" cy="159990"/>
          </a:xfrm>
          <a:prstGeom prst="rect">
            <a:avLst/>
          </a:prstGeom>
          <a:noFill/>
          <a:ln/>
        </p:spPr>
        <p:txBody>
          <a:bodyPr wrap="square" lIns="0" tIns="0" rIns="0" bIns="0" rtlCol="0" anchor="t"/>
          <a:lstStyle/>
          <a:p>
            <a:pPr marL="0" indent="0" algn="l">
              <a:lnSpc>
                <a:spcPts val="1260"/>
              </a:lnSpc>
              <a:spcAft>
                <a:spcPts val="600"/>
              </a:spcAft>
              <a:buNone/>
            </a:pPr>
            <a:r>
              <a:rPr lang="en-US" sz="1050" b="1" dirty="0">
                <a:solidFill>
                  <a:srgbClr val="C54242"/>
                </a:solidFill>
                <a:latin typeface="Arial" pitchFamily="34" charset="0"/>
                <a:ea typeface="Arial" pitchFamily="34" charset="-122"/>
                <a:cs typeface="Arial" pitchFamily="34" charset="-120"/>
              </a:rPr>
              <a:t>Risk: MLR Volatility</a:t>
            </a:r>
            <a:endParaRPr lang="en-US" sz="1050" dirty="0"/>
          </a:p>
        </p:txBody>
      </p:sp>
      <p:sp>
        <p:nvSpPr>
          <p:cNvPr id="7" name="Text 5"/>
          <p:cNvSpPr/>
          <p:nvPr/>
        </p:nvSpPr>
        <p:spPr>
          <a:xfrm>
            <a:off x="609600" y="1532632"/>
            <a:ext cx="3808476" cy="31998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1A1A1A"/>
                </a:solidFill>
                <a:latin typeface="Arial" pitchFamily="34" charset="0"/>
                <a:ea typeface="Arial" pitchFamily="34" charset="-122"/>
                <a:cs typeface="Arial" pitchFamily="34" charset="-120"/>
              </a:rPr>
              <a:t>Utilization spikes or coding changes could pressure margins and delay profitability timeline.</a:t>
            </a:r>
            <a:endParaRPr lang="en-US" sz="900" dirty="0"/>
          </a:p>
        </p:txBody>
      </p:sp>
      <p:sp>
        <p:nvSpPr>
          <p:cNvPr id="8" name="Text 6"/>
          <p:cNvSpPr/>
          <p:nvPr/>
        </p:nvSpPr>
        <p:spPr>
          <a:xfrm>
            <a:off x="609600" y="1928813"/>
            <a:ext cx="3808476"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1C3A5C"/>
                </a:solidFill>
                <a:latin typeface="Arial" pitchFamily="34" charset="0"/>
                <a:ea typeface="Arial" pitchFamily="34" charset="-122"/>
                <a:cs typeface="Arial" pitchFamily="34" charset="-120"/>
              </a:rPr>
              <a:t>Mitigation:</a:t>
            </a:r>
            <a:endParaRPr lang="en-US" sz="825" dirty="0"/>
          </a:p>
        </p:txBody>
      </p:sp>
      <p:sp>
        <p:nvSpPr>
          <p:cNvPr id="9" name="Text 7"/>
          <p:cNvSpPr/>
          <p:nvPr/>
        </p:nvSpPr>
        <p:spPr>
          <a:xfrm>
            <a:off x="609600" y="2103983"/>
            <a:ext cx="3808476" cy="293191"/>
          </a:xfrm>
          <a:prstGeom prst="rect">
            <a:avLst/>
          </a:prstGeom>
          <a:noFill/>
          <a:ln/>
        </p:spPr>
        <p:txBody>
          <a:bodyPr wrap="square" lIns="0" tIns="0" rIns="0" bIns="0" rtlCol="0" anchor="t"/>
          <a:lstStyle/>
          <a:p>
            <a:pPr marL="0" indent="0" algn="l">
              <a:lnSpc>
                <a:spcPts val="1155"/>
              </a:lnSpc>
              <a:buNone/>
            </a:pPr>
            <a:r>
              <a:rPr lang="en-US" sz="825" dirty="0">
                <a:solidFill>
                  <a:srgbClr val="1A1A1A"/>
                </a:solidFill>
                <a:latin typeface="Arial" pitchFamily="34" charset="0"/>
                <a:ea typeface="Arial" pitchFamily="34" charset="-122"/>
                <a:cs typeface="Arial" pitchFamily="34" charset="-120"/>
              </a:rPr>
              <a:t>Conservative actuarial assumptions; enhanced care management protocols; real-time analytics deployment</a:t>
            </a:r>
            <a:endParaRPr lang="en-US" sz="825" dirty="0"/>
          </a:p>
        </p:txBody>
      </p:sp>
      <p:sp>
        <p:nvSpPr>
          <p:cNvPr id="10" name="Text 8"/>
          <p:cNvSpPr/>
          <p:nvPr/>
        </p:nvSpPr>
        <p:spPr>
          <a:xfrm>
            <a:off x="4648200" y="1115467"/>
            <a:ext cx="4038600" cy="1434108"/>
          </a:xfrm>
          <a:prstGeom prst="roundRect">
            <a:avLst>
              <a:gd name="adj" fmla="val 2657"/>
            </a:avLst>
          </a:prstGeom>
          <a:solidFill>
            <a:srgbClr val="F5F7F9"/>
          </a:solidFill>
          <a:ln/>
        </p:spPr>
        <p:txBody>
          <a:bodyPr wrap="square" rtlCol="0" anchor="ctr"/>
          <a:lstStyle/>
          <a:p>
            <a:pPr marL="0" indent="0">
              <a:buNone/>
            </a:pPr>
            <a:endParaRPr lang="en-US" dirty="0"/>
          </a:p>
        </p:txBody>
      </p:sp>
      <p:sp>
        <p:nvSpPr>
          <p:cNvPr id="11" name="Shape 9"/>
          <p:cNvSpPr/>
          <p:nvPr/>
        </p:nvSpPr>
        <p:spPr>
          <a:xfrm>
            <a:off x="4648200" y="1129754"/>
            <a:ext cx="4038600" cy="0"/>
          </a:xfrm>
          <a:prstGeom prst="line">
            <a:avLst/>
          </a:prstGeom>
          <a:noFill/>
          <a:ln w="28575">
            <a:solidFill>
              <a:srgbClr val="C54242"/>
            </a:solidFill>
            <a:prstDash val="solid"/>
          </a:ln>
        </p:spPr>
        <p:txBody>
          <a:bodyPr/>
          <a:lstStyle/>
          <a:p>
            <a:endParaRPr lang="en-US"/>
          </a:p>
        </p:txBody>
      </p:sp>
      <p:sp>
        <p:nvSpPr>
          <p:cNvPr id="12" name="Text 10"/>
          <p:cNvSpPr/>
          <p:nvPr/>
        </p:nvSpPr>
        <p:spPr>
          <a:xfrm>
            <a:off x="4800600" y="1296442"/>
            <a:ext cx="3808476" cy="159990"/>
          </a:xfrm>
          <a:prstGeom prst="rect">
            <a:avLst/>
          </a:prstGeom>
          <a:noFill/>
          <a:ln/>
        </p:spPr>
        <p:txBody>
          <a:bodyPr wrap="square" lIns="0" tIns="0" rIns="0" bIns="0" rtlCol="0" anchor="t"/>
          <a:lstStyle/>
          <a:p>
            <a:pPr marL="0" indent="0" algn="l">
              <a:lnSpc>
                <a:spcPts val="1260"/>
              </a:lnSpc>
              <a:spcAft>
                <a:spcPts val="600"/>
              </a:spcAft>
              <a:buNone/>
            </a:pPr>
            <a:r>
              <a:rPr lang="en-US" sz="1050" b="1" dirty="0">
                <a:solidFill>
                  <a:srgbClr val="C54242"/>
                </a:solidFill>
                <a:latin typeface="Arial" pitchFamily="34" charset="0"/>
                <a:ea typeface="Arial" pitchFamily="34" charset="-122"/>
                <a:cs typeface="Arial" pitchFamily="34" charset="-120"/>
              </a:rPr>
              <a:t>Risk: Regulatory Scrutiny</a:t>
            </a:r>
            <a:endParaRPr lang="en-US" sz="1050" dirty="0"/>
          </a:p>
        </p:txBody>
      </p:sp>
      <p:sp>
        <p:nvSpPr>
          <p:cNvPr id="13" name="Text 11"/>
          <p:cNvSpPr/>
          <p:nvPr/>
        </p:nvSpPr>
        <p:spPr>
          <a:xfrm>
            <a:off x="4800600" y="1532632"/>
            <a:ext cx="3808476" cy="31998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1A1A1A"/>
                </a:solidFill>
                <a:latin typeface="Arial" pitchFamily="34" charset="0"/>
                <a:ea typeface="Arial" pitchFamily="34" charset="-122"/>
                <a:cs typeface="Arial" pitchFamily="34" charset="-120"/>
              </a:rPr>
              <a:t>Increased CMS oversight of MA plans and value-based arrangements could impact reimbursement.</a:t>
            </a:r>
            <a:endParaRPr lang="en-US" sz="900" dirty="0"/>
          </a:p>
        </p:txBody>
      </p:sp>
      <p:sp>
        <p:nvSpPr>
          <p:cNvPr id="14" name="Text 12"/>
          <p:cNvSpPr/>
          <p:nvPr/>
        </p:nvSpPr>
        <p:spPr>
          <a:xfrm>
            <a:off x="4800600" y="1928813"/>
            <a:ext cx="3808476"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1C3A5C"/>
                </a:solidFill>
                <a:latin typeface="Arial" pitchFamily="34" charset="0"/>
                <a:ea typeface="Arial" pitchFamily="34" charset="-122"/>
                <a:cs typeface="Arial" pitchFamily="34" charset="-120"/>
              </a:rPr>
              <a:t>Mitigation:</a:t>
            </a:r>
            <a:endParaRPr lang="en-US" sz="825" dirty="0"/>
          </a:p>
        </p:txBody>
      </p:sp>
      <p:sp>
        <p:nvSpPr>
          <p:cNvPr id="15" name="Text 13"/>
          <p:cNvSpPr/>
          <p:nvPr/>
        </p:nvSpPr>
        <p:spPr>
          <a:xfrm>
            <a:off x="4800600" y="2103983"/>
            <a:ext cx="3808476" cy="293191"/>
          </a:xfrm>
          <a:prstGeom prst="rect">
            <a:avLst/>
          </a:prstGeom>
          <a:noFill/>
          <a:ln/>
        </p:spPr>
        <p:txBody>
          <a:bodyPr wrap="square" lIns="0" tIns="0" rIns="0" bIns="0" rtlCol="0" anchor="t"/>
          <a:lstStyle/>
          <a:p>
            <a:pPr marL="0" indent="0" algn="l">
              <a:lnSpc>
                <a:spcPts val="1155"/>
              </a:lnSpc>
              <a:buNone/>
            </a:pPr>
            <a:r>
              <a:rPr lang="en-US" sz="825" dirty="0">
                <a:solidFill>
                  <a:srgbClr val="1A1A1A"/>
                </a:solidFill>
                <a:latin typeface="Arial" pitchFamily="34" charset="0"/>
                <a:ea typeface="Arial" pitchFamily="34" charset="-122"/>
                <a:cs typeface="Arial" pitchFamily="34" charset="-120"/>
              </a:rPr>
              <a:t>Proactive compliance monitoring; dedicated regulatory affairs team; transparent quality reporting</a:t>
            </a:r>
            <a:endParaRPr lang="en-US" sz="825" dirty="0"/>
          </a:p>
        </p:txBody>
      </p:sp>
      <p:sp>
        <p:nvSpPr>
          <p:cNvPr id="16" name="Text 14"/>
          <p:cNvSpPr/>
          <p:nvPr/>
        </p:nvSpPr>
        <p:spPr>
          <a:xfrm>
            <a:off x="457200" y="2701975"/>
            <a:ext cx="4038600" cy="1434108"/>
          </a:xfrm>
          <a:prstGeom prst="roundRect">
            <a:avLst>
              <a:gd name="adj" fmla="val 2657"/>
            </a:avLst>
          </a:prstGeom>
          <a:solidFill>
            <a:srgbClr val="F5F7F9"/>
          </a:solidFill>
          <a:ln/>
        </p:spPr>
        <p:txBody>
          <a:bodyPr wrap="square" rtlCol="0" anchor="ctr"/>
          <a:lstStyle/>
          <a:p>
            <a:pPr marL="0" indent="0">
              <a:buNone/>
            </a:pPr>
            <a:endParaRPr lang="en-US" dirty="0"/>
          </a:p>
        </p:txBody>
      </p:sp>
      <p:sp>
        <p:nvSpPr>
          <p:cNvPr id="17" name="Shape 15"/>
          <p:cNvSpPr/>
          <p:nvPr/>
        </p:nvSpPr>
        <p:spPr>
          <a:xfrm>
            <a:off x="457200" y="2716262"/>
            <a:ext cx="4038600" cy="0"/>
          </a:xfrm>
          <a:prstGeom prst="line">
            <a:avLst/>
          </a:prstGeom>
          <a:noFill/>
          <a:ln w="28575">
            <a:solidFill>
              <a:srgbClr val="C54242"/>
            </a:solidFill>
            <a:prstDash val="solid"/>
          </a:ln>
        </p:spPr>
        <p:txBody>
          <a:bodyPr/>
          <a:lstStyle/>
          <a:p>
            <a:endParaRPr lang="en-US"/>
          </a:p>
        </p:txBody>
      </p:sp>
      <p:sp>
        <p:nvSpPr>
          <p:cNvPr id="18" name="Text 16"/>
          <p:cNvSpPr/>
          <p:nvPr/>
        </p:nvSpPr>
        <p:spPr>
          <a:xfrm>
            <a:off x="609600" y="2882950"/>
            <a:ext cx="3808476" cy="159990"/>
          </a:xfrm>
          <a:prstGeom prst="rect">
            <a:avLst/>
          </a:prstGeom>
          <a:noFill/>
          <a:ln/>
        </p:spPr>
        <p:txBody>
          <a:bodyPr wrap="square" lIns="0" tIns="0" rIns="0" bIns="0" rtlCol="0" anchor="t"/>
          <a:lstStyle/>
          <a:p>
            <a:pPr marL="0" indent="0" algn="l">
              <a:lnSpc>
                <a:spcPts val="1260"/>
              </a:lnSpc>
              <a:spcAft>
                <a:spcPts val="600"/>
              </a:spcAft>
              <a:buNone/>
            </a:pPr>
            <a:r>
              <a:rPr lang="en-US" sz="1050" b="1" dirty="0">
                <a:solidFill>
                  <a:srgbClr val="C54242"/>
                </a:solidFill>
                <a:latin typeface="Arial" pitchFamily="34" charset="0"/>
                <a:ea typeface="Arial" pitchFamily="34" charset="-122"/>
                <a:cs typeface="Arial" pitchFamily="34" charset="-120"/>
              </a:rPr>
              <a:t>Risk: Provider Retention</a:t>
            </a:r>
            <a:endParaRPr lang="en-US" sz="1050" dirty="0"/>
          </a:p>
        </p:txBody>
      </p:sp>
      <p:sp>
        <p:nvSpPr>
          <p:cNvPr id="19" name="Text 17"/>
          <p:cNvSpPr/>
          <p:nvPr/>
        </p:nvSpPr>
        <p:spPr>
          <a:xfrm>
            <a:off x="609600" y="3119140"/>
            <a:ext cx="3808476" cy="31998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1A1A1A"/>
                </a:solidFill>
                <a:latin typeface="Arial" pitchFamily="34" charset="0"/>
                <a:ea typeface="Arial" pitchFamily="34" charset="-122"/>
                <a:cs typeface="Arial" pitchFamily="34" charset="-120"/>
              </a:rPr>
              <a:t>Physician turnover could disrupt patient relationships and slow expansion plans.</a:t>
            </a:r>
            <a:endParaRPr lang="en-US" sz="900" dirty="0"/>
          </a:p>
        </p:txBody>
      </p:sp>
      <p:sp>
        <p:nvSpPr>
          <p:cNvPr id="20" name="Text 18"/>
          <p:cNvSpPr/>
          <p:nvPr/>
        </p:nvSpPr>
        <p:spPr>
          <a:xfrm>
            <a:off x="609600" y="3515320"/>
            <a:ext cx="3808476"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1C3A5C"/>
                </a:solidFill>
                <a:latin typeface="Arial" pitchFamily="34" charset="0"/>
                <a:ea typeface="Arial" pitchFamily="34" charset="-122"/>
                <a:cs typeface="Arial" pitchFamily="34" charset="-120"/>
              </a:rPr>
              <a:t>Mitigation:</a:t>
            </a:r>
            <a:endParaRPr lang="en-US" sz="825" dirty="0"/>
          </a:p>
        </p:txBody>
      </p:sp>
      <p:sp>
        <p:nvSpPr>
          <p:cNvPr id="21" name="Text 19"/>
          <p:cNvSpPr/>
          <p:nvPr/>
        </p:nvSpPr>
        <p:spPr>
          <a:xfrm>
            <a:off x="609600" y="3690491"/>
            <a:ext cx="3808476" cy="293191"/>
          </a:xfrm>
          <a:prstGeom prst="rect">
            <a:avLst/>
          </a:prstGeom>
          <a:noFill/>
          <a:ln/>
        </p:spPr>
        <p:txBody>
          <a:bodyPr wrap="square" lIns="0" tIns="0" rIns="0" bIns="0" rtlCol="0" anchor="t"/>
          <a:lstStyle/>
          <a:p>
            <a:pPr marL="0" indent="0" algn="l">
              <a:lnSpc>
                <a:spcPts val="1155"/>
              </a:lnSpc>
              <a:buNone/>
            </a:pPr>
            <a:r>
              <a:rPr lang="en-US" sz="825" dirty="0">
                <a:solidFill>
                  <a:srgbClr val="1A1A1A"/>
                </a:solidFill>
                <a:latin typeface="Arial" pitchFamily="34" charset="0"/>
                <a:ea typeface="Arial" pitchFamily="34" charset="-122"/>
                <a:cs typeface="Arial" pitchFamily="34" charset="-120"/>
              </a:rPr>
              <a:t>Retention bonuses for 250+ key providers; competitive comp packages; clinical autonomy preservation</a:t>
            </a:r>
            <a:endParaRPr lang="en-US" sz="825" dirty="0"/>
          </a:p>
        </p:txBody>
      </p:sp>
      <p:sp>
        <p:nvSpPr>
          <p:cNvPr id="22" name="Text 20"/>
          <p:cNvSpPr/>
          <p:nvPr/>
        </p:nvSpPr>
        <p:spPr>
          <a:xfrm>
            <a:off x="4648200" y="2701975"/>
            <a:ext cx="4038600" cy="1434108"/>
          </a:xfrm>
          <a:prstGeom prst="roundRect">
            <a:avLst>
              <a:gd name="adj" fmla="val 2657"/>
            </a:avLst>
          </a:prstGeom>
          <a:solidFill>
            <a:srgbClr val="F5F7F9"/>
          </a:solidFill>
          <a:ln/>
        </p:spPr>
        <p:txBody>
          <a:bodyPr wrap="square" rtlCol="0" anchor="ctr"/>
          <a:lstStyle/>
          <a:p>
            <a:pPr marL="0" indent="0">
              <a:buNone/>
            </a:pPr>
            <a:endParaRPr lang="en-US" dirty="0"/>
          </a:p>
        </p:txBody>
      </p:sp>
      <p:sp>
        <p:nvSpPr>
          <p:cNvPr id="23" name="Shape 21"/>
          <p:cNvSpPr/>
          <p:nvPr/>
        </p:nvSpPr>
        <p:spPr>
          <a:xfrm>
            <a:off x="4648200" y="2716262"/>
            <a:ext cx="4038600" cy="0"/>
          </a:xfrm>
          <a:prstGeom prst="line">
            <a:avLst/>
          </a:prstGeom>
          <a:noFill/>
          <a:ln w="28575">
            <a:solidFill>
              <a:srgbClr val="C54242"/>
            </a:solidFill>
            <a:prstDash val="solid"/>
          </a:ln>
        </p:spPr>
        <p:txBody>
          <a:bodyPr/>
          <a:lstStyle/>
          <a:p>
            <a:endParaRPr lang="en-US"/>
          </a:p>
        </p:txBody>
      </p:sp>
      <p:sp>
        <p:nvSpPr>
          <p:cNvPr id="24" name="Text 22"/>
          <p:cNvSpPr/>
          <p:nvPr/>
        </p:nvSpPr>
        <p:spPr>
          <a:xfrm>
            <a:off x="4800600" y="2882950"/>
            <a:ext cx="3808476" cy="159990"/>
          </a:xfrm>
          <a:prstGeom prst="rect">
            <a:avLst/>
          </a:prstGeom>
          <a:noFill/>
          <a:ln/>
        </p:spPr>
        <p:txBody>
          <a:bodyPr wrap="square" lIns="0" tIns="0" rIns="0" bIns="0" rtlCol="0" anchor="t"/>
          <a:lstStyle/>
          <a:p>
            <a:pPr marL="0" indent="0" algn="l">
              <a:lnSpc>
                <a:spcPts val="1260"/>
              </a:lnSpc>
              <a:spcAft>
                <a:spcPts val="600"/>
              </a:spcAft>
              <a:buNone/>
            </a:pPr>
            <a:r>
              <a:rPr lang="en-US" sz="1050" b="1" dirty="0">
                <a:solidFill>
                  <a:srgbClr val="C54242"/>
                </a:solidFill>
                <a:latin typeface="Arial" pitchFamily="34" charset="0"/>
                <a:ea typeface="Arial" pitchFamily="34" charset="-122"/>
                <a:cs typeface="Arial" pitchFamily="34" charset="-120"/>
              </a:rPr>
              <a:t>Risk: Integration Execution</a:t>
            </a:r>
            <a:endParaRPr lang="en-US" sz="1050" dirty="0"/>
          </a:p>
        </p:txBody>
      </p:sp>
      <p:sp>
        <p:nvSpPr>
          <p:cNvPr id="25" name="Text 23"/>
          <p:cNvSpPr/>
          <p:nvPr/>
        </p:nvSpPr>
        <p:spPr>
          <a:xfrm>
            <a:off x="4800600" y="3119140"/>
            <a:ext cx="3808476" cy="319980"/>
          </a:xfrm>
          <a:prstGeom prst="rect">
            <a:avLst/>
          </a:prstGeom>
          <a:noFill/>
          <a:ln/>
        </p:spPr>
        <p:txBody>
          <a:bodyPr wrap="square" lIns="0" tIns="0" rIns="0" bIns="0" rtlCol="0" anchor="t"/>
          <a:lstStyle/>
          <a:p>
            <a:pPr marL="0" indent="0" algn="l">
              <a:lnSpc>
                <a:spcPts val="1260"/>
              </a:lnSpc>
              <a:spcAft>
                <a:spcPts val="600"/>
              </a:spcAft>
              <a:buNone/>
            </a:pPr>
            <a:r>
              <a:rPr lang="en-US" sz="900" dirty="0">
                <a:solidFill>
                  <a:srgbClr val="1A1A1A"/>
                </a:solidFill>
                <a:latin typeface="Arial" pitchFamily="34" charset="0"/>
                <a:ea typeface="Arial" pitchFamily="34" charset="-122"/>
                <a:cs typeface="Arial" pitchFamily="34" charset="-120"/>
              </a:rPr>
              <a:t>Complex IT and operational integration could distract management and delay synergy capture.</a:t>
            </a:r>
            <a:endParaRPr lang="en-US" sz="900" dirty="0"/>
          </a:p>
        </p:txBody>
      </p:sp>
      <p:sp>
        <p:nvSpPr>
          <p:cNvPr id="26" name="Text 24"/>
          <p:cNvSpPr/>
          <p:nvPr/>
        </p:nvSpPr>
        <p:spPr>
          <a:xfrm>
            <a:off x="4800600" y="3515320"/>
            <a:ext cx="3808476"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1C3A5C"/>
                </a:solidFill>
                <a:latin typeface="Arial" pitchFamily="34" charset="0"/>
                <a:ea typeface="Arial" pitchFamily="34" charset="-122"/>
                <a:cs typeface="Arial" pitchFamily="34" charset="-120"/>
              </a:rPr>
              <a:t>Mitigation:</a:t>
            </a:r>
            <a:endParaRPr lang="en-US" sz="825" dirty="0"/>
          </a:p>
        </p:txBody>
      </p:sp>
      <p:sp>
        <p:nvSpPr>
          <p:cNvPr id="27" name="Text 25"/>
          <p:cNvSpPr/>
          <p:nvPr/>
        </p:nvSpPr>
        <p:spPr>
          <a:xfrm>
            <a:off x="4800600" y="3690491"/>
            <a:ext cx="3808476" cy="293191"/>
          </a:xfrm>
          <a:prstGeom prst="rect">
            <a:avLst/>
          </a:prstGeom>
          <a:noFill/>
          <a:ln/>
        </p:spPr>
        <p:txBody>
          <a:bodyPr wrap="square" lIns="0" tIns="0" rIns="0" bIns="0" rtlCol="0" anchor="t"/>
          <a:lstStyle/>
          <a:p>
            <a:pPr marL="0" indent="0" algn="l">
              <a:lnSpc>
                <a:spcPts val="1155"/>
              </a:lnSpc>
              <a:buNone/>
            </a:pPr>
            <a:r>
              <a:rPr lang="en-US" sz="825" dirty="0">
                <a:solidFill>
                  <a:srgbClr val="1A1A1A"/>
                </a:solidFill>
                <a:latin typeface="Arial" pitchFamily="34" charset="0"/>
                <a:ea typeface="Arial" pitchFamily="34" charset="-122"/>
                <a:cs typeface="Arial" pitchFamily="34" charset="-120"/>
              </a:rPr>
              <a:t>Dedicated IMO with clear governance; phased migration approach; external integration consultants</a:t>
            </a:r>
            <a:endParaRPr lang="en-US" sz="825" dirty="0"/>
          </a:p>
        </p:txBody>
      </p:sp>
      <p:sp>
        <p:nvSpPr>
          <p:cNvPr id="28" name="Text 26"/>
          <p:cNvSpPr/>
          <p:nvPr/>
        </p:nvSpPr>
        <p:spPr>
          <a:xfrm>
            <a:off x="457200" y="4288482"/>
            <a:ext cx="8229600" cy="388590"/>
          </a:xfrm>
          <a:prstGeom prst="roundRect">
            <a:avLst>
              <a:gd name="adj" fmla="val 9805"/>
            </a:avLst>
          </a:prstGeom>
          <a:solidFill>
            <a:srgbClr val="0B8599"/>
          </a:solidFill>
          <a:ln/>
        </p:spPr>
        <p:txBody>
          <a:bodyPr wrap="square" rtlCol="0" anchor="ctr"/>
          <a:lstStyle/>
          <a:p>
            <a:pPr marL="0" indent="0">
              <a:buNone/>
            </a:pPr>
            <a:endParaRPr lang="en-US" dirty="0"/>
          </a:p>
        </p:txBody>
      </p:sp>
      <p:sp>
        <p:nvSpPr>
          <p:cNvPr id="29" name="Text 27"/>
          <p:cNvSpPr/>
          <p:nvPr/>
        </p:nvSpPr>
        <p:spPr>
          <a:xfrm>
            <a:off x="569214" y="4402782"/>
            <a:ext cx="8005572" cy="159990"/>
          </a:xfrm>
          <a:prstGeom prst="rect">
            <a:avLst/>
          </a:prstGeom>
          <a:noFill/>
          <a:ln/>
        </p:spPr>
        <p:txBody>
          <a:bodyPr wrap="square" lIns="0" tIns="0" rIns="0" bIns="0" rtlCol="0" anchor="t"/>
          <a:lstStyle/>
          <a:p>
            <a:pPr marL="0" indent="0" algn="ctr">
              <a:lnSpc>
                <a:spcPts val="1260"/>
              </a:lnSpc>
              <a:buNone/>
            </a:pPr>
            <a:r>
              <a:rPr lang="en-US" sz="900" dirty="0">
                <a:solidFill>
                  <a:srgbClr val="FFFFFF"/>
                </a:solidFill>
                <a:latin typeface="Arial" pitchFamily="34" charset="0"/>
                <a:ea typeface="Arial" pitchFamily="34" charset="-122"/>
                <a:cs typeface="Arial" pitchFamily="34" charset="-120"/>
              </a:rPr>
              <a:t>Risk management framework established with monthly Board reporting and quarterly risk reviews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4206812"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Integration Roadmap</a:t>
            </a:r>
            <a:endParaRPr lang="en-US" sz="2100" dirty="0"/>
          </a:p>
        </p:txBody>
      </p:sp>
      <p:sp>
        <p:nvSpPr>
          <p:cNvPr id="4" name="Text 2"/>
          <p:cNvSpPr/>
          <p:nvPr/>
        </p:nvSpPr>
        <p:spPr>
          <a:xfrm>
            <a:off x="457200" y="1117869"/>
            <a:ext cx="2540050" cy="2104525"/>
          </a:xfrm>
          <a:prstGeom prst="roundRect">
            <a:avLst>
              <a:gd name="adj" fmla="val 1852"/>
            </a:avLst>
          </a:prstGeom>
          <a:solidFill>
            <a:srgbClr val="F5F7F9"/>
          </a:solidFill>
          <a:ln/>
        </p:spPr>
        <p:txBody>
          <a:bodyPr wrap="square" rtlCol="0" anchor="ctr"/>
          <a:lstStyle/>
          <a:p>
            <a:pPr marL="0" indent="0">
              <a:buNone/>
            </a:pPr>
            <a:endParaRPr lang="en-US" dirty="0"/>
          </a:p>
        </p:txBody>
      </p:sp>
      <p:sp>
        <p:nvSpPr>
          <p:cNvPr id="5" name="Shape 3"/>
          <p:cNvSpPr/>
          <p:nvPr/>
        </p:nvSpPr>
        <p:spPr>
          <a:xfrm>
            <a:off x="457200" y="1136920"/>
            <a:ext cx="2540050" cy="0"/>
          </a:xfrm>
          <a:prstGeom prst="line">
            <a:avLst/>
          </a:prstGeom>
          <a:noFill/>
          <a:ln w="38100">
            <a:solidFill>
              <a:srgbClr val="0B8599"/>
            </a:solidFill>
            <a:prstDash val="solid"/>
          </a:ln>
        </p:spPr>
        <p:txBody>
          <a:bodyPr/>
          <a:lstStyle/>
          <a:p>
            <a:endParaRPr lang="en-US"/>
          </a:p>
        </p:txBody>
      </p:sp>
      <p:sp>
        <p:nvSpPr>
          <p:cNvPr id="6" name="Text 4"/>
          <p:cNvSpPr/>
          <p:nvPr/>
        </p:nvSpPr>
        <p:spPr>
          <a:xfrm>
            <a:off x="609600" y="1303834"/>
            <a:ext cx="2279955" cy="171450"/>
          </a:xfrm>
          <a:prstGeom prst="rect">
            <a:avLst/>
          </a:prstGeom>
          <a:noFill/>
          <a:ln/>
        </p:spPr>
        <p:txBody>
          <a:bodyPr wrap="square" lIns="0" tIns="0" rIns="0" bIns="0" rtlCol="0" anchor="t"/>
          <a:lstStyle/>
          <a:p>
            <a:pPr marL="0" indent="0" algn="l">
              <a:lnSpc>
                <a:spcPts val="1350"/>
              </a:lnSpc>
              <a:spcAft>
                <a:spcPts val="750"/>
              </a:spcAft>
              <a:buNone/>
            </a:pPr>
            <a:r>
              <a:rPr lang="en-US" sz="1125" b="1" dirty="0">
                <a:solidFill>
                  <a:srgbClr val="1C3A5C"/>
                </a:solidFill>
                <a:latin typeface="Arial" pitchFamily="34" charset="0"/>
                <a:ea typeface="Arial" pitchFamily="34" charset="-122"/>
                <a:cs typeface="Arial" pitchFamily="34" charset="-120"/>
              </a:rPr>
              <a:t>Day 1 (April 2026)</a:t>
            </a:r>
            <a:endParaRPr lang="en-US" sz="1125" dirty="0"/>
          </a:p>
        </p:txBody>
      </p:sp>
      <p:sp>
        <p:nvSpPr>
          <p:cNvPr id="7" name="Text 5"/>
          <p:cNvSpPr/>
          <p:nvPr/>
        </p:nvSpPr>
        <p:spPr>
          <a:xfrm>
            <a:off x="609600" y="1570534"/>
            <a:ext cx="2235250" cy="1447800"/>
          </a:xfrm>
          <a:prstGeom prst="rect">
            <a:avLst/>
          </a:prstGeom>
          <a:noFill/>
          <a:ln/>
        </p:spPr>
        <p:txBody>
          <a:bodyPr wrap="square" lIns="85725" tIns="0" rIns="0" bIns="0" rtlCol="0" anchor="t"/>
          <a:lstStyle/>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Legal close; funding released</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Employee communications</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Brand transition begins</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IMO operational launch</a:t>
            </a:r>
            <a:endParaRPr lang="en-US" sz="1350" dirty="0"/>
          </a:p>
        </p:txBody>
      </p:sp>
      <p:sp>
        <p:nvSpPr>
          <p:cNvPr id="8" name="Text 6"/>
          <p:cNvSpPr/>
          <p:nvPr/>
        </p:nvSpPr>
        <p:spPr>
          <a:xfrm>
            <a:off x="3302050" y="1115467"/>
            <a:ext cx="2540050" cy="2106703"/>
          </a:xfrm>
          <a:prstGeom prst="roundRect">
            <a:avLst>
              <a:gd name="adj" fmla="val 1639"/>
            </a:avLst>
          </a:prstGeom>
          <a:solidFill>
            <a:srgbClr val="F5F7F9"/>
          </a:solidFill>
          <a:ln/>
        </p:spPr>
        <p:txBody>
          <a:bodyPr wrap="square" rtlCol="0" anchor="ctr"/>
          <a:lstStyle/>
          <a:p>
            <a:pPr marL="0" indent="0">
              <a:buNone/>
            </a:pPr>
            <a:endParaRPr lang="en-US" dirty="0"/>
          </a:p>
        </p:txBody>
      </p:sp>
      <p:sp>
        <p:nvSpPr>
          <p:cNvPr id="9" name="Shape 7"/>
          <p:cNvSpPr/>
          <p:nvPr/>
        </p:nvSpPr>
        <p:spPr>
          <a:xfrm>
            <a:off x="3302050" y="1134517"/>
            <a:ext cx="2540050" cy="0"/>
          </a:xfrm>
          <a:prstGeom prst="line">
            <a:avLst/>
          </a:prstGeom>
          <a:noFill/>
          <a:ln w="38100">
            <a:solidFill>
              <a:srgbClr val="0B8599"/>
            </a:solidFill>
            <a:prstDash val="solid"/>
          </a:ln>
        </p:spPr>
        <p:txBody>
          <a:bodyPr/>
          <a:lstStyle/>
          <a:p>
            <a:endParaRPr lang="en-US"/>
          </a:p>
        </p:txBody>
      </p:sp>
      <p:sp>
        <p:nvSpPr>
          <p:cNvPr id="10" name="Text 8"/>
          <p:cNvSpPr/>
          <p:nvPr/>
        </p:nvSpPr>
        <p:spPr>
          <a:xfrm>
            <a:off x="3454450" y="1305967"/>
            <a:ext cx="2279955" cy="171450"/>
          </a:xfrm>
          <a:prstGeom prst="rect">
            <a:avLst/>
          </a:prstGeom>
          <a:noFill/>
          <a:ln/>
        </p:spPr>
        <p:txBody>
          <a:bodyPr wrap="square" lIns="0" tIns="0" rIns="0" bIns="0" rtlCol="0" anchor="t"/>
          <a:lstStyle/>
          <a:p>
            <a:pPr marL="0" indent="0" algn="l">
              <a:lnSpc>
                <a:spcPts val="1350"/>
              </a:lnSpc>
              <a:spcAft>
                <a:spcPts val="750"/>
              </a:spcAft>
              <a:buNone/>
            </a:pPr>
            <a:r>
              <a:rPr lang="en-US" sz="1125" b="1" dirty="0">
                <a:solidFill>
                  <a:srgbClr val="1C3A5C"/>
                </a:solidFill>
                <a:latin typeface="Arial" pitchFamily="34" charset="0"/>
                <a:ea typeface="Arial" pitchFamily="34" charset="-122"/>
                <a:cs typeface="Arial" pitchFamily="34" charset="-120"/>
              </a:rPr>
              <a:t>Months 1-6</a:t>
            </a:r>
            <a:endParaRPr lang="en-US" sz="1125" dirty="0"/>
          </a:p>
        </p:txBody>
      </p:sp>
      <p:sp>
        <p:nvSpPr>
          <p:cNvPr id="11" name="Text 9"/>
          <p:cNvSpPr/>
          <p:nvPr/>
        </p:nvSpPr>
        <p:spPr>
          <a:xfrm>
            <a:off x="3454375" y="1570265"/>
            <a:ext cx="2235250" cy="1714500"/>
          </a:xfrm>
          <a:prstGeom prst="rect">
            <a:avLst/>
          </a:prstGeom>
          <a:noFill/>
          <a:ln/>
        </p:spPr>
        <p:txBody>
          <a:bodyPr wrap="square" lIns="85725" tIns="0" rIns="0" bIns="0" rtlCol="0" anchor="t"/>
          <a:lstStyle/>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Clinical protocols alignment</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IT systems assessment</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Procurement consolidation</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Quick-win synergies captured</a:t>
            </a:r>
            <a:endParaRPr lang="en-US" sz="1350" dirty="0"/>
          </a:p>
        </p:txBody>
      </p:sp>
      <p:sp>
        <p:nvSpPr>
          <p:cNvPr id="12" name="Text 10"/>
          <p:cNvSpPr/>
          <p:nvPr/>
        </p:nvSpPr>
        <p:spPr>
          <a:xfrm>
            <a:off x="6146899" y="1115467"/>
            <a:ext cx="2540050" cy="2106703"/>
          </a:xfrm>
          <a:prstGeom prst="roundRect">
            <a:avLst>
              <a:gd name="adj" fmla="val 1639"/>
            </a:avLst>
          </a:prstGeom>
          <a:solidFill>
            <a:srgbClr val="F5F7F9"/>
          </a:solidFill>
          <a:ln/>
        </p:spPr>
        <p:txBody>
          <a:bodyPr wrap="square" rtlCol="0" anchor="ctr"/>
          <a:lstStyle/>
          <a:p>
            <a:pPr marL="0" indent="0">
              <a:buNone/>
            </a:pPr>
            <a:endParaRPr lang="en-US" dirty="0"/>
          </a:p>
        </p:txBody>
      </p:sp>
      <p:sp>
        <p:nvSpPr>
          <p:cNvPr id="13" name="Shape 11"/>
          <p:cNvSpPr/>
          <p:nvPr/>
        </p:nvSpPr>
        <p:spPr>
          <a:xfrm>
            <a:off x="6146899" y="1134517"/>
            <a:ext cx="2540050" cy="0"/>
          </a:xfrm>
          <a:prstGeom prst="line">
            <a:avLst/>
          </a:prstGeom>
          <a:noFill/>
          <a:ln w="38100">
            <a:solidFill>
              <a:srgbClr val="0B8599"/>
            </a:solidFill>
            <a:prstDash val="solid"/>
          </a:ln>
        </p:spPr>
        <p:txBody>
          <a:bodyPr/>
          <a:lstStyle/>
          <a:p>
            <a:endParaRPr lang="en-US"/>
          </a:p>
        </p:txBody>
      </p:sp>
      <p:sp>
        <p:nvSpPr>
          <p:cNvPr id="14" name="Text 12"/>
          <p:cNvSpPr/>
          <p:nvPr/>
        </p:nvSpPr>
        <p:spPr>
          <a:xfrm>
            <a:off x="6299299" y="1305967"/>
            <a:ext cx="2279955" cy="171450"/>
          </a:xfrm>
          <a:prstGeom prst="rect">
            <a:avLst/>
          </a:prstGeom>
          <a:noFill/>
          <a:ln/>
        </p:spPr>
        <p:txBody>
          <a:bodyPr wrap="square" lIns="0" tIns="0" rIns="0" bIns="0" rtlCol="0" anchor="t"/>
          <a:lstStyle/>
          <a:p>
            <a:pPr marL="0" indent="0" algn="l">
              <a:lnSpc>
                <a:spcPts val="1350"/>
              </a:lnSpc>
              <a:spcAft>
                <a:spcPts val="750"/>
              </a:spcAft>
              <a:buNone/>
            </a:pPr>
            <a:r>
              <a:rPr lang="en-US" sz="1125" b="1" dirty="0">
                <a:solidFill>
                  <a:srgbClr val="1C3A5C"/>
                </a:solidFill>
                <a:latin typeface="Arial" pitchFamily="34" charset="0"/>
                <a:ea typeface="Arial" pitchFamily="34" charset="-122"/>
                <a:cs typeface="Arial" pitchFamily="34" charset="-120"/>
              </a:rPr>
              <a:t>Months 7-12</a:t>
            </a:r>
            <a:endParaRPr lang="en-US" sz="1125" dirty="0"/>
          </a:p>
        </p:txBody>
      </p:sp>
      <p:sp>
        <p:nvSpPr>
          <p:cNvPr id="15" name="Text 13"/>
          <p:cNvSpPr/>
          <p:nvPr/>
        </p:nvSpPr>
        <p:spPr>
          <a:xfrm>
            <a:off x="6299299" y="1572667"/>
            <a:ext cx="2235250" cy="1714500"/>
          </a:xfrm>
          <a:prstGeom prst="rect">
            <a:avLst/>
          </a:prstGeom>
          <a:noFill/>
          <a:ln/>
        </p:spPr>
        <p:txBody>
          <a:bodyPr wrap="square" lIns="85725" tIns="0" rIns="0" bIns="0" rtlCol="0" anchor="t"/>
          <a:lstStyle/>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EMR migration planning</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Payer contract renegotiation</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G&amp;A structure optimization</a:t>
            </a:r>
            <a:endParaRPr lang="en-US" sz="1350" dirty="0"/>
          </a:p>
          <a:p>
            <a:pPr marL="85725" indent="-85725" algn="l">
              <a:lnSpc>
                <a:spcPts val="2100"/>
              </a:lnSpc>
              <a:buSzPct val="100000"/>
              <a:buChar char="•"/>
            </a:pPr>
            <a:r>
              <a:rPr lang="en-US" sz="1350" dirty="0">
                <a:solidFill>
                  <a:srgbClr val="1A1A1A"/>
                </a:solidFill>
                <a:latin typeface="Arial" pitchFamily="34" charset="0"/>
                <a:ea typeface="Arial" pitchFamily="34" charset="-122"/>
                <a:cs typeface="Arial" pitchFamily="34" charset="-120"/>
              </a:rPr>
              <a:t>Cross-sell initiatives launch</a:t>
            </a:r>
            <a:endParaRPr lang="en-US" sz="1350" dirty="0"/>
          </a:p>
        </p:txBody>
      </p:sp>
      <p:sp>
        <p:nvSpPr>
          <p:cNvPr id="16" name="Text 14"/>
          <p:cNvSpPr/>
          <p:nvPr/>
        </p:nvSpPr>
        <p:spPr>
          <a:xfrm>
            <a:off x="457200" y="3437165"/>
            <a:ext cx="8229600" cy="996723"/>
          </a:xfrm>
          <a:prstGeom prst="roundRect">
            <a:avLst>
              <a:gd name="adj" fmla="val 4630"/>
            </a:avLst>
          </a:prstGeom>
          <a:solidFill>
            <a:srgbClr val="F5F7F9"/>
          </a:solidFill>
          <a:ln/>
        </p:spPr>
        <p:txBody>
          <a:bodyPr wrap="square" rtlCol="0" anchor="ctr"/>
          <a:lstStyle/>
          <a:p>
            <a:pPr marL="0" indent="0">
              <a:buNone/>
            </a:pPr>
            <a:endParaRPr lang="en-US" dirty="0"/>
          </a:p>
        </p:txBody>
      </p:sp>
      <p:sp>
        <p:nvSpPr>
          <p:cNvPr id="17" name="Shape 15"/>
          <p:cNvSpPr/>
          <p:nvPr/>
        </p:nvSpPr>
        <p:spPr>
          <a:xfrm>
            <a:off x="476250" y="3611017"/>
            <a:ext cx="0" cy="822871"/>
          </a:xfrm>
          <a:prstGeom prst="line">
            <a:avLst/>
          </a:prstGeom>
          <a:noFill/>
          <a:ln w="38100">
            <a:solidFill>
              <a:srgbClr val="1C3A5C"/>
            </a:solidFill>
            <a:prstDash val="solid"/>
          </a:ln>
        </p:spPr>
        <p:txBody>
          <a:bodyPr/>
          <a:lstStyle/>
          <a:p>
            <a:endParaRPr lang="en-US"/>
          </a:p>
        </p:txBody>
      </p:sp>
      <p:sp>
        <p:nvSpPr>
          <p:cNvPr id="18" name="Text 16"/>
          <p:cNvSpPr/>
          <p:nvPr/>
        </p:nvSpPr>
        <p:spPr>
          <a:xfrm>
            <a:off x="685800" y="3657598"/>
            <a:ext cx="7966710" cy="159990"/>
          </a:xfrm>
          <a:prstGeom prst="rect">
            <a:avLst/>
          </a:prstGeom>
          <a:noFill/>
          <a:ln/>
        </p:spPr>
        <p:txBody>
          <a:bodyPr wrap="square" lIns="0" tIns="0" rIns="0" bIns="0" rtlCol="0" anchor="t"/>
          <a:lstStyle/>
          <a:p>
            <a:pPr marL="0" indent="0" algn="l">
              <a:lnSpc>
                <a:spcPts val="1260"/>
              </a:lnSpc>
              <a:spcAft>
                <a:spcPts val="600"/>
              </a:spcAft>
              <a:buNone/>
            </a:pPr>
            <a:r>
              <a:rPr lang="en-US" sz="1200" b="1" dirty="0">
                <a:solidFill>
                  <a:srgbClr val="1C3A5C"/>
                </a:solidFill>
                <a:latin typeface="Arial" pitchFamily="34" charset="0"/>
                <a:ea typeface="Arial" pitchFamily="34" charset="-122"/>
                <a:cs typeface="Arial" pitchFamily="34" charset="-120"/>
              </a:rPr>
              <a:t>Governance Structure</a:t>
            </a:r>
            <a:endParaRPr lang="en-US" sz="1200" dirty="0"/>
          </a:p>
        </p:txBody>
      </p:sp>
      <p:sp>
        <p:nvSpPr>
          <p:cNvPr id="19" name="Text 17"/>
          <p:cNvSpPr/>
          <p:nvPr/>
        </p:nvSpPr>
        <p:spPr>
          <a:xfrm>
            <a:off x="685800" y="3893788"/>
            <a:ext cx="7966710" cy="319980"/>
          </a:xfrm>
          <a:prstGeom prst="rect">
            <a:avLst/>
          </a:prstGeom>
          <a:noFill/>
          <a:ln/>
        </p:spPr>
        <p:txBody>
          <a:bodyPr wrap="square" lIns="0" tIns="0" rIns="0" bIns="0" rtlCol="0" anchor="t"/>
          <a:lstStyle/>
          <a:p>
            <a:pPr marL="0" indent="0" algn="l">
              <a:lnSpc>
                <a:spcPts val="1260"/>
              </a:lnSpc>
              <a:buNone/>
            </a:pPr>
            <a:r>
              <a:rPr lang="en-US" sz="1050" dirty="0">
                <a:solidFill>
                  <a:srgbClr val="1A1A1A"/>
                </a:solidFill>
                <a:latin typeface="Arial" pitchFamily="34" charset="0"/>
                <a:ea typeface="Arial" pitchFamily="34" charset="-122"/>
                <a:cs typeface="Arial" pitchFamily="34" charset="-120"/>
              </a:rPr>
              <a:t>Integration Management Office (IMO) led by dedicated executive sponsor reporting to CEO. Six workstreams: Clinical Operations, IT/Systems, Commercial, Finance, HR/Culture, Legal/Compliance. Weekly steering committee; monthly Board updates.</a:t>
            </a:r>
            <a:endParaRPr lang="en-US" sz="1050" dirty="0"/>
          </a:p>
        </p:txBody>
      </p:sp>
      <p:sp>
        <p:nvSpPr>
          <p:cNvPr id="20" name="Text 18"/>
          <p:cNvSpPr/>
          <p:nvPr/>
        </p:nvSpPr>
        <p:spPr>
          <a:xfrm>
            <a:off x="457200" y="4586288"/>
            <a:ext cx="8229600" cy="369540"/>
          </a:xfrm>
          <a:prstGeom prst="roundRect">
            <a:avLst>
              <a:gd name="adj" fmla="val 10310"/>
            </a:avLst>
          </a:prstGeom>
          <a:solidFill>
            <a:srgbClr val="0B8599"/>
          </a:solidFill>
          <a:ln/>
        </p:spPr>
        <p:txBody>
          <a:bodyPr wrap="square" rtlCol="0" anchor="ctr"/>
          <a:lstStyle/>
          <a:p>
            <a:pPr marL="0" indent="0">
              <a:buNone/>
            </a:pPr>
            <a:endParaRPr lang="en-US" dirty="0"/>
          </a:p>
        </p:txBody>
      </p:sp>
      <p:sp>
        <p:nvSpPr>
          <p:cNvPr id="21" name="Text 19"/>
          <p:cNvSpPr/>
          <p:nvPr/>
        </p:nvSpPr>
        <p:spPr>
          <a:xfrm>
            <a:off x="647700" y="4691063"/>
            <a:ext cx="8005572" cy="159990"/>
          </a:xfrm>
          <a:prstGeom prst="rect">
            <a:avLst/>
          </a:prstGeom>
          <a:noFill/>
          <a:ln/>
        </p:spPr>
        <p:txBody>
          <a:bodyPr wrap="square" lIns="0" tIns="0" rIns="0" bIns="0" rtlCol="0" anchor="t"/>
          <a:lstStyle/>
          <a:p>
            <a:pPr marL="0" indent="0" algn="l">
              <a:lnSpc>
                <a:spcPts val="1260"/>
              </a:lnSpc>
              <a:buNone/>
            </a:pPr>
            <a:r>
              <a:rPr lang="en-US" sz="1000" dirty="0">
                <a:solidFill>
                  <a:srgbClr val="FFFFFF"/>
                </a:solidFill>
                <a:latin typeface="Arial" pitchFamily="34" charset="0"/>
                <a:ea typeface="Arial" pitchFamily="34" charset="-122"/>
                <a:cs typeface="Arial" pitchFamily="34" charset="-120"/>
              </a:rPr>
              <a:t>Integration budget: $75-125M over 24 months | Full synergy run-rate by Year 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5246370"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Conditions to Close &amp; Regulatory Status</a:t>
            </a:r>
            <a:endParaRPr lang="en-US" sz="2100" dirty="0"/>
          </a:p>
        </p:txBody>
      </p:sp>
      <p:sp>
        <p:nvSpPr>
          <p:cNvPr id="4" name="Shape 2"/>
          <p:cNvSpPr/>
          <p:nvPr/>
        </p:nvSpPr>
        <p:spPr>
          <a:xfrm>
            <a:off x="457200" y="1430685"/>
            <a:ext cx="3962400" cy="0"/>
          </a:xfrm>
          <a:prstGeom prst="line">
            <a:avLst/>
          </a:prstGeom>
          <a:noFill/>
          <a:ln w="28575">
            <a:solidFill>
              <a:srgbClr val="0B8599"/>
            </a:solidFill>
            <a:prstDash val="solid"/>
          </a:ln>
        </p:spPr>
        <p:txBody>
          <a:bodyPr/>
          <a:lstStyle/>
          <a:p>
            <a:endParaRPr lang="en-US"/>
          </a:p>
        </p:txBody>
      </p:sp>
      <p:sp>
        <p:nvSpPr>
          <p:cNvPr id="5" name="Text 3"/>
          <p:cNvSpPr/>
          <p:nvPr/>
        </p:nvSpPr>
        <p:spPr>
          <a:xfrm>
            <a:off x="457200" y="1134517"/>
            <a:ext cx="4041648" cy="205680"/>
          </a:xfrm>
          <a:prstGeom prst="rect">
            <a:avLst/>
          </a:prstGeom>
          <a:noFill/>
          <a:ln/>
        </p:spPr>
        <p:txBody>
          <a:bodyPr wrap="square" lIns="0" tIns="0" rIns="0" bIns="0" rtlCol="0" anchor="t"/>
          <a:lstStyle/>
          <a:p>
            <a:pPr marL="0" indent="0" algn="l">
              <a:lnSpc>
                <a:spcPts val="1620"/>
              </a:lnSpc>
              <a:buNone/>
            </a:pPr>
            <a:r>
              <a:rPr lang="en-US" sz="1350" b="1" dirty="0">
                <a:solidFill>
                  <a:srgbClr val="1C3A5C"/>
                </a:solidFill>
                <a:latin typeface="Arial" pitchFamily="34" charset="0"/>
                <a:ea typeface="Arial" pitchFamily="34" charset="-122"/>
                <a:cs typeface="Arial" pitchFamily="34" charset="-120"/>
              </a:rPr>
              <a:t>Closing Conditions</a:t>
            </a:r>
            <a:endParaRPr lang="en-US" sz="1350" dirty="0"/>
          </a:p>
        </p:txBody>
      </p:sp>
      <p:sp>
        <p:nvSpPr>
          <p:cNvPr id="6" name="Text 4"/>
          <p:cNvSpPr/>
          <p:nvPr/>
        </p:nvSpPr>
        <p:spPr>
          <a:xfrm>
            <a:off x="457199" y="1578322"/>
            <a:ext cx="267608" cy="258057"/>
          </a:xfrm>
          <a:prstGeom prst="roundRect">
            <a:avLst>
              <a:gd name="adj" fmla="val 436364"/>
            </a:avLst>
          </a:prstGeom>
          <a:solidFill>
            <a:srgbClr val="2ECC71"/>
          </a:solidFill>
          <a:ln/>
        </p:spPr>
        <p:txBody>
          <a:bodyPr wrap="square" rtlCol="0" anchor="ctr"/>
          <a:lstStyle/>
          <a:p>
            <a:pPr marL="0" indent="0">
              <a:buNone/>
            </a:pPr>
            <a:endParaRPr lang="en-US" sz="3200" dirty="0"/>
          </a:p>
        </p:txBody>
      </p:sp>
      <p:sp>
        <p:nvSpPr>
          <p:cNvPr id="7" name="Text 5"/>
          <p:cNvSpPr/>
          <p:nvPr/>
        </p:nvSpPr>
        <p:spPr>
          <a:xfrm>
            <a:off x="761999" y="1596479"/>
            <a:ext cx="2582267" cy="213337"/>
          </a:xfrm>
          <a:prstGeom prst="rect">
            <a:avLst/>
          </a:prstGeom>
          <a:noFill/>
          <a:ln/>
        </p:spPr>
        <p:txBody>
          <a:bodyPr wrap="square" lIns="0" tIns="0" rIns="0" bIns="0" rtlCol="0" anchor="t"/>
          <a:lstStyle/>
          <a:p>
            <a:pPr marL="0" indent="0" algn="l">
              <a:lnSpc>
                <a:spcPts val="1365"/>
              </a:lnSpc>
              <a:buNone/>
            </a:pPr>
            <a:r>
              <a:rPr lang="en-US" sz="1200" dirty="0">
                <a:solidFill>
                  <a:srgbClr val="1A1A1A"/>
                </a:solidFill>
                <a:latin typeface="Arial" pitchFamily="34" charset="0"/>
                <a:ea typeface="Arial" pitchFamily="34" charset="-122"/>
                <a:cs typeface="Arial" pitchFamily="34" charset="-120"/>
              </a:rPr>
              <a:t>HSR clearance obtained (Feb 2026)</a:t>
            </a:r>
            <a:endParaRPr lang="en-US" sz="1200" dirty="0"/>
          </a:p>
        </p:txBody>
      </p:sp>
      <p:sp>
        <p:nvSpPr>
          <p:cNvPr id="8" name="Text 6"/>
          <p:cNvSpPr/>
          <p:nvPr/>
        </p:nvSpPr>
        <p:spPr>
          <a:xfrm>
            <a:off x="457199" y="1883122"/>
            <a:ext cx="267608" cy="258057"/>
          </a:xfrm>
          <a:prstGeom prst="roundRect">
            <a:avLst>
              <a:gd name="adj" fmla="val 436364"/>
            </a:avLst>
          </a:prstGeom>
          <a:solidFill>
            <a:srgbClr val="2ECC71"/>
          </a:solidFill>
          <a:ln/>
        </p:spPr>
        <p:txBody>
          <a:bodyPr wrap="square" rtlCol="0" anchor="ctr"/>
          <a:lstStyle/>
          <a:p>
            <a:pPr marL="0" indent="0">
              <a:buNone/>
            </a:pPr>
            <a:endParaRPr lang="en-US" sz="3200" dirty="0"/>
          </a:p>
        </p:txBody>
      </p:sp>
      <p:sp>
        <p:nvSpPr>
          <p:cNvPr id="9" name="Text 7"/>
          <p:cNvSpPr/>
          <p:nvPr/>
        </p:nvSpPr>
        <p:spPr>
          <a:xfrm>
            <a:off x="761999" y="1901279"/>
            <a:ext cx="2537485" cy="213337"/>
          </a:xfrm>
          <a:prstGeom prst="rect">
            <a:avLst/>
          </a:prstGeom>
          <a:noFill/>
          <a:ln/>
        </p:spPr>
        <p:txBody>
          <a:bodyPr wrap="square" lIns="0" tIns="0" rIns="0" bIns="0" rtlCol="0" anchor="t"/>
          <a:lstStyle/>
          <a:p>
            <a:pPr marL="0" indent="0" algn="l">
              <a:lnSpc>
                <a:spcPts val="1365"/>
              </a:lnSpc>
              <a:buNone/>
            </a:pPr>
            <a:r>
              <a:rPr lang="en-US" sz="1200" dirty="0">
                <a:solidFill>
                  <a:srgbClr val="1A1A1A"/>
                </a:solidFill>
                <a:latin typeface="Arial" pitchFamily="34" charset="0"/>
                <a:ea typeface="Arial" pitchFamily="34" charset="-122"/>
                <a:cs typeface="Arial" pitchFamily="34" charset="-120"/>
              </a:rPr>
              <a:t>State regulatory approvals received</a:t>
            </a:r>
            <a:endParaRPr lang="en-US" sz="1200" dirty="0"/>
          </a:p>
        </p:txBody>
      </p:sp>
      <p:sp>
        <p:nvSpPr>
          <p:cNvPr id="10" name="Text 8"/>
          <p:cNvSpPr/>
          <p:nvPr/>
        </p:nvSpPr>
        <p:spPr>
          <a:xfrm>
            <a:off x="457199" y="2187922"/>
            <a:ext cx="267608" cy="258057"/>
          </a:xfrm>
          <a:prstGeom prst="roundRect">
            <a:avLst>
              <a:gd name="adj" fmla="val 436364"/>
            </a:avLst>
          </a:prstGeom>
          <a:solidFill>
            <a:srgbClr val="2ECC71"/>
          </a:solidFill>
          <a:ln/>
        </p:spPr>
        <p:txBody>
          <a:bodyPr wrap="square" rtlCol="0" anchor="ctr"/>
          <a:lstStyle/>
          <a:p>
            <a:pPr marL="0" indent="0">
              <a:buNone/>
            </a:pPr>
            <a:endParaRPr lang="en-US" sz="3200" dirty="0"/>
          </a:p>
        </p:txBody>
      </p:sp>
      <p:sp>
        <p:nvSpPr>
          <p:cNvPr id="11" name="Text 9"/>
          <p:cNvSpPr/>
          <p:nvPr/>
        </p:nvSpPr>
        <p:spPr>
          <a:xfrm>
            <a:off x="761999" y="2206079"/>
            <a:ext cx="2206171" cy="213337"/>
          </a:xfrm>
          <a:prstGeom prst="rect">
            <a:avLst/>
          </a:prstGeom>
          <a:noFill/>
          <a:ln/>
        </p:spPr>
        <p:txBody>
          <a:bodyPr wrap="square" lIns="0" tIns="0" rIns="0" bIns="0" rtlCol="0" anchor="t"/>
          <a:lstStyle/>
          <a:p>
            <a:pPr marL="0" indent="0" algn="l">
              <a:lnSpc>
                <a:spcPts val="1365"/>
              </a:lnSpc>
              <a:buNone/>
            </a:pPr>
            <a:r>
              <a:rPr lang="en-US" sz="1200" dirty="0">
                <a:solidFill>
                  <a:srgbClr val="1A1A1A"/>
                </a:solidFill>
                <a:latin typeface="Arial" pitchFamily="34" charset="0"/>
                <a:ea typeface="Arial" pitchFamily="34" charset="-122"/>
                <a:cs typeface="Arial" pitchFamily="34" charset="-120"/>
              </a:rPr>
              <a:t>Shareholder approval obtained</a:t>
            </a:r>
            <a:endParaRPr lang="en-US" sz="1200" dirty="0"/>
          </a:p>
        </p:txBody>
      </p:sp>
      <p:sp>
        <p:nvSpPr>
          <p:cNvPr id="12" name="Text 10"/>
          <p:cNvSpPr/>
          <p:nvPr/>
        </p:nvSpPr>
        <p:spPr>
          <a:xfrm>
            <a:off x="457199" y="2492722"/>
            <a:ext cx="267608" cy="258057"/>
          </a:xfrm>
          <a:prstGeom prst="roundRect">
            <a:avLst>
              <a:gd name="adj" fmla="val 436364"/>
            </a:avLst>
          </a:prstGeom>
          <a:solidFill>
            <a:srgbClr val="2ECC71"/>
          </a:solidFill>
          <a:ln/>
        </p:spPr>
        <p:txBody>
          <a:bodyPr wrap="square" rtlCol="0" anchor="ctr"/>
          <a:lstStyle/>
          <a:p>
            <a:pPr marL="0" indent="0">
              <a:buNone/>
            </a:pPr>
            <a:endParaRPr lang="en-US" sz="3200" dirty="0"/>
          </a:p>
        </p:txBody>
      </p:sp>
      <p:sp>
        <p:nvSpPr>
          <p:cNvPr id="13" name="Text 11"/>
          <p:cNvSpPr/>
          <p:nvPr/>
        </p:nvSpPr>
        <p:spPr>
          <a:xfrm>
            <a:off x="762000" y="2510879"/>
            <a:ext cx="1882612" cy="213337"/>
          </a:xfrm>
          <a:prstGeom prst="rect">
            <a:avLst/>
          </a:prstGeom>
          <a:noFill/>
          <a:ln/>
        </p:spPr>
        <p:txBody>
          <a:bodyPr wrap="square" lIns="0" tIns="0" rIns="0" bIns="0" rtlCol="0" anchor="t"/>
          <a:lstStyle/>
          <a:p>
            <a:pPr marL="0" indent="0" algn="l">
              <a:lnSpc>
                <a:spcPts val="1365"/>
              </a:lnSpc>
              <a:buNone/>
            </a:pPr>
            <a:r>
              <a:rPr lang="en-US" sz="1200" dirty="0">
                <a:solidFill>
                  <a:srgbClr val="1A1A1A"/>
                </a:solidFill>
                <a:latin typeface="Arial" pitchFamily="34" charset="0"/>
                <a:ea typeface="Arial" pitchFamily="34" charset="-122"/>
                <a:cs typeface="Arial" pitchFamily="34" charset="-120"/>
              </a:rPr>
              <a:t>Reps &amp; warranties verified</a:t>
            </a:r>
            <a:endParaRPr lang="en-US" sz="1200" dirty="0"/>
          </a:p>
        </p:txBody>
      </p:sp>
      <p:sp>
        <p:nvSpPr>
          <p:cNvPr id="14" name="Text 12"/>
          <p:cNvSpPr/>
          <p:nvPr/>
        </p:nvSpPr>
        <p:spPr>
          <a:xfrm>
            <a:off x="457199" y="2797522"/>
            <a:ext cx="267608" cy="258057"/>
          </a:xfrm>
          <a:prstGeom prst="roundRect">
            <a:avLst>
              <a:gd name="adj" fmla="val 436364"/>
            </a:avLst>
          </a:prstGeom>
          <a:solidFill>
            <a:srgbClr val="2ECC71"/>
          </a:solidFill>
          <a:ln/>
        </p:spPr>
        <p:txBody>
          <a:bodyPr wrap="square" rtlCol="0" anchor="ctr"/>
          <a:lstStyle/>
          <a:p>
            <a:pPr marL="0" indent="0">
              <a:buNone/>
            </a:pPr>
            <a:endParaRPr lang="en-US" sz="3200" dirty="0"/>
          </a:p>
        </p:txBody>
      </p:sp>
      <p:sp>
        <p:nvSpPr>
          <p:cNvPr id="15" name="Text 13"/>
          <p:cNvSpPr/>
          <p:nvPr/>
        </p:nvSpPr>
        <p:spPr>
          <a:xfrm>
            <a:off x="762000" y="2815679"/>
            <a:ext cx="1879704" cy="213337"/>
          </a:xfrm>
          <a:prstGeom prst="rect">
            <a:avLst/>
          </a:prstGeom>
          <a:noFill/>
          <a:ln/>
        </p:spPr>
        <p:txBody>
          <a:bodyPr wrap="square" lIns="0" tIns="0" rIns="0" bIns="0" rtlCol="0" anchor="t"/>
          <a:lstStyle/>
          <a:p>
            <a:pPr marL="0" indent="0" algn="l">
              <a:lnSpc>
                <a:spcPts val="1365"/>
              </a:lnSpc>
              <a:buNone/>
            </a:pPr>
            <a:r>
              <a:rPr lang="en-US" sz="1200" dirty="0">
                <a:solidFill>
                  <a:srgbClr val="1A1A1A"/>
                </a:solidFill>
                <a:latin typeface="Arial" pitchFamily="34" charset="0"/>
                <a:ea typeface="Arial" pitchFamily="34" charset="-122"/>
                <a:cs typeface="Arial" pitchFamily="34" charset="-120"/>
              </a:rPr>
              <a:t>No material adverse effect</a:t>
            </a:r>
            <a:endParaRPr lang="en-US" sz="1200" dirty="0"/>
          </a:p>
        </p:txBody>
      </p:sp>
      <p:sp>
        <p:nvSpPr>
          <p:cNvPr id="16" name="Text 14"/>
          <p:cNvSpPr/>
          <p:nvPr/>
        </p:nvSpPr>
        <p:spPr>
          <a:xfrm>
            <a:off x="457199" y="3102322"/>
            <a:ext cx="267608" cy="258057"/>
          </a:xfrm>
          <a:prstGeom prst="roundRect">
            <a:avLst>
              <a:gd name="adj" fmla="val 436364"/>
            </a:avLst>
          </a:prstGeom>
          <a:solidFill>
            <a:srgbClr val="2ECC71"/>
          </a:solidFill>
          <a:ln/>
        </p:spPr>
        <p:txBody>
          <a:bodyPr wrap="square" rtlCol="0" anchor="ctr"/>
          <a:lstStyle/>
          <a:p>
            <a:pPr marL="0" indent="0">
              <a:buNone/>
            </a:pPr>
            <a:endParaRPr lang="en-US" sz="3200" dirty="0"/>
          </a:p>
        </p:txBody>
      </p:sp>
      <p:sp>
        <p:nvSpPr>
          <p:cNvPr id="17" name="Text 15"/>
          <p:cNvSpPr/>
          <p:nvPr/>
        </p:nvSpPr>
        <p:spPr>
          <a:xfrm>
            <a:off x="762000" y="3120479"/>
            <a:ext cx="2304073" cy="213337"/>
          </a:xfrm>
          <a:prstGeom prst="rect">
            <a:avLst/>
          </a:prstGeom>
          <a:noFill/>
          <a:ln/>
        </p:spPr>
        <p:txBody>
          <a:bodyPr wrap="square" lIns="0" tIns="0" rIns="0" bIns="0" rtlCol="0" anchor="t"/>
          <a:lstStyle/>
          <a:p>
            <a:pPr marL="0" indent="0" algn="l">
              <a:lnSpc>
                <a:spcPts val="1365"/>
              </a:lnSpc>
              <a:buNone/>
            </a:pPr>
            <a:r>
              <a:rPr lang="en-US" sz="1200" dirty="0">
                <a:solidFill>
                  <a:srgbClr val="1A1A1A"/>
                </a:solidFill>
                <a:latin typeface="Arial" pitchFamily="34" charset="0"/>
                <a:ea typeface="Arial" pitchFamily="34" charset="-122"/>
                <a:cs typeface="Arial" pitchFamily="34" charset="-120"/>
              </a:rPr>
              <a:t>Financing commitments in place</a:t>
            </a:r>
            <a:endParaRPr lang="en-US" sz="1200" dirty="0"/>
          </a:p>
        </p:txBody>
      </p:sp>
      <p:sp>
        <p:nvSpPr>
          <p:cNvPr id="18" name="Shape 16"/>
          <p:cNvSpPr/>
          <p:nvPr/>
        </p:nvSpPr>
        <p:spPr>
          <a:xfrm>
            <a:off x="4724400" y="1430685"/>
            <a:ext cx="3962400" cy="0"/>
          </a:xfrm>
          <a:prstGeom prst="line">
            <a:avLst/>
          </a:prstGeom>
          <a:noFill/>
          <a:ln w="28575">
            <a:solidFill>
              <a:srgbClr val="0B8599"/>
            </a:solidFill>
            <a:prstDash val="solid"/>
          </a:ln>
        </p:spPr>
        <p:txBody>
          <a:bodyPr/>
          <a:lstStyle/>
          <a:p>
            <a:endParaRPr lang="en-US"/>
          </a:p>
        </p:txBody>
      </p:sp>
      <p:sp>
        <p:nvSpPr>
          <p:cNvPr id="19" name="Text 17"/>
          <p:cNvSpPr/>
          <p:nvPr/>
        </p:nvSpPr>
        <p:spPr>
          <a:xfrm>
            <a:off x="4724400" y="1134517"/>
            <a:ext cx="4041648" cy="205680"/>
          </a:xfrm>
          <a:prstGeom prst="rect">
            <a:avLst/>
          </a:prstGeom>
          <a:noFill/>
          <a:ln/>
        </p:spPr>
        <p:txBody>
          <a:bodyPr wrap="square" lIns="0" tIns="0" rIns="0" bIns="0" rtlCol="0" anchor="t"/>
          <a:lstStyle/>
          <a:p>
            <a:pPr marL="0" indent="0" algn="l">
              <a:lnSpc>
                <a:spcPts val="1620"/>
              </a:lnSpc>
              <a:buNone/>
            </a:pPr>
            <a:r>
              <a:rPr lang="en-US" sz="1350" b="1" dirty="0">
                <a:solidFill>
                  <a:srgbClr val="1C3A5C"/>
                </a:solidFill>
                <a:latin typeface="Arial" pitchFamily="34" charset="0"/>
                <a:ea typeface="Arial" pitchFamily="34" charset="-122"/>
                <a:cs typeface="Arial" pitchFamily="34" charset="-120"/>
              </a:rPr>
              <a:t>Regulatory Review</a:t>
            </a:r>
            <a:endParaRPr lang="en-US" sz="1350" dirty="0"/>
          </a:p>
        </p:txBody>
      </p:sp>
      <p:sp>
        <p:nvSpPr>
          <p:cNvPr id="20" name="Text 18"/>
          <p:cNvSpPr/>
          <p:nvPr/>
        </p:nvSpPr>
        <p:spPr>
          <a:xfrm>
            <a:off x="4724400" y="1578322"/>
            <a:ext cx="3962400" cy="1333351"/>
          </a:xfrm>
          <a:prstGeom prst="roundRect">
            <a:avLst>
              <a:gd name="adj" fmla="val 2857"/>
            </a:avLst>
          </a:prstGeom>
          <a:solidFill>
            <a:srgbClr val="F5F7F9"/>
          </a:solidFill>
          <a:ln/>
        </p:spPr>
        <p:txBody>
          <a:bodyPr wrap="square" rtlCol="0" anchor="ctr"/>
          <a:lstStyle/>
          <a:p>
            <a:pPr marL="0" indent="0">
              <a:buNone/>
            </a:pPr>
            <a:endParaRPr lang="en-US" dirty="0"/>
          </a:p>
        </p:txBody>
      </p:sp>
      <p:sp>
        <p:nvSpPr>
          <p:cNvPr id="21" name="Text 19"/>
          <p:cNvSpPr/>
          <p:nvPr/>
        </p:nvSpPr>
        <p:spPr>
          <a:xfrm>
            <a:off x="4876800" y="1659284"/>
            <a:ext cx="3730752" cy="142875"/>
          </a:xfrm>
          <a:prstGeom prst="rect">
            <a:avLst/>
          </a:prstGeom>
          <a:noFill/>
          <a:ln/>
        </p:spPr>
        <p:txBody>
          <a:bodyPr wrap="square" lIns="0" tIns="0" rIns="0" bIns="0" rtlCol="0" anchor="t"/>
          <a:lstStyle/>
          <a:p>
            <a:pPr marL="0" indent="0" algn="l">
              <a:spcAft>
                <a:spcPts val="600"/>
              </a:spcAft>
              <a:buNone/>
            </a:pPr>
            <a:r>
              <a:rPr lang="en-US" sz="1100" b="1" dirty="0">
                <a:solidFill>
                  <a:srgbClr val="1C3A5C"/>
                </a:solidFill>
                <a:latin typeface="Arial" pitchFamily="34" charset="0"/>
                <a:ea typeface="Arial" pitchFamily="34" charset="-122"/>
                <a:cs typeface="Arial" pitchFamily="34" charset="-120"/>
              </a:rPr>
              <a:t>HSR Process</a:t>
            </a:r>
            <a:endParaRPr lang="en-US" sz="1100" dirty="0"/>
          </a:p>
        </p:txBody>
      </p:sp>
      <p:sp>
        <p:nvSpPr>
          <p:cNvPr id="22" name="Text 20"/>
          <p:cNvSpPr/>
          <p:nvPr/>
        </p:nvSpPr>
        <p:spPr>
          <a:xfrm>
            <a:off x="4876800" y="1949797"/>
            <a:ext cx="3730752" cy="479971"/>
          </a:xfrm>
          <a:prstGeom prst="rect">
            <a:avLst/>
          </a:prstGeom>
          <a:noFill/>
          <a:ln/>
        </p:spPr>
        <p:txBody>
          <a:bodyPr wrap="square" lIns="0" tIns="0" rIns="0" bIns="0" rtlCol="0" anchor="t"/>
          <a:lstStyle/>
          <a:p>
            <a:pPr marL="0" indent="0" algn="l">
              <a:lnSpc>
                <a:spcPts val="1260"/>
              </a:lnSpc>
              <a:spcAft>
                <a:spcPts val="450"/>
              </a:spcAft>
              <a:buNone/>
            </a:pPr>
            <a:r>
              <a:rPr lang="en-US" sz="1100" dirty="0">
                <a:solidFill>
                  <a:srgbClr val="1A1A1A"/>
                </a:solidFill>
                <a:latin typeface="Arial" pitchFamily="34" charset="0"/>
                <a:ea typeface="Arial" pitchFamily="34" charset="-122"/>
                <a:cs typeface="Arial" pitchFamily="34" charset="-120"/>
              </a:rPr>
              <a:t>Filed November 2025; cleared February 2026 without second request. FTC/DOJ concluded no substantial competitive concerns in relevant markets.</a:t>
            </a:r>
            <a:endParaRPr lang="en-US" sz="1100" dirty="0"/>
          </a:p>
        </p:txBody>
      </p:sp>
      <p:sp>
        <p:nvSpPr>
          <p:cNvPr id="23" name="Text 21"/>
          <p:cNvSpPr/>
          <p:nvPr/>
        </p:nvSpPr>
        <p:spPr>
          <a:xfrm>
            <a:off x="4876800" y="2534865"/>
            <a:ext cx="3730752" cy="272355"/>
          </a:xfrm>
          <a:prstGeom prst="rect">
            <a:avLst/>
          </a:prstGeom>
          <a:noFill/>
          <a:ln/>
        </p:spPr>
        <p:txBody>
          <a:bodyPr wrap="square" lIns="0" tIns="0" rIns="0" bIns="0" rtlCol="0" anchor="t"/>
          <a:lstStyle/>
          <a:p>
            <a:pPr marL="0" indent="0" algn="l">
              <a:lnSpc>
                <a:spcPts val="1073"/>
              </a:lnSpc>
              <a:buNone/>
            </a:pPr>
            <a:r>
              <a:rPr lang="en-US" sz="900" i="1" dirty="0">
                <a:solidFill>
                  <a:srgbClr val="737373"/>
                </a:solidFill>
                <a:latin typeface="Arial" pitchFamily="34" charset="0"/>
                <a:ea typeface="Arial" pitchFamily="34" charset="-122"/>
                <a:cs typeface="Arial" pitchFamily="34" charset="-120"/>
              </a:rPr>
              <a:t>Market concentration analysis showed minimal overlap in geographic service areas</a:t>
            </a:r>
            <a:endParaRPr lang="en-US" sz="900" dirty="0"/>
          </a:p>
        </p:txBody>
      </p:sp>
      <p:sp>
        <p:nvSpPr>
          <p:cNvPr id="24" name="Text 22"/>
          <p:cNvSpPr/>
          <p:nvPr/>
        </p:nvSpPr>
        <p:spPr>
          <a:xfrm>
            <a:off x="4724400" y="3045023"/>
            <a:ext cx="3962400" cy="1400175"/>
          </a:xfrm>
          <a:prstGeom prst="roundRect">
            <a:avLst>
              <a:gd name="adj" fmla="val 2721"/>
            </a:avLst>
          </a:prstGeom>
          <a:solidFill>
            <a:srgbClr val="F5F7F9"/>
          </a:solidFill>
          <a:ln/>
        </p:spPr>
        <p:txBody>
          <a:bodyPr wrap="square" rtlCol="0" anchor="ctr"/>
          <a:lstStyle/>
          <a:p>
            <a:pPr marL="0" indent="0">
              <a:buNone/>
            </a:pPr>
            <a:endParaRPr lang="en-US" dirty="0"/>
          </a:p>
        </p:txBody>
      </p:sp>
      <p:sp>
        <p:nvSpPr>
          <p:cNvPr id="25" name="Text 23"/>
          <p:cNvSpPr/>
          <p:nvPr/>
        </p:nvSpPr>
        <p:spPr>
          <a:xfrm>
            <a:off x="4876800" y="3197423"/>
            <a:ext cx="3730752" cy="142875"/>
          </a:xfrm>
          <a:prstGeom prst="rect">
            <a:avLst/>
          </a:prstGeom>
          <a:noFill/>
          <a:ln/>
        </p:spPr>
        <p:txBody>
          <a:bodyPr wrap="square" lIns="0" tIns="0" rIns="0" bIns="0" rtlCol="0" anchor="t"/>
          <a:lstStyle/>
          <a:p>
            <a:pPr marL="0" indent="0" algn="l">
              <a:spcAft>
                <a:spcPts val="600"/>
              </a:spcAft>
              <a:buNone/>
            </a:pPr>
            <a:r>
              <a:rPr lang="en-US" sz="1100" b="1" dirty="0">
                <a:solidFill>
                  <a:srgbClr val="1C3A5C"/>
                </a:solidFill>
                <a:latin typeface="Arial" pitchFamily="34" charset="0"/>
                <a:ea typeface="Arial" pitchFamily="34" charset="-122"/>
                <a:cs typeface="Arial" pitchFamily="34" charset="-120"/>
              </a:rPr>
              <a:t>Other Approvals</a:t>
            </a:r>
            <a:endParaRPr lang="en-US" sz="1100" dirty="0"/>
          </a:p>
        </p:txBody>
      </p:sp>
      <p:sp>
        <p:nvSpPr>
          <p:cNvPr id="26" name="Text 24"/>
          <p:cNvSpPr/>
          <p:nvPr/>
        </p:nvSpPr>
        <p:spPr>
          <a:xfrm>
            <a:off x="4876800" y="3416498"/>
            <a:ext cx="3657600" cy="876300"/>
          </a:xfrm>
          <a:prstGeom prst="rect">
            <a:avLst/>
          </a:prstGeom>
          <a:noFill/>
          <a:ln/>
        </p:spPr>
        <p:txBody>
          <a:bodyPr wrap="square" lIns="85725" tIns="0" rIns="0" bIns="0" rtlCol="0" anchor="t"/>
          <a:lstStyle/>
          <a:p>
            <a:pPr marL="85725" indent="-85725" algn="l">
              <a:lnSpc>
                <a:spcPts val="2100"/>
              </a:lnSpc>
              <a:buSzPct val="100000"/>
              <a:buChar char="•"/>
            </a:pPr>
            <a:r>
              <a:rPr lang="en-US" sz="1100" dirty="0">
                <a:solidFill>
                  <a:srgbClr val="1A1A1A"/>
                </a:solidFill>
                <a:latin typeface="Arial" pitchFamily="34" charset="0"/>
                <a:ea typeface="Arial" pitchFamily="34" charset="-122"/>
                <a:cs typeface="Arial" pitchFamily="34" charset="-120"/>
              </a:rPr>
              <a:t>State insurance dept approvals: Complete</a:t>
            </a:r>
            <a:endParaRPr lang="en-US" sz="1100" dirty="0"/>
          </a:p>
          <a:p>
            <a:pPr marL="85725" indent="-85725" algn="l">
              <a:lnSpc>
                <a:spcPts val="2100"/>
              </a:lnSpc>
              <a:buSzPct val="100000"/>
              <a:buChar char="•"/>
            </a:pPr>
            <a:r>
              <a:rPr lang="en-US" sz="1100" dirty="0">
                <a:solidFill>
                  <a:srgbClr val="1A1A1A"/>
                </a:solidFill>
                <a:latin typeface="Arial" pitchFamily="34" charset="0"/>
                <a:ea typeface="Arial" pitchFamily="34" charset="-122"/>
                <a:cs typeface="Arial" pitchFamily="34" charset="-120"/>
              </a:rPr>
              <a:t>CMS change-of-control notifications: Filed</a:t>
            </a:r>
            <a:endParaRPr lang="en-US" sz="1100" dirty="0"/>
          </a:p>
          <a:p>
            <a:pPr marL="85725" indent="-85725" algn="l">
              <a:lnSpc>
                <a:spcPts val="2100"/>
              </a:lnSpc>
              <a:buSzPct val="100000"/>
              <a:buChar char="•"/>
            </a:pPr>
            <a:r>
              <a:rPr lang="en-US" sz="1100" dirty="0">
                <a:solidFill>
                  <a:srgbClr val="1A1A1A"/>
                </a:solidFill>
                <a:latin typeface="Arial" pitchFamily="34" charset="0"/>
                <a:ea typeface="Arial" pitchFamily="34" charset="-122"/>
                <a:cs typeface="Arial" pitchFamily="34" charset="-120"/>
              </a:rPr>
              <a:t>State medical board notifications: Complete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7317"/>
          </a:xfrm>
          <a:prstGeom prst="rect">
            <a:avLst/>
          </a:prstGeom>
          <a:solidFill>
            <a:srgbClr val="1C3A5C"/>
          </a:solidFill>
          <a:ln/>
        </p:spPr>
        <p:txBody>
          <a:bodyPr wrap="square" rtlCol="0" anchor="ctr"/>
          <a:lstStyle/>
          <a:p>
            <a:pPr marL="0" indent="0">
              <a:buNone/>
            </a:pPr>
            <a:endParaRPr lang="en-US" dirty="0"/>
          </a:p>
        </p:txBody>
      </p:sp>
      <p:sp>
        <p:nvSpPr>
          <p:cNvPr id="3" name="Text 1"/>
          <p:cNvSpPr/>
          <p:nvPr/>
        </p:nvSpPr>
        <p:spPr>
          <a:xfrm>
            <a:off x="457200" y="190500"/>
            <a:ext cx="4206812" cy="296317"/>
          </a:xfrm>
          <a:prstGeom prst="rect">
            <a:avLst/>
          </a:prstGeom>
          <a:noFill/>
          <a:ln/>
        </p:spPr>
        <p:txBody>
          <a:bodyPr wrap="square" lIns="0" tIns="0" rIns="0" bIns="0" rtlCol="0" anchor="t"/>
          <a:lstStyle/>
          <a:p>
            <a:pPr marL="0" indent="0" algn="l">
              <a:lnSpc>
                <a:spcPts val="2333"/>
              </a:lnSpc>
              <a:buNone/>
            </a:pPr>
            <a:r>
              <a:rPr lang="en-US" sz="2100" b="1" dirty="0">
                <a:solidFill>
                  <a:srgbClr val="FFFFFF"/>
                </a:solidFill>
                <a:latin typeface="Arial" pitchFamily="34" charset="0"/>
                <a:ea typeface="Arial" pitchFamily="34" charset="-122"/>
                <a:cs typeface="Arial" pitchFamily="34" charset="-120"/>
              </a:rPr>
              <a:t>Board Resolution &amp; Next Steps</a:t>
            </a:r>
            <a:endParaRPr lang="en-US" sz="2100" dirty="0"/>
          </a:p>
        </p:txBody>
      </p:sp>
      <p:pic>
        <p:nvPicPr>
          <p:cNvPr id="4" name="Image 0" descr="/tmp/rasterized-gradient-16a1fbdb.png"/>
          <p:cNvPicPr>
            <a:picLocks noChangeAspect="1"/>
          </p:cNvPicPr>
          <p:nvPr/>
        </p:nvPicPr>
        <p:blipFill>
          <a:blip r:embed="rId3"/>
          <a:stretch>
            <a:fillRect/>
          </a:stretch>
        </p:blipFill>
        <p:spPr>
          <a:xfrm>
            <a:off x="666750" y="1172617"/>
            <a:ext cx="7810500" cy="3667125"/>
          </a:xfrm>
          <a:prstGeom prst="rect">
            <a:avLst/>
          </a:prstGeom>
        </p:spPr>
      </p:pic>
      <p:sp>
        <p:nvSpPr>
          <p:cNvPr id="5" name="Text 2"/>
          <p:cNvSpPr/>
          <p:nvPr/>
        </p:nvSpPr>
        <p:spPr>
          <a:xfrm>
            <a:off x="938403" y="1401217"/>
            <a:ext cx="7267194" cy="228600"/>
          </a:xfrm>
          <a:prstGeom prst="rect">
            <a:avLst/>
          </a:prstGeom>
          <a:noFill/>
          <a:ln/>
        </p:spPr>
        <p:txBody>
          <a:bodyPr wrap="square" lIns="0" tIns="0" rIns="0" bIns="0" rtlCol="0" anchor="t"/>
          <a:lstStyle/>
          <a:p>
            <a:pPr marL="0" indent="0" algn="ctr">
              <a:lnSpc>
                <a:spcPts val="1800"/>
              </a:lnSpc>
              <a:spcAft>
                <a:spcPts val="1125"/>
              </a:spcAft>
              <a:buNone/>
            </a:pPr>
            <a:r>
              <a:rPr lang="en-US" sz="1500" b="1" dirty="0">
                <a:solidFill>
                  <a:srgbClr val="FFFFFF"/>
                </a:solidFill>
                <a:latin typeface="Arial" pitchFamily="34" charset="0"/>
                <a:ea typeface="Arial" pitchFamily="34" charset="-122"/>
                <a:cs typeface="Arial" pitchFamily="34" charset="-120"/>
              </a:rPr>
              <a:t>Proposed Board Resolution</a:t>
            </a:r>
            <a:endParaRPr lang="en-US" sz="1500" dirty="0"/>
          </a:p>
        </p:txBody>
      </p:sp>
      <p:sp>
        <p:nvSpPr>
          <p:cNvPr id="6" name="Text 3"/>
          <p:cNvSpPr/>
          <p:nvPr/>
        </p:nvSpPr>
        <p:spPr>
          <a:xfrm>
            <a:off x="938403" y="1772692"/>
            <a:ext cx="7267194" cy="600075"/>
          </a:xfrm>
          <a:prstGeom prst="rect">
            <a:avLst/>
          </a:prstGeom>
          <a:noFill/>
          <a:ln/>
        </p:spPr>
        <p:txBody>
          <a:bodyPr wrap="square" lIns="0" tIns="0" rIns="0" bIns="0" rtlCol="0" anchor="t"/>
          <a:lstStyle/>
          <a:p>
            <a:pPr marL="0" indent="0" algn="ctr">
              <a:lnSpc>
                <a:spcPts val="1575"/>
              </a:lnSpc>
              <a:spcAft>
                <a:spcPts val="1350"/>
              </a:spcAft>
              <a:buNone/>
            </a:pPr>
            <a:r>
              <a:rPr lang="en-US" sz="1050" dirty="0">
                <a:solidFill>
                  <a:srgbClr val="FFFFFF">
                    <a:alpha val="95000"/>
                  </a:srgbClr>
                </a:solidFill>
                <a:latin typeface="Arial" pitchFamily="34" charset="0"/>
                <a:ea typeface="Arial" pitchFamily="34" charset="-122"/>
                <a:cs typeface="Arial" pitchFamily="34" charset="-120"/>
              </a:rPr>
              <a:t>RESOLVED, that the Board of Directors hereby approves the closing of the acquisition of Maple Point Health by PBM Health on the terms set forth in the Definitive Merger Agreement and authorizes management to execute all closing documentation and fund the transaction.</a:t>
            </a:r>
            <a:endParaRPr lang="en-US" sz="1050" dirty="0"/>
          </a:p>
        </p:txBody>
      </p:sp>
      <p:sp>
        <p:nvSpPr>
          <p:cNvPr id="7" name="Text 4"/>
          <p:cNvSpPr/>
          <p:nvPr/>
        </p:nvSpPr>
        <p:spPr>
          <a:xfrm>
            <a:off x="2190750" y="2544217"/>
            <a:ext cx="4762500" cy="19050"/>
          </a:xfrm>
          <a:prstGeom prst="rect">
            <a:avLst/>
          </a:prstGeom>
          <a:solidFill>
            <a:srgbClr val="FFFFFF">
              <a:alpha val="30000"/>
            </a:srgbClr>
          </a:solidFill>
          <a:ln/>
        </p:spPr>
        <p:txBody>
          <a:bodyPr wrap="square" rtlCol="0" anchor="ctr"/>
          <a:lstStyle/>
          <a:p>
            <a:pPr marL="0" indent="0">
              <a:buNone/>
            </a:pPr>
            <a:endParaRPr lang="en-US" dirty="0"/>
          </a:p>
        </p:txBody>
      </p:sp>
      <p:sp>
        <p:nvSpPr>
          <p:cNvPr id="8" name="Text 5"/>
          <p:cNvSpPr/>
          <p:nvPr/>
        </p:nvSpPr>
        <p:spPr>
          <a:xfrm>
            <a:off x="938403" y="2715667"/>
            <a:ext cx="7267194" cy="161925"/>
          </a:xfrm>
          <a:prstGeom prst="rect">
            <a:avLst/>
          </a:prstGeom>
          <a:noFill/>
          <a:ln/>
        </p:spPr>
        <p:txBody>
          <a:bodyPr wrap="square" lIns="0" tIns="0" rIns="0" bIns="0" rtlCol="0" anchor="t"/>
          <a:lstStyle/>
          <a:p>
            <a:pPr marL="0" indent="0" algn="ctr">
              <a:spcAft>
                <a:spcPts val="750"/>
              </a:spcAft>
              <a:buNone/>
            </a:pPr>
            <a:r>
              <a:rPr lang="en-US" sz="1125" b="1" dirty="0">
                <a:solidFill>
                  <a:srgbClr val="FFFFFF"/>
                </a:solidFill>
                <a:latin typeface="Arial" pitchFamily="34" charset="0"/>
                <a:ea typeface="Arial" pitchFamily="34" charset="-122"/>
                <a:cs typeface="Arial" pitchFamily="34" charset="-120"/>
              </a:rPr>
              <a:t>Immediate Next Steps</a:t>
            </a:r>
            <a:endParaRPr lang="en-US" sz="1125" dirty="0"/>
          </a:p>
        </p:txBody>
      </p:sp>
      <p:sp>
        <p:nvSpPr>
          <p:cNvPr id="9" name="Text 6"/>
          <p:cNvSpPr/>
          <p:nvPr/>
        </p:nvSpPr>
        <p:spPr>
          <a:xfrm>
            <a:off x="2095500" y="2972842"/>
            <a:ext cx="4953000" cy="1638300"/>
          </a:xfrm>
          <a:prstGeom prst="rect">
            <a:avLst/>
          </a:prstGeom>
          <a:noFill/>
          <a:ln/>
        </p:spPr>
        <p:txBody>
          <a:bodyPr wrap="square" lIns="0" tIns="0" rIns="0" bIns="0" rtlCol="0" anchor="t"/>
          <a:lstStyle/>
          <a:p>
            <a:pPr marL="342900" indent="-342900" algn="l">
              <a:lnSpc>
                <a:spcPts val="2100"/>
              </a:lnSpc>
              <a:spcAft>
                <a:spcPts val="300"/>
              </a:spcAft>
              <a:buSzPct val="100000"/>
              <a:buChar char="•"/>
            </a:pPr>
            <a:r>
              <a:rPr lang="en-US" sz="1350" b="1" dirty="0">
                <a:solidFill>
                  <a:srgbClr val="FFFFFF">
                    <a:alpha val="90000"/>
                  </a:srgbClr>
                </a:solidFill>
                <a:latin typeface="Arial" pitchFamily="34" charset="0"/>
                <a:ea typeface="Arial" pitchFamily="34" charset="-122"/>
                <a:cs typeface="Arial" pitchFamily="34" charset="-120"/>
              </a:rPr>
              <a:t>1.</a:t>
            </a:r>
            <a:r>
              <a:rPr lang="en-US" sz="1350" dirty="0">
                <a:solidFill>
                  <a:srgbClr val="FFFFFF"/>
                </a:solidFill>
                <a:latin typeface="Arial" pitchFamily="34" charset="0"/>
                <a:ea typeface="Arial" pitchFamily="34" charset="-122"/>
                <a:cs typeface="Arial" pitchFamily="34" charset="-120"/>
              </a:rPr>
              <a:t> Execute closing certificates and ancillary agreements</a:t>
            </a:r>
            <a:endParaRPr lang="en-US" sz="1350" dirty="0"/>
          </a:p>
          <a:p>
            <a:pPr marL="342900" indent="-342900" algn="l">
              <a:lnSpc>
                <a:spcPts val="2100"/>
              </a:lnSpc>
              <a:spcAft>
                <a:spcPts val="300"/>
              </a:spcAft>
              <a:buSzPct val="100000"/>
              <a:buChar char="•"/>
            </a:pPr>
            <a:r>
              <a:rPr lang="en-US" sz="1350" b="1" dirty="0">
                <a:solidFill>
                  <a:srgbClr val="FFFFFF">
                    <a:alpha val="90000"/>
                  </a:srgbClr>
                </a:solidFill>
                <a:latin typeface="Arial" pitchFamily="34" charset="0"/>
                <a:ea typeface="Arial" pitchFamily="34" charset="-122"/>
                <a:cs typeface="Arial" pitchFamily="34" charset="-120"/>
              </a:rPr>
              <a:t>2.</a:t>
            </a:r>
            <a:r>
              <a:rPr lang="en-US" sz="1350" dirty="0">
                <a:solidFill>
                  <a:srgbClr val="FFFFFF"/>
                </a:solidFill>
                <a:latin typeface="Arial" pitchFamily="34" charset="0"/>
                <a:ea typeface="Arial" pitchFamily="34" charset="-122"/>
                <a:cs typeface="Arial" pitchFamily="34" charset="-120"/>
              </a:rPr>
              <a:t> Fund $10.6B purchase price via term loan and cash</a:t>
            </a:r>
            <a:endParaRPr lang="en-US" sz="1350" dirty="0"/>
          </a:p>
          <a:p>
            <a:pPr marL="342900" indent="-342900" algn="l">
              <a:lnSpc>
                <a:spcPts val="2100"/>
              </a:lnSpc>
              <a:spcAft>
                <a:spcPts val="300"/>
              </a:spcAft>
              <a:buSzPct val="100000"/>
              <a:buChar char="•"/>
            </a:pPr>
            <a:r>
              <a:rPr lang="en-US" sz="1350" b="1" dirty="0">
                <a:solidFill>
                  <a:srgbClr val="FFFFFF">
                    <a:alpha val="90000"/>
                  </a:srgbClr>
                </a:solidFill>
                <a:latin typeface="Arial" pitchFamily="34" charset="0"/>
                <a:ea typeface="Arial" pitchFamily="34" charset="-122"/>
                <a:cs typeface="Arial" pitchFamily="34" charset="-120"/>
              </a:rPr>
              <a:t>3.</a:t>
            </a:r>
            <a:r>
              <a:rPr lang="en-US" sz="1350" dirty="0">
                <a:solidFill>
                  <a:srgbClr val="FFFFFF"/>
                </a:solidFill>
                <a:latin typeface="Arial" pitchFamily="34" charset="0"/>
                <a:ea typeface="Arial" pitchFamily="34" charset="-122"/>
                <a:cs typeface="Arial" pitchFamily="34" charset="-120"/>
              </a:rPr>
              <a:t> File Hart-Scott-Rodino closing certification</a:t>
            </a:r>
            <a:endParaRPr lang="en-US" sz="1350" dirty="0"/>
          </a:p>
          <a:p>
            <a:pPr marL="342900" indent="-342900" algn="l">
              <a:lnSpc>
                <a:spcPts val="2100"/>
              </a:lnSpc>
              <a:spcAft>
                <a:spcPts val="300"/>
              </a:spcAft>
              <a:buSzPct val="100000"/>
              <a:buChar char="•"/>
            </a:pPr>
            <a:r>
              <a:rPr lang="en-US" sz="1350" b="1" dirty="0">
                <a:solidFill>
                  <a:srgbClr val="FFFFFF">
                    <a:alpha val="90000"/>
                  </a:srgbClr>
                </a:solidFill>
                <a:latin typeface="Arial" pitchFamily="34" charset="0"/>
                <a:ea typeface="Arial" pitchFamily="34" charset="-122"/>
                <a:cs typeface="Arial" pitchFamily="34" charset="-120"/>
              </a:rPr>
              <a:t>4.</a:t>
            </a:r>
            <a:r>
              <a:rPr lang="en-US" sz="1350" dirty="0">
                <a:solidFill>
                  <a:srgbClr val="FFFFFF"/>
                </a:solidFill>
                <a:latin typeface="Arial" pitchFamily="34" charset="0"/>
                <a:ea typeface="Arial" pitchFamily="34" charset="-122"/>
                <a:cs typeface="Arial" pitchFamily="34" charset="-120"/>
              </a:rPr>
              <a:t> Issue press release and employee communications</a:t>
            </a:r>
            <a:endParaRPr lang="en-US" sz="1350" dirty="0"/>
          </a:p>
          <a:p>
            <a:pPr marL="342900" indent="-342900" algn="l">
              <a:lnSpc>
                <a:spcPts val="2100"/>
              </a:lnSpc>
              <a:spcAft>
                <a:spcPts val="300"/>
              </a:spcAft>
              <a:buSzPct val="100000"/>
              <a:buChar char="•"/>
            </a:pPr>
            <a:r>
              <a:rPr lang="en-US" sz="1350" b="1" dirty="0">
                <a:solidFill>
                  <a:srgbClr val="FFFFFF">
                    <a:alpha val="90000"/>
                  </a:srgbClr>
                </a:solidFill>
                <a:latin typeface="Arial" pitchFamily="34" charset="0"/>
                <a:ea typeface="Arial" pitchFamily="34" charset="-122"/>
                <a:cs typeface="Arial" pitchFamily="34" charset="-120"/>
              </a:rPr>
              <a:t>5.</a:t>
            </a:r>
            <a:r>
              <a:rPr lang="en-US" sz="1350" dirty="0">
                <a:solidFill>
                  <a:srgbClr val="FFFFFF"/>
                </a:solidFill>
                <a:latin typeface="Arial" pitchFamily="34" charset="0"/>
                <a:ea typeface="Arial" pitchFamily="34" charset="-122"/>
                <a:cs typeface="Arial" pitchFamily="34" charset="-120"/>
              </a:rPr>
              <a:t> Activate Integration Management Office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1131</Words>
  <Application>Microsoft Office PowerPoint</Application>
  <PresentationFormat>On-screen Show (16:9)</PresentationFormat>
  <Paragraphs>165</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PBM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2025-11-13T16:12:55Z</dcterms:created>
  <dcterms:modified xsi:type="dcterms:W3CDTF">2025-11-14T22:36:05Z</dcterms:modified>
  <cp:keywords/>
  <dc:description/>
  <cp:category/>
  <cp:contentStatus/>
  <dc:identifier/>
  <cp:version>None</cp:version>
</cp:coreProperties>
</file>
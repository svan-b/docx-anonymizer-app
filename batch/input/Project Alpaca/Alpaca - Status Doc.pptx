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Arimo"/>
      <p:regular r:id="rId15"/>
      <p:bold r:id="rId16"/>
      <p:italic r:id="rId17"/>
      <p:boldItalic r:id="rId18"/>
    </p:embeddedFont>
    <p:embeddedFont>
      <p:font typeface="Arimo SemiBold"/>
      <p:regular r:id="rId19"/>
      <p:bold r:id="rId20"/>
      <p:italic r:id="rId21"/>
      <p:boldItalic r:id="rId22"/>
    </p:embeddedFont>
    <p:embeddedFont>
      <p:font typeface="Arimo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D54198-74DB-4955-B327-7FB9814FE38F}">
  <a:tblStyle styleId="{47D54198-74DB-4955-B327-7FB9814FE38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moSemiBold-bold.fntdata"/><Relationship Id="rId22" Type="http://schemas.openxmlformats.org/officeDocument/2006/relationships/font" Target="fonts/ArimoSemiBold-boldItalic.fntdata"/><Relationship Id="rId21" Type="http://schemas.openxmlformats.org/officeDocument/2006/relationships/font" Target="fonts/ArimoSemiBold-italic.fntdata"/><Relationship Id="rId24" Type="http://schemas.openxmlformats.org/officeDocument/2006/relationships/font" Target="fonts/ArimoMedium-bold.fntdata"/><Relationship Id="rId23" Type="http://schemas.openxmlformats.org/officeDocument/2006/relationships/font" Target="fonts/Arimo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rimoMedium-boldItalic.fntdata"/><Relationship Id="rId25" Type="http://schemas.openxmlformats.org/officeDocument/2006/relationships/font" Target="fonts/Arimo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Arimo-regular.fntdata"/><Relationship Id="rId14" Type="http://schemas.openxmlformats.org/officeDocument/2006/relationships/slide" Target="slides/slide8.xml"/><Relationship Id="rId17" Type="http://schemas.openxmlformats.org/officeDocument/2006/relationships/font" Target="fonts/Arimo-italic.fntdata"/><Relationship Id="rId16" Type="http://schemas.openxmlformats.org/officeDocument/2006/relationships/font" Target="fonts/Arimo-bold.fntdata"/><Relationship Id="rId19" Type="http://schemas.openxmlformats.org/officeDocument/2006/relationships/font" Target="fonts/ArimoSemiBold-regular.fntdata"/><Relationship Id="rId18" Type="http://schemas.openxmlformats.org/officeDocument/2006/relationships/font" Target="fonts/Arim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a21748b2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a21748b2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a21748b28e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a21748b28e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a21748b28e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a21748b28e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a21748b28e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a21748b28e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a25250c2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a25250c2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a25250c24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a25250c24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a25250c24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a25250c24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a25250c24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a25250c24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10" name="Google Shape;10;p2"/>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11" name="Google Shape;11;p2"/>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13" name="Google Shape;13;p2"/>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4" name="Google Shape;14;p2"/>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5" name="Google Shape;15;p2"/>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6" name="Google Shape;16;p2"/>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17" name="Shape 17"/>
        <p:cNvGrpSpPr/>
        <p:nvPr/>
      </p:nvGrpSpPr>
      <p:grpSpPr>
        <a:xfrm>
          <a:off x="0" y="0"/>
          <a:ext cx="0" cy="0"/>
          <a:chOff x="0" y="0"/>
          <a:chExt cx="0" cy="0"/>
        </a:xfrm>
      </p:grpSpPr>
      <p:grpSp>
        <p:nvGrpSpPr>
          <p:cNvPr id="18" name="Google Shape;18;p3"/>
          <p:cNvGrpSpPr/>
          <p:nvPr/>
        </p:nvGrpSpPr>
        <p:grpSpPr>
          <a:xfrm>
            <a:off x="277515" y="277501"/>
            <a:ext cx="8589075" cy="4593888"/>
            <a:chOff x="277500" y="277500"/>
            <a:chExt cx="8589075" cy="4593888"/>
          </a:xfrm>
        </p:grpSpPr>
        <p:pic>
          <p:nvPicPr>
            <p:cNvPr id="19" name="Google Shape;19;p3"/>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20" name="Google Shape;20;p3"/>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21" name="Google Shape;21;p3"/>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22" name="Google Shape;22;p3"/>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23" name="Google Shape;23;p3"/>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24" name="Google Shape;24;p3"/>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25" name="Google Shape;25;p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6" name="Google Shape;26;p3"/>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27" name="Shape 27"/>
        <p:cNvGrpSpPr/>
        <p:nvPr/>
      </p:nvGrpSpPr>
      <p:grpSpPr>
        <a:xfrm>
          <a:off x="0" y="0"/>
          <a:ext cx="0" cy="0"/>
          <a:chOff x="0" y="0"/>
          <a:chExt cx="0" cy="0"/>
        </a:xfrm>
      </p:grpSpPr>
      <p:sp>
        <p:nvSpPr>
          <p:cNvPr id="28" name="Google Shape;28;p4"/>
          <p:cNvSpPr/>
          <p:nvPr>
            <p:ph idx="2" type="pic"/>
          </p:nvPr>
        </p:nvSpPr>
        <p:spPr>
          <a:xfrm>
            <a:off x="277500" y="1963600"/>
            <a:ext cx="1333800" cy="1337100"/>
          </a:xfrm>
          <a:prstGeom prst="roundRect">
            <a:avLst>
              <a:gd fmla="val 14278" name="adj"/>
            </a:avLst>
          </a:prstGeom>
          <a:noFill/>
          <a:ln>
            <a:noFill/>
          </a:ln>
        </p:spPr>
      </p:sp>
      <p:sp>
        <p:nvSpPr>
          <p:cNvPr id="29" name="Google Shape;29;p4"/>
          <p:cNvSpPr/>
          <p:nvPr>
            <p:ph idx="3" type="pic"/>
          </p:nvPr>
        </p:nvSpPr>
        <p:spPr>
          <a:xfrm>
            <a:off x="1728225" y="1963600"/>
            <a:ext cx="1333800" cy="1337100"/>
          </a:xfrm>
          <a:prstGeom prst="roundRect">
            <a:avLst>
              <a:gd fmla="val 14278" name="adj"/>
            </a:avLst>
          </a:prstGeom>
          <a:noFill/>
          <a:ln>
            <a:noFill/>
          </a:ln>
        </p:spPr>
      </p:sp>
      <p:sp>
        <p:nvSpPr>
          <p:cNvPr id="30" name="Google Shape;30;p4"/>
          <p:cNvSpPr/>
          <p:nvPr>
            <p:ph idx="4" type="pic"/>
          </p:nvPr>
        </p:nvSpPr>
        <p:spPr>
          <a:xfrm>
            <a:off x="3179025" y="1963600"/>
            <a:ext cx="1333800" cy="1337100"/>
          </a:xfrm>
          <a:prstGeom prst="roundRect">
            <a:avLst>
              <a:gd fmla="val 14278" name="adj"/>
            </a:avLst>
          </a:prstGeom>
          <a:noFill/>
          <a:ln>
            <a:noFill/>
          </a:ln>
        </p:spPr>
      </p:sp>
      <p:sp>
        <p:nvSpPr>
          <p:cNvPr id="31" name="Google Shape;31;p4"/>
          <p:cNvSpPr/>
          <p:nvPr>
            <p:ph idx="5" type="pic"/>
          </p:nvPr>
        </p:nvSpPr>
        <p:spPr>
          <a:xfrm>
            <a:off x="4629825" y="1963600"/>
            <a:ext cx="1333800" cy="1337100"/>
          </a:xfrm>
          <a:prstGeom prst="roundRect">
            <a:avLst>
              <a:gd fmla="val 14278" name="adj"/>
            </a:avLst>
          </a:prstGeom>
          <a:noFill/>
          <a:ln>
            <a:noFill/>
          </a:ln>
        </p:spPr>
      </p:sp>
      <p:sp>
        <p:nvSpPr>
          <p:cNvPr id="32" name="Google Shape;32;p4"/>
          <p:cNvSpPr/>
          <p:nvPr>
            <p:ph idx="6" type="pic"/>
          </p:nvPr>
        </p:nvSpPr>
        <p:spPr>
          <a:xfrm>
            <a:off x="6080625" y="1963600"/>
            <a:ext cx="1333800" cy="1337100"/>
          </a:xfrm>
          <a:prstGeom prst="roundRect">
            <a:avLst>
              <a:gd fmla="val 14278" name="adj"/>
            </a:avLst>
          </a:prstGeom>
          <a:noFill/>
          <a:ln>
            <a:noFill/>
          </a:ln>
        </p:spPr>
      </p:sp>
      <p:sp>
        <p:nvSpPr>
          <p:cNvPr id="33" name="Google Shape;33;p4"/>
          <p:cNvSpPr/>
          <p:nvPr>
            <p:ph idx="7" type="pic"/>
          </p:nvPr>
        </p:nvSpPr>
        <p:spPr>
          <a:xfrm>
            <a:off x="7531425" y="1963600"/>
            <a:ext cx="1333800" cy="1337100"/>
          </a:xfrm>
          <a:prstGeom prst="roundRect">
            <a:avLst>
              <a:gd fmla="val 14278" name="adj"/>
            </a:avLst>
          </a:prstGeom>
          <a:noFill/>
          <a:ln>
            <a:noFill/>
          </a:ln>
        </p:spPr>
      </p:sp>
      <p:sp>
        <p:nvSpPr>
          <p:cNvPr id="34" name="Google Shape;34;p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5" name="Google Shape;35;p4"/>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36" name="Google Shape;36;p4"/>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7" name="Google Shape;37;p4"/>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8" name="Google Shape;38;p4"/>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 name="Google Shape;39;p4"/>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0" name="Google Shape;40;p4"/>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1" name="Google Shape;41;p4"/>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2" name="Google Shape;42;p4"/>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3" name="Google Shape;43;p4"/>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4" name="Google Shape;44;p4"/>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5" name="Google Shape;45;p4"/>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6" name="Google Shape;46;p4"/>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7" name="Google Shape;47;p4"/>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8" name="Google Shape;48;p4"/>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49" name="Google Shape;49;p4"/>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50" name="Shape 50"/>
        <p:cNvGrpSpPr/>
        <p:nvPr/>
      </p:nvGrpSpPr>
      <p:grpSpPr>
        <a:xfrm>
          <a:off x="0" y="0"/>
          <a:ext cx="0" cy="0"/>
          <a:chOff x="0" y="0"/>
          <a:chExt cx="0" cy="0"/>
        </a:xfrm>
      </p:grpSpPr>
      <p:sp>
        <p:nvSpPr>
          <p:cNvPr id="51" name="Google Shape;51;p5"/>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2" name="Google Shape;52;p5"/>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3" name="Google Shape;53;p5"/>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4" name="Google Shape;54;p5"/>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5" name="Google Shape;55;p5"/>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6" name="Google Shape;56;p5"/>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7" name="Google Shape;57;p5"/>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8" name="Google Shape;58;p5"/>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9" name="Google Shape;59;p5"/>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0" name="Google Shape;60;p5"/>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1" name="Google Shape;61;p5"/>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2" name="Google Shape;62;p5"/>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3" name="Google Shape;63;p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4" name="Google Shape;64;p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65" name="Shape 65"/>
        <p:cNvGrpSpPr/>
        <p:nvPr/>
      </p:nvGrpSpPr>
      <p:grpSpPr>
        <a:xfrm>
          <a:off x="0" y="0"/>
          <a:ext cx="0" cy="0"/>
          <a:chOff x="0" y="0"/>
          <a:chExt cx="0" cy="0"/>
        </a:xfrm>
      </p:grpSpPr>
      <p:sp>
        <p:nvSpPr>
          <p:cNvPr id="66" name="Google Shape;66;p6"/>
          <p:cNvSpPr/>
          <p:nvPr>
            <p:ph idx="2" type="pic"/>
          </p:nvPr>
        </p:nvSpPr>
        <p:spPr>
          <a:xfrm>
            <a:off x="0" y="0"/>
            <a:ext cx="9144000" cy="5143500"/>
          </a:xfrm>
          <a:prstGeom prst="rect">
            <a:avLst/>
          </a:prstGeom>
          <a:noFill/>
          <a:ln>
            <a:noFill/>
          </a:ln>
        </p:spPr>
      </p:sp>
      <p:sp>
        <p:nvSpPr>
          <p:cNvPr id="67" name="Google Shape;67;p6"/>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68" name="Google Shape;68;p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9" name="Google Shape;69;p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0" name="Google Shape;70;p6"/>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1" name="Google Shape;71;p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72" name="Shape 72"/>
        <p:cNvGrpSpPr/>
        <p:nvPr/>
      </p:nvGrpSpPr>
      <p:grpSpPr>
        <a:xfrm>
          <a:off x="0" y="0"/>
          <a:ext cx="0" cy="0"/>
          <a:chOff x="0" y="0"/>
          <a:chExt cx="0" cy="0"/>
        </a:xfrm>
      </p:grpSpPr>
      <p:sp>
        <p:nvSpPr>
          <p:cNvPr id="73" name="Google Shape;73;p7"/>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74" name="Google Shape;74;p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5" name="Google Shape;75;p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6" name="Google Shape;76;p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7" name="Google Shape;77;p7"/>
          <p:cNvSpPr/>
          <p:nvPr>
            <p:ph idx="3" type="pic"/>
          </p:nvPr>
        </p:nvSpPr>
        <p:spPr>
          <a:xfrm>
            <a:off x="3766700" y="873150"/>
            <a:ext cx="1621800" cy="3549600"/>
          </a:xfrm>
          <a:prstGeom prst="roundRect">
            <a:avLst>
              <a:gd fmla="val 10482" name="adj"/>
            </a:avLst>
          </a:prstGeom>
          <a:noFill/>
          <a:ln>
            <a:noFill/>
          </a:ln>
        </p:spPr>
      </p:sp>
      <p:sp>
        <p:nvSpPr>
          <p:cNvPr id="78" name="Google Shape;78;p7"/>
          <p:cNvSpPr/>
          <p:nvPr>
            <p:ph idx="4" type="pic"/>
          </p:nvPr>
        </p:nvSpPr>
        <p:spPr>
          <a:xfrm>
            <a:off x="289100" y="1324475"/>
            <a:ext cx="1563300" cy="2531100"/>
          </a:xfrm>
          <a:prstGeom prst="roundRect">
            <a:avLst>
              <a:gd fmla="val 11947" name="adj"/>
            </a:avLst>
          </a:prstGeom>
          <a:noFill/>
          <a:ln>
            <a:noFill/>
          </a:ln>
        </p:spPr>
      </p:sp>
      <p:sp>
        <p:nvSpPr>
          <p:cNvPr id="79" name="Google Shape;79;p7"/>
          <p:cNvSpPr/>
          <p:nvPr>
            <p:ph idx="5" type="pic"/>
          </p:nvPr>
        </p:nvSpPr>
        <p:spPr>
          <a:xfrm>
            <a:off x="1969400" y="1142650"/>
            <a:ext cx="1563300" cy="2531100"/>
          </a:xfrm>
          <a:prstGeom prst="roundRect">
            <a:avLst>
              <a:gd fmla="val 11947" name="adj"/>
            </a:avLst>
          </a:prstGeom>
          <a:noFill/>
          <a:ln>
            <a:noFill/>
          </a:ln>
        </p:spPr>
      </p:sp>
      <p:sp>
        <p:nvSpPr>
          <p:cNvPr id="80" name="Google Shape;80;p7"/>
          <p:cNvSpPr/>
          <p:nvPr>
            <p:ph idx="6" type="pic"/>
          </p:nvPr>
        </p:nvSpPr>
        <p:spPr>
          <a:xfrm>
            <a:off x="5623125" y="1142650"/>
            <a:ext cx="1563300" cy="2531100"/>
          </a:xfrm>
          <a:prstGeom prst="roundRect">
            <a:avLst>
              <a:gd fmla="val 11947" name="adj"/>
            </a:avLst>
          </a:prstGeom>
          <a:noFill/>
          <a:ln>
            <a:noFill/>
          </a:ln>
        </p:spPr>
      </p:sp>
      <p:sp>
        <p:nvSpPr>
          <p:cNvPr id="81" name="Google Shape;81;p7"/>
          <p:cNvSpPr/>
          <p:nvPr>
            <p:ph idx="7" type="pic"/>
          </p:nvPr>
        </p:nvSpPr>
        <p:spPr>
          <a:xfrm>
            <a:off x="7304050" y="1324475"/>
            <a:ext cx="1563300" cy="2531100"/>
          </a:xfrm>
          <a:prstGeom prst="roundRect">
            <a:avLst>
              <a:gd fmla="val 11947" name="adj"/>
            </a:avLst>
          </a:prstGeom>
          <a:noFill/>
          <a:ln>
            <a:noFill/>
          </a:ln>
        </p:spPr>
      </p:sp>
      <p:sp>
        <p:nvSpPr>
          <p:cNvPr id="82" name="Google Shape;82;p7"/>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3" name="Google Shape;83;p7"/>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4" name="Google Shape;84;p7"/>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5" name="Google Shape;85;p7"/>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6" name="Google Shape;86;p7"/>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7" name="Google Shape;87;p7"/>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8" name="Google Shape;88;p7"/>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9" name="Google Shape;89;p7"/>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90" name="Shape 90"/>
        <p:cNvGrpSpPr/>
        <p:nvPr/>
      </p:nvGrpSpPr>
      <p:grpSpPr>
        <a:xfrm>
          <a:off x="0" y="0"/>
          <a:ext cx="0" cy="0"/>
          <a:chOff x="0" y="0"/>
          <a:chExt cx="0" cy="0"/>
        </a:xfrm>
      </p:grpSpPr>
      <p:sp>
        <p:nvSpPr>
          <p:cNvPr id="91" name="Google Shape;91;p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92" name="Google Shape;92;p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3" name="Google Shape;93;p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4" name="Google Shape;94;p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95" name="Shape 95"/>
        <p:cNvGrpSpPr/>
        <p:nvPr/>
      </p:nvGrpSpPr>
      <p:grpSpPr>
        <a:xfrm>
          <a:off x="0" y="0"/>
          <a:ext cx="0" cy="0"/>
          <a:chOff x="0" y="0"/>
          <a:chExt cx="0" cy="0"/>
        </a:xfrm>
      </p:grpSpPr>
      <p:pic>
        <p:nvPicPr>
          <p:cNvPr id="96" name="Google Shape;96;p9"/>
          <p:cNvPicPr preferRelativeResize="0"/>
          <p:nvPr/>
        </p:nvPicPr>
        <p:blipFill rotWithShape="1">
          <a:blip r:embed="rId2">
            <a:alphaModFix amt="10000"/>
          </a:blip>
          <a:srcRect b="720" l="1068" r="19" t="592"/>
          <a:stretch/>
        </p:blipFill>
        <p:spPr>
          <a:xfrm>
            <a:off x="277425" y="277650"/>
            <a:ext cx="8588100" cy="4582500"/>
          </a:xfrm>
          <a:prstGeom prst="roundRect">
            <a:avLst>
              <a:gd fmla="val 13460" name="adj"/>
            </a:avLst>
          </a:prstGeom>
          <a:noFill/>
          <a:ln>
            <a:noFill/>
          </a:ln>
        </p:spPr>
      </p:pic>
      <p:sp>
        <p:nvSpPr>
          <p:cNvPr id="97" name="Google Shape;97;p9"/>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98" name="Google Shape;98;p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99" name="Shape 99"/>
        <p:cNvGrpSpPr/>
        <p:nvPr/>
      </p:nvGrpSpPr>
      <p:grpSpPr>
        <a:xfrm>
          <a:off x="0" y="0"/>
          <a:ext cx="0" cy="0"/>
          <a:chOff x="0" y="0"/>
          <a:chExt cx="0" cy="0"/>
        </a:xfrm>
      </p:grpSpPr>
      <p:sp>
        <p:nvSpPr>
          <p:cNvPr id="100" name="Google Shape;100;p10"/>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1" name="Google Shape;101;p10"/>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2" name="Google Shape;102;p10"/>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3" name="Google Shape;103;p10"/>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4" name="Google Shape;104;p10"/>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5" name="Google Shape;105;p10"/>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6" name="Google Shape;106;p1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07" name="Shape 107"/>
        <p:cNvGrpSpPr/>
        <p:nvPr/>
      </p:nvGrpSpPr>
      <p:grpSpPr>
        <a:xfrm>
          <a:off x="0" y="0"/>
          <a:ext cx="0" cy="0"/>
          <a:chOff x="0" y="0"/>
          <a:chExt cx="0" cy="0"/>
        </a:xfrm>
      </p:grpSpPr>
      <p:sp>
        <p:nvSpPr>
          <p:cNvPr id="108" name="Google Shape;108;p11"/>
          <p:cNvSpPr/>
          <p:nvPr>
            <p:ph idx="2" type="pic"/>
          </p:nvPr>
        </p:nvSpPr>
        <p:spPr>
          <a:xfrm>
            <a:off x="7480825" y="734600"/>
            <a:ext cx="1383900" cy="1660200"/>
          </a:xfrm>
          <a:prstGeom prst="roundRect">
            <a:avLst>
              <a:gd fmla="val 11646" name="adj"/>
            </a:avLst>
          </a:prstGeom>
          <a:noFill/>
          <a:ln>
            <a:noFill/>
          </a:ln>
        </p:spPr>
      </p:sp>
      <p:sp>
        <p:nvSpPr>
          <p:cNvPr id="109" name="Google Shape;109;p11"/>
          <p:cNvSpPr/>
          <p:nvPr>
            <p:ph idx="3" type="pic"/>
          </p:nvPr>
        </p:nvSpPr>
        <p:spPr>
          <a:xfrm>
            <a:off x="7480825" y="2521175"/>
            <a:ext cx="1383900" cy="1879200"/>
          </a:xfrm>
          <a:prstGeom prst="roundRect">
            <a:avLst>
              <a:gd fmla="val 11646" name="adj"/>
            </a:avLst>
          </a:prstGeom>
          <a:noFill/>
          <a:ln>
            <a:noFill/>
          </a:ln>
        </p:spPr>
      </p:sp>
      <p:sp>
        <p:nvSpPr>
          <p:cNvPr id="110" name="Google Shape;110;p11"/>
          <p:cNvSpPr/>
          <p:nvPr>
            <p:ph idx="4" type="pic"/>
          </p:nvPr>
        </p:nvSpPr>
        <p:spPr>
          <a:xfrm>
            <a:off x="4665550" y="850900"/>
            <a:ext cx="2589300" cy="3433200"/>
          </a:xfrm>
          <a:prstGeom prst="roundRect">
            <a:avLst>
              <a:gd fmla="val 6330" name="adj"/>
            </a:avLst>
          </a:prstGeom>
          <a:noFill/>
          <a:ln>
            <a:noFill/>
          </a:ln>
        </p:spPr>
      </p:sp>
      <p:sp>
        <p:nvSpPr>
          <p:cNvPr id="111" name="Google Shape;111;p11"/>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2" name="Google Shape;112;p11"/>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3" name="Google Shape;113;p1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4" name="Google Shape;114;p11"/>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5" name="Google Shape;115;p1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16" name="Shape 116"/>
        <p:cNvGrpSpPr/>
        <p:nvPr/>
      </p:nvGrpSpPr>
      <p:grpSpPr>
        <a:xfrm>
          <a:off x="0" y="0"/>
          <a:ext cx="0" cy="0"/>
          <a:chOff x="0" y="0"/>
          <a:chExt cx="0" cy="0"/>
        </a:xfrm>
      </p:grpSpPr>
      <p:sp>
        <p:nvSpPr>
          <p:cNvPr id="117" name="Google Shape;117;p12"/>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18" name="Google Shape;118;p12"/>
          <p:cNvSpPr/>
          <p:nvPr>
            <p:ph idx="2" type="pic"/>
          </p:nvPr>
        </p:nvSpPr>
        <p:spPr>
          <a:xfrm>
            <a:off x="6220309" y="696000"/>
            <a:ext cx="2532900" cy="3358800"/>
          </a:xfrm>
          <a:prstGeom prst="roundRect">
            <a:avLst>
              <a:gd fmla="val 7223" name="adj"/>
            </a:avLst>
          </a:prstGeom>
          <a:noFill/>
          <a:ln>
            <a:noFill/>
          </a:ln>
        </p:spPr>
      </p:sp>
      <p:sp>
        <p:nvSpPr>
          <p:cNvPr id="119" name="Google Shape;119;p12"/>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0" name="Google Shape;120;p12"/>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1" name="Google Shape;121;p12"/>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2" name="Google Shape;122;p12"/>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3" name="Google Shape;123;p1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24" name="Shape 124"/>
        <p:cNvGrpSpPr/>
        <p:nvPr/>
      </p:nvGrpSpPr>
      <p:grpSpPr>
        <a:xfrm>
          <a:off x="0" y="0"/>
          <a:ext cx="0" cy="0"/>
          <a:chOff x="0" y="0"/>
          <a:chExt cx="0" cy="0"/>
        </a:xfrm>
      </p:grpSpPr>
      <p:sp>
        <p:nvSpPr>
          <p:cNvPr id="125" name="Google Shape;125;p1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6" name="Google Shape;126;p13"/>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7" name="Google Shape;127;p1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8" name="Google Shape;128;p13"/>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9" name="Google Shape;129;p1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30" name="Shape 130"/>
        <p:cNvGrpSpPr/>
        <p:nvPr/>
      </p:nvGrpSpPr>
      <p:grpSpPr>
        <a:xfrm>
          <a:off x="0" y="0"/>
          <a:ext cx="0" cy="0"/>
          <a:chOff x="0" y="0"/>
          <a:chExt cx="0" cy="0"/>
        </a:xfrm>
      </p:grpSpPr>
      <p:sp>
        <p:nvSpPr>
          <p:cNvPr id="131" name="Google Shape;131;p1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2" name="Google Shape;132;p1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3" name="Google Shape;133;p14"/>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4" name="Google Shape;134;p1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35" name="Google Shape;135;p14"/>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6" name="Google Shape;136;p14"/>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7" name="Google Shape;137;p14"/>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8" name="Google Shape;138;p14"/>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39" name="Shape 139"/>
        <p:cNvGrpSpPr/>
        <p:nvPr/>
      </p:nvGrpSpPr>
      <p:grpSpPr>
        <a:xfrm>
          <a:off x="0" y="0"/>
          <a:ext cx="0" cy="0"/>
          <a:chOff x="0" y="0"/>
          <a:chExt cx="0" cy="0"/>
        </a:xfrm>
      </p:grpSpPr>
      <p:sp>
        <p:nvSpPr>
          <p:cNvPr id="140" name="Google Shape;140;p15"/>
          <p:cNvSpPr/>
          <p:nvPr>
            <p:ph idx="2" type="pic"/>
          </p:nvPr>
        </p:nvSpPr>
        <p:spPr>
          <a:xfrm>
            <a:off x="502800" y="2080575"/>
            <a:ext cx="603600" cy="603600"/>
          </a:xfrm>
          <a:prstGeom prst="ellipse">
            <a:avLst/>
          </a:prstGeom>
          <a:noFill/>
          <a:ln>
            <a:noFill/>
          </a:ln>
        </p:spPr>
      </p:sp>
      <p:sp>
        <p:nvSpPr>
          <p:cNvPr id="141" name="Google Shape;141;p15"/>
          <p:cNvSpPr/>
          <p:nvPr>
            <p:ph idx="3" type="pic"/>
          </p:nvPr>
        </p:nvSpPr>
        <p:spPr>
          <a:xfrm>
            <a:off x="6334750" y="2080575"/>
            <a:ext cx="603600" cy="603600"/>
          </a:xfrm>
          <a:prstGeom prst="ellipse">
            <a:avLst/>
          </a:prstGeom>
          <a:noFill/>
          <a:ln>
            <a:noFill/>
          </a:ln>
        </p:spPr>
      </p:sp>
      <p:sp>
        <p:nvSpPr>
          <p:cNvPr id="142" name="Google Shape;142;p15"/>
          <p:cNvSpPr/>
          <p:nvPr>
            <p:ph idx="4" type="pic"/>
          </p:nvPr>
        </p:nvSpPr>
        <p:spPr>
          <a:xfrm>
            <a:off x="3418775" y="2080550"/>
            <a:ext cx="603600" cy="603600"/>
          </a:xfrm>
          <a:prstGeom prst="ellipse">
            <a:avLst/>
          </a:prstGeom>
          <a:noFill/>
          <a:ln>
            <a:noFill/>
          </a:ln>
        </p:spPr>
      </p:sp>
      <p:sp>
        <p:nvSpPr>
          <p:cNvPr id="143" name="Google Shape;143;p1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44" name="Google Shape;144;p1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5" name="Google Shape;145;p15"/>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6" name="Google Shape;146;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47" name="Google Shape;147;p15"/>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8" name="Google Shape;148;p15"/>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15"/>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50" name="Google Shape;150;p15"/>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1" name="Google Shape;151;p15"/>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2" name="Google Shape;152;p15"/>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53" name="Shape 153"/>
        <p:cNvGrpSpPr/>
        <p:nvPr/>
      </p:nvGrpSpPr>
      <p:grpSpPr>
        <a:xfrm>
          <a:off x="0" y="0"/>
          <a:ext cx="0" cy="0"/>
          <a:chOff x="0" y="0"/>
          <a:chExt cx="0" cy="0"/>
        </a:xfrm>
      </p:grpSpPr>
      <p:sp>
        <p:nvSpPr>
          <p:cNvPr id="154" name="Google Shape;154;p16"/>
          <p:cNvSpPr/>
          <p:nvPr>
            <p:ph idx="2" type="pic"/>
          </p:nvPr>
        </p:nvSpPr>
        <p:spPr>
          <a:xfrm>
            <a:off x="4644850" y="1299225"/>
            <a:ext cx="1037700" cy="1056300"/>
          </a:xfrm>
          <a:prstGeom prst="roundRect">
            <a:avLst>
              <a:gd fmla="val 12807" name="adj"/>
            </a:avLst>
          </a:prstGeom>
          <a:noFill/>
          <a:ln>
            <a:noFill/>
          </a:ln>
        </p:spPr>
      </p:sp>
      <p:sp>
        <p:nvSpPr>
          <p:cNvPr id="155" name="Google Shape;155;p16"/>
          <p:cNvSpPr/>
          <p:nvPr>
            <p:ph idx="3" type="pic"/>
          </p:nvPr>
        </p:nvSpPr>
        <p:spPr>
          <a:xfrm>
            <a:off x="4644850" y="3642825"/>
            <a:ext cx="1037700" cy="1056300"/>
          </a:xfrm>
          <a:prstGeom prst="roundRect">
            <a:avLst>
              <a:gd fmla="val 12807" name="adj"/>
            </a:avLst>
          </a:prstGeom>
          <a:noFill/>
          <a:ln>
            <a:noFill/>
          </a:ln>
        </p:spPr>
      </p:sp>
      <p:sp>
        <p:nvSpPr>
          <p:cNvPr id="156" name="Google Shape;156;p16"/>
          <p:cNvSpPr/>
          <p:nvPr>
            <p:ph idx="4" type="pic"/>
          </p:nvPr>
        </p:nvSpPr>
        <p:spPr>
          <a:xfrm>
            <a:off x="7828875" y="2471025"/>
            <a:ext cx="1037700" cy="1056300"/>
          </a:xfrm>
          <a:prstGeom prst="roundRect">
            <a:avLst>
              <a:gd fmla="val 12807" name="adj"/>
            </a:avLst>
          </a:prstGeom>
          <a:noFill/>
          <a:ln>
            <a:noFill/>
          </a:ln>
        </p:spPr>
      </p:sp>
      <p:sp>
        <p:nvSpPr>
          <p:cNvPr id="157" name="Google Shape;157;p16"/>
          <p:cNvSpPr/>
          <p:nvPr>
            <p:ph idx="5" type="pic"/>
          </p:nvPr>
        </p:nvSpPr>
        <p:spPr>
          <a:xfrm>
            <a:off x="373175" y="1147525"/>
            <a:ext cx="3579900" cy="3607500"/>
          </a:xfrm>
          <a:prstGeom prst="roundRect">
            <a:avLst>
              <a:gd fmla="val 11548" name="adj"/>
            </a:avLst>
          </a:prstGeom>
          <a:noFill/>
          <a:ln>
            <a:noFill/>
          </a:ln>
        </p:spPr>
      </p:sp>
      <p:sp>
        <p:nvSpPr>
          <p:cNvPr id="158" name="Google Shape;158;p16"/>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59" name="Google Shape;159;p1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16"/>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1" name="Google Shape;161;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62" name="Google Shape;162;p16"/>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3" name="Google Shape;163;p16"/>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4" name="Google Shape;164;p16"/>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5" name="Google Shape;165;p16"/>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6" name="Google Shape;166;p16"/>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7" name="Google Shape;167;p16"/>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168" name="Shape 168"/>
        <p:cNvGrpSpPr/>
        <p:nvPr/>
      </p:nvGrpSpPr>
      <p:grpSpPr>
        <a:xfrm>
          <a:off x="0" y="0"/>
          <a:ext cx="0" cy="0"/>
          <a:chOff x="0" y="0"/>
          <a:chExt cx="0" cy="0"/>
        </a:xfrm>
      </p:grpSpPr>
      <p:sp>
        <p:nvSpPr>
          <p:cNvPr id="169" name="Google Shape;169;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0" name="Google Shape;170;p1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1" name="Google Shape;171;p1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2" name="Google Shape;172;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73" name="Google Shape;173;p17"/>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4" name="Google Shape;174;p17"/>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5" name="Google Shape;175;p17"/>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6" name="Google Shape;176;p17"/>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7" name="Google Shape;177;p17"/>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8" name="Google Shape;178;p17"/>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9" name="Google Shape;179;p17"/>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80" name="Google Shape;180;p17"/>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181" name="Shape 181"/>
        <p:cNvGrpSpPr/>
        <p:nvPr/>
      </p:nvGrpSpPr>
      <p:grpSpPr>
        <a:xfrm>
          <a:off x="0" y="0"/>
          <a:ext cx="0" cy="0"/>
          <a:chOff x="0" y="0"/>
          <a:chExt cx="0" cy="0"/>
        </a:xfrm>
      </p:grpSpPr>
      <p:sp>
        <p:nvSpPr>
          <p:cNvPr id="182" name="Google Shape;182;p18"/>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83" name="Google Shape;183;p18"/>
          <p:cNvSpPr/>
          <p:nvPr>
            <p:ph idx="2" type="pic"/>
          </p:nvPr>
        </p:nvSpPr>
        <p:spPr>
          <a:xfrm>
            <a:off x="392100" y="411300"/>
            <a:ext cx="4297500" cy="4333200"/>
          </a:xfrm>
          <a:prstGeom prst="roundRect">
            <a:avLst>
              <a:gd fmla="val 12298" name="adj"/>
            </a:avLst>
          </a:prstGeom>
          <a:noFill/>
          <a:ln>
            <a:noFill/>
          </a:ln>
        </p:spPr>
      </p:sp>
      <p:sp>
        <p:nvSpPr>
          <p:cNvPr id="184" name="Google Shape;184;p18"/>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85" name="Google Shape;185;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186" name="Shape 186"/>
        <p:cNvGrpSpPr/>
        <p:nvPr/>
      </p:nvGrpSpPr>
      <p:grpSpPr>
        <a:xfrm>
          <a:off x="0" y="0"/>
          <a:ext cx="0" cy="0"/>
          <a:chOff x="0" y="0"/>
          <a:chExt cx="0" cy="0"/>
        </a:xfrm>
      </p:grpSpPr>
      <p:sp>
        <p:nvSpPr>
          <p:cNvPr id="187" name="Google Shape;187;p19"/>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88" name="Google Shape;188;p19"/>
          <p:cNvSpPr/>
          <p:nvPr>
            <p:ph idx="2" type="pic"/>
          </p:nvPr>
        </p:nvSpPr>
        <p:spPr>
          <a:xfrm>
            <a:off x="289100" y="1685250"/>
            <a:ext cx="1751100" cy="1773000"/>
          </a:xfrm>
          <a:prstGeom prst="roundRect">
            <a:avLst>
              <a:gd fmla="val 11894" name="adj"/>
            </a:avLst>
          </a:prstGeom>
          <a:noFill/>
          <a:ln>
            <a:noFill/>
          </a:ln>
        </p:spPr>
      </p:sp>
      <p:sp>
        <p:nvSpPr>
          <p:cNvPr id="189" name="Google Shape;189;p19"/>
          <p:cNvSpPr/>
          <p:nvPr>
            <p:ph idx="3" type="pic"/>
          </p:nvPr>
        </p:nvSpPr>
        <p:spPr>
          <a:xfrm>
            <a:off x="2152200" y="1685250"/>
            <a:ext cx="1751100" cy="1773000"/>
          </a:xfrm>
          <a:prstGeom prst="roundRect">
            <a:avLst>
              <a:gd fmla="val 11894" name="adj"/>
            </a:avLst>
          </a:prstGeom>
          <a:noFill/>
          <a:ln>
            <a:noFill/>
          </a:ln>
        </p:spPr>
      </p:sp>
      <p:sp>
        <p:nvSpPr>
          <p:cNvPr id="190" name="Google Shape;190;p19"/>
          <p:cNvSpPr/>
          <p:nvPr>
            <p:ph idx="4" type="pic"/>
          </p:nvPr>
        </p:nvSpPr>
        <p:spPr>
          <a:xfrm>
            <a:off x="4015300" y="1685250"/>
            <a:ext cx="1751100" cy="1773000"/>
          </a:xfrm>
          <a:prstGeom prst="roundRect">
            <a:avLst>
              <a:gd fmla="val 11894" name="adj"/>
            </a:avLst>
          </a:prstGeom>
          <a:noFill/>
          <a:ln>
            <a:noFill/>
          </a:ln>
        </p:spPr>
      </p:sp>
      <p:sp>
        <p:nvSpPr>
          <p:cNvPr id="191" name="Google Shape;191;p19"/>
          <p:cNvSpPr/>
          <p:nvPr>
            <p:ph idx="5" type="pic"/>
          </p:nvPr>
        </p:nvSpPr>
        <p:spPr>
          <a:xfrm>
            <a:off x="5866250" y="1685250"/>
            <a:ext cx="1751100" cy="1773000"/>
          </a:xfrm>
          <a:prstGeom prst="roundRect">
            <a:avLst>
              <a:gd fmla="val 11894" name="adj"/>
            </a:avLst>
          </a:prstGeom>
          <a:noFill/>
          <a:ln>
            <a:noFill/>
          </a:ln>
        </p:spPr>
      </p:sp>
      <p:sp>
        <p:nvSpPr>
          <p:cNvPr id="192" name="Google Shape;192;p19"/>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193" name="Google Shape;193;p19"/>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4" name="Google Shape;194;p19"/>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5" name="Google Shape;195;p19"/>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6" name="Google Shape;196;p19"/>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7" name="Google Shape;197;p19"/>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8" name="Google Shape;198;p19"/>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9" name="Google Shape;199;p1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0" name="Google Shape;200;p19"/>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1" name="Google Shape;201;p19"/>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2" name="Google Shape;202;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03" name="Shape 203"/>
        <p:cNvGrpSpPr/>
        <p:nvPr/>
      </p:nvGrpSpPr>
      <p:grpSpPr>
        <a:xfrm>
          <a:off x="0" y="0"/>
          <a:ext cx="0" cy="0"/>
          <a:chOff x="0" y="0"/>
          <a:chExt cx="0" cy="0"/>
        </a:xfrm>
      </p:grpSpPr>
      <p:sp>
        <p:nvSpPr>
          <p:cNvPr id="204" name="Google Shape;204;p20"/>
          <p:cNvSpPr/>
          <p:nvPr>
            <p:ph idx="2" type="pic"/>
          </p:nvPr>
        </p:nvSpPr>
        <p:spPr>
          <a:xfrm>
            <a:off x="392100" y="411300"/>
            <a:ext cx="4915800" cy="4333200"/>
          </a:xfrm>
          <a:prstGeom prst="roundRect">
            <a:avLst>
              <a:gd fmla="val 11160" name="adj"/>
            </a:avLst>
          </a:prstGeom>
          <a:noFill/>
          <a:ln>
            <a:noFill/>
          </a:ln>
        </p:spPr>
      </p:sp>
      <p:sp>
        <p:nvSpPr>
          <p:cNvPr id="205" name="Google Shape;205;p20"/>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6" name="Google Shape;206;p20"/>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7" name="Google Shape;207;p2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8" name="Google Shape;208;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09" name="Shape 209"/>
        <p:cNvGrpSpPr/>
        <p:nvPr/>
      </p:nvGrpSpPr>
      <p:grpSpPr>
        <a:xfrm>
          <a:off x="0" y="0"/>
          <a:ext cx="0" cy="0"/>
          <a:chOff x="0" y="0"/>
          <a:chExt cx="0" cy="0"/>
        </a:xfrm>
      </p:grpSpPr>
      <p:sp>
        <p:nvSpPr>
          <p:cNvPr id="210" name="Google Shape;210;p21"/>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1" name="Google Shape;211;p21"/>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2" name="Google Shape;212;p21"/>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13" name="Google Shape;213;p21"/>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14" name="Google Shape;214;p21"/>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15" name="Google Shape;215;p21"/>
          <p:cNvSpPr/>
          <p:nvPr>
            <p:ph idx="2" type="pic"/>
          </p:nvPr>
        </p:nvSpPr>
        <p:spPr>
          <a:xfrm>
            <a:off x="3910200" y="3408075"/>
            <a:ext cx="3486300" cy="1447800"/>
          </a:xfrm>
          <a:prstGeom prst="roundRect">
            <a:avLst>
              <a:gd fmla="val 16397" name="adj"/>
            </a:avLst>
          </a:prstGeom>
          <a:noFill/>
          <a:ln>
            <a:noFill/>
          </a:ln>
        </p:spPr>
      </p:sp>
      <p:sp>
        <p:nvSpPr>
          <p:cNvPr id="216" name="Google Shape;216;p21"/>
          <p:cNvSpPr/>
          <p:nvPr>
            <p:ph idx="3" type="pic"/>
          </p:nvPr>
        </p:nvSpPr>
        <p:spPr>
          <a:xfrm>
            <a:off x="277500" y="277500"/>
            <a:ext cx="2765700" cy="3013800"/>
          </a:xfrm>
          <a:prstGeom prst="roundRect">
            <a:avLst>
              <a:gd fmla="val 8721" name="adj"/>
            </a:avLst>
          </a:prstGeom>
          <a:noFill/>
          <a:ln>
            <a:noFill/>
          </a:ln>
        </p:spPr>
      </p:sp>
      <p:sp>
        <p:nvSpPr>
          <p:cNvPr id="217" name="Google Shape;217;p21"/>
          <p:cNvSpPr/>
          <p:nvPr>
            <p:ph idx="4" type="pic"/>
          </p:nvPr>
        </p:nvSpPr>
        <p:spPr>
          <a:xfrm>
            <a:off x="3161225" y="277500"/>
            <a:ext cx="1350600" cy="1447800"/>
          </a:xfrm>
          <a:prstGeom prst="roundRect">
            <a:avLst>
              <a:gd fmla="val 15267" name="adj"/>
            </a:avLst>
          </a:prstGeom>
          <a:noFill/>
          <a:ln>
            <a:noFill/>
          </a:ln>
        </p:spPr>
      </p:sp>
      <p:sp>
        <p:nvSpPr>
          <p:cNvPr id="218" name="Google Shape;218;p21"/>
          <p:cNvSpPr/>
          <p:nvPr>
            <p:ph idx="5" type="pic"/>
          </p:nvPr>
        </p:nvSpPr>
        <p:spPr>
          <a:xfrm>
            <a:off x="6883575" y="399550"/>
            <a:ext cx="1866000" cy="2775000"/>
          </a:xfrm>
          <a:prstGeom prst="roundRect">
            <a:avLst>
              <a:gd fmla="val 9097" name="adj"/>
            </a:avLst>
          </a:prstGeom>
          <a:noFill/>
          <a:ln>
            <a:noFill/>
          </a:ln>
        </p:spPr>
      </p:sp>
      <p:sp>
        <p:nvSpPr>
          <p:cNvPr id="219" name="Google Shape;219;p21"/>
          <p:cNvSpPr/>
          <p:nvPr>
            <p:ph idx="6" type="pic"/>
          </p:nvPr>
        </p:nvSpPr>
        <p:spPr>
          <a:xfrm>
            <a:off x="7516025" y="3407700"/>
            <a:ext cx="1350600" cy="1447800"/>
          </a:xfrm>
          <a:prstGeom prst="roundRect">
            <a:avLst>
              <a:gd fmla="val 16397" name="adj"/>
            </a:avLst>
          </a:prstGeom>
          <a:noFill/>
          <a:ln>
            <a:noFill/>
          </a:ln>
        </p:spPr>
      </p:sp>
      <p:sp>
        <p:nvSpPr>
          <p:cNvPr id="220" name="Google Shape;220;p21"/>
          <p:cNvSpPr/>
          <p:nvPr>
            <p:ph idx="7" type="pic"/>
          </p:nvPr>
        </p:nvSpPr>
        <p:spPr>
          <a:xfrm>
            <a:off x="394425" y="3528475"/>
            <a:ext cx="3279600" cy="1218900"/>
          </a:xfrm>
          <a:prstGeom prst="roundRect">
            <a:avLst>
              <a:gd fmla="val 11412" name="adj"/>
            </a:avLst>
          </a:prstGeom>
          <a:noFill/>
          <a:ln>
            <a:noFill/>
          </a:ln>
        </p:spPr>
      </p:sp>
      <p:sp>
        <p:nvSpPr>
          <p:cNvPr id="221" name="Google Shape;221;p21"/>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22" name="Google Shape;222;p21"/>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23" name="Google Shape;223;p21"/>
          <p:cNvCxnSpPr>
            <a:stCxn id="221" idx="1"/>
            <a:endCxn id="221"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24" name="Google Shape;224;p21"/>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25" name="Google Shape;225;p21"/>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26" name="Google Shape;226;p21"/>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27" name="Google Shape;227;p21"/>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28" name="Google Shape;228;p21"/>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29" name="Google Shape;229;p21"/>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30" name="Google Shape;230;p21"/>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1" name="Google Shape;231;p21"/>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2" name="Google Shape;232;p21"/>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3" name="Google Shape;233;p21"/>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4" name="Google Shape;234;p21"/>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35" name="Google Shape;235;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36" name="Google Shape;236;p21"/>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37" name="Shape 237"/>
        <p:cNvGrpSpPr/>
        <p:nvPr/>
      </p:nvGrpSpPr>
      <p:grpSpPr>
        <a:xfrm>
          <a:off x="0" y="0"/>
          <a:ext cx="0" cy="0"/>
          <a:chOff x="0" y="0"/>
          <a:chExt cx="0" cy="0"/>
        </a:xfrm>
      </p:grpSpPr>
      <p:sp>
        <p:nvSpPr>
          <p:cNvPr id="238" name="Google Shape;238;p22"/>
          <p:cNvSpPr/>
          <p:nvPr>
            <p:ph idx="2" type="pic"/>
          </p:nvPr>
        </p:nvSpPr>
        <p:spPr>
          <a:xfrm>
            <a:off x="2021325" y="1854425"/>
            <a:ext cx="1679100" cy="3013800"/>
          </a:xfrm>
          <a:prstGeom prst="roundRect">
            <a:avLst>
              <a:gd fmla="val 13643" name="adj"/>
            </a:avLst>
          </a:prstGeom>
          <a:noFill/>
          <a:ln>
            <a:noFill/>
          </a:ln>
        </p:spPr>
      </p:sp>
      <p:sp>
        <p:nvSpPr>
          <p:cNvPr id="239" name="Google Shape;239;p22"/>
          <p:cNvSpPr/>
          <p:nvPr>
            <p:ph idx="3" type="pic"/>
          </p:nvPr>
        </p:nvSpPr>
        <p:spPr>
          <a:xfrm>
            <a:off x="5444400" y="1854425"/>
            <a:ext cx="1679100" cy="3013800"/>
          </a:xfrm>
          <a:prstGeom prst="roundRect">
            <a:avLst>
              <a:gd fmla="val 13643" name="adj"/>
            </a:avLst>
          </a:prstGeom>
          <a:noFill/>
          <a:ln>
            <a:noFill/>
          </a:ln>
        </p:spPr>
      </p:sp>
      <p:sp>
        <p:nvSpPr>
          <p:cNvPr id="240" name="Google Shape;240;p22"/>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22"/>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2" name="Google Shape;242;p22"/>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22"/>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4" name="Google Shape;244;p22"/>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22"/>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22"/>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8" name="Shape 248"/>
        <p:cNvGrpSpPr/>
        <p:nvPr/>
      </p:nvGrpSpPr>
      <p:grpSpPr>
        <a:xfrm>
          <a:off x="0" y="0"/>
          <a:ext cx="0" cy="0"/>
          <a:chOff x="0" y="0"/>
          <a:chExt cx="0" cy="0"/>
        </a:xfrm>
      </p:grpSpPr>
      <p:sp>
        <p:nvSpPr>
          <p:cNvPr id="249" name="Google Shape;249;p23"/>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50" name="Google Shape;250;p23"/>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51" name="Shape 251"/>
        <p:cNvGrpSpPr/>
        <p:nvPr/>
      </p:nvGrpSpPr>
      <p:grpSpPr>
        <a:xfrm>
          <a:off x="0" y="0"/>
          <a:ext cx="0" cy="0"/>
          <a:chOff x="0" y="0"/>
          <a:chExt cx="0" cy="0"/>
        </a:xfrm>
      </p:grpSpPr>
      <p:sp>
        <p:nvSpPr>
          <p:cNvPr id="252" name="Google Shape;252;p24"/>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53" name="Shape 253"/>
        <p:cNvGrpSpPr/>
        <p:nvPr/>
      </p:nvGrpSpPr>
      <p:grpSpPr>
        <a:xfrm>
          <a:off x="0" y="0"/>
          <a:ext cx="0" cy="0"/>
          <a:chOff x="0" y="0"/>
          <a:chExt cx="0" cy="0"/>
        </a:xfrm>
      </p:grpSpPr>
      <p:sp>
        <p:nvSpPr>
          <p:cNvPr id="254" name="Google Shape;254;p2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5" name="Google Shape;255;p25"/>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56" name="Shape 256"/>
        <p:cNvGrpSpPr/>
        <p:nvPr/>
      </p:nvGrpSpPr>
      <p:grpSpPr>
        <a:xfrm>
          <a:off x="0" y="0"/>
          <a:ext cx="0" cy="0"/>
          <a:chOff x="0" y="0"/>
          <a:chExt cx="0" cy="0"/>
        </a:xfrm>
      </p:grpSpPr>
      <p:sp>
        <p:nvSpPr>
          <p:cNvPr id="257" name="Google Shape;257;p26"/>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8" name="Google Shape;258;p26"/>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9" name="Google Shape;259;p26"/>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64" name="Google Shape;264;p28"/>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65" name="Shape 265"/>
        <p:cNvGrpSpPr/>
        <p:nvPr/>
      </p:nvGrpSpPr>
      <p:grpSpPr>
        <a:xfrm>
          <a:off x="0" y="0"/>
          <a:ext cx="0" cy="0"/>
          <a:chOff x="0" y="0"/>
          <a:chExt cx="0" cy="0"/>
        </a:xfrm>
      </p:grpSpPr>
      <p:sp>
        <p:nvSpPr>
          <p:cNvPr id="266" name="Google Shape;266;p29"/>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67" name="Shape 267"/>
        <p:cNvGrpSpPr/>
        <p:nvPr/>
      </p:nvGrpSpPr>
      <p:grpSpPr>
        <a:xfrm>
          <a:off x="0" y="0"/>
          <a:ext cx="0" cy="0"/>
          <a:chOff x="0" y="0"/>
          <a:chExt cx="0" cy="0"/>
        </a:xfrm>
      </p:grpSpPr>
      <p:sp>
        <p:nvSpPr>
          <p:cNvPr id="268" name="Google Shape;268;p30"/>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69" name="Google Shape;269;p30"/>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0" name="Google Shape;270;p30"/>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71" name="Shape 271"/>
        <p:cNvGrpSpPr/>
        <p:nvPr/>
      </p:nvGrpSpPr>
      <p:grpSpPr>
        <a:xfrm>
          <a:off x="0" y="0"/>
          <a:ext cx="0" cy="0"/>
          <a:chOff x="0" y="0"/>
          <a:chExt cx="0" cy="0"/>
        </a:xfrm>
      </p:grpSpPr>
      <p:sp>
        <p:nvSpPr>
          <p:cNvPr id="272" name="Google Shape;272;p31"/>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73" name="Shape 273"/>
        <p:cNvGrpSpPr/>
        <p:nvPr/>
      </p:nvGrpSpPr>
      <p:grpSpPr>
        <a:xfrm>
          <a:off x="0" y="0"/>
          <a:ext cx="0" cy="0"/>
          <a:chOff x="0" y="0"/>
          <a:chExt cx="0" cy="0"/>
        </a:xfrm>
      </p:grpSpPr>
      <p:sp>
        <p:nvSpPr>
          <p:cNvPr id="274" name="Google Shape;274;p32"/>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75" name="Google Shape;275;p32"/>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6" name="Shape 276"/>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77" name="Shape 277"/>
        <p:cNvGrpSpPr/>
        <p:nvPr/>
      </p:nvGrpSpPr>
      <p:grpSpPr>
        <a:xfrm>
          <a:off x="0" y="0"/>
          <a:ext cx="0" cy="0"/>
          <a:chOff x="0" y="0"/>
          <a:chExt cx="0" cy="0"/>
        </a:xfrm>
      </p:grpSpPr>
      <p:sp>
        <p:nvSpPr>
          <p:cNvPr id="278" name="Google Shape;278;p34"/>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4"/>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0" name="Google Shape;280;p34"/>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34"/>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2" name="Google Shape;282;p34"/>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3" name="Google Shape;283;p34"/>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4" name="Google Shape;284;p34"/>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7" name="Google Shape;287;p35"/>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8" name="Google Shape;288;p3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89" name="Shape 289"/>
        <p:cNvGrpSpPr/>
        <p:nvPr/>
      </p:nvGrpSpPr>
      <p:grpSpPr>
        <a:xfrm>
          <a:off x="0" y="0"/>
          <a:ext cx="0" cy="0"/>
          <a:chOff x="0" y="0"/>
          <a:chExt cx="0" cy="0"/>
        </a:xfrm>
      </p:grpSpPr>
      <p:sp>
        <p:nvSpPr>
          <p:cNvPr id="290" name="Google Shape;290;p36"/>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1" name="Google Shape;291;p36"/>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36"/>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3" name="Google Shape;293;p36"/>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4" name="Google Shape;294;p36"/>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95" name="Shape 295"/>
        <p:cNvGrpSpPr/>
        <p:nvPr/>
      </p:nvGrpSpPr>
      <p:grpSpPr>
        <a:xfrm>
          <a:off x="0" y="0"/>
          <a:ext cx="0" cy="0"/>
          <a:chOff x="0" y="0"/>
          <a:chExt cx="0" cy="0"/>
        </a:xfrm>
      </p:grpSpPr>
      <p:sp>
        <p:nvSpPr>
          <p:cNvPr id="296" name="Google Shape;296;p37"/>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7"/>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8" name="Google Shape;298;p37"/>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9" name="Google Shape;299;p37"/>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0" name="Google Shape;300;p37"/>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1" name="Google Shape;301;p37"/>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2" name="Google Shape;302;p37"/>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03" name="Shape 303"/>
        <p:cNvGrpSpPr/>
        <p:nvPr/>
      </p:nvGrpSpPr>
      <p:grpSpPr>
        <a:xfrm>
          <a:off x="0" y="0"/>
          <a:ext cx="0" cy="0"/>
          <a:chOff x="0" y="0"/>
          <a:chExt cx="0" cy="0"/>
        </a:xfrm>
      </p:grpSpPr>
      <p:sp>
        <p:nvSpPr>
          <p:cNvPr id="304" name="Google Shape;304;p38"/>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5" name="Google Shape;305;p38"/>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38"/>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38"/>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8" name="Google Shape;308;p38"/>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9" name="Google Shape;309;p38"/>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38"/>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38"/>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2" name="Google Shape;312;p38"/>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5" name="Google Shape;315;p3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16" name="Shape 316"/>
        <p:cNvGrpSpPr/>
        <p:nvPr/>
      </p:nvGrpSpPr>
      <p:grpSpPr>
        <a:xfrm>
          <a:off x="0" y="0"/>
          <a:ext cx="0" cy="0"/>
          <a:chOff x="0" y="0"/>
          <a:chExt cx="0" cy="0"/>
        </a:xfrm>
      </p:grpSpPr>
      <p:sp>
        <p:nvSpPr>
          <p:cNvPr id="317" name="Google Shape;317;p40"/>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8" name="Google Shape;318;p40"/>
          <p:cNvSpPr/>
          <p:nvPr>
            <p:ph idx="2" type="pic"/>
          </p:nvPr>
        </p:nvSpPr>
        <p:spPr>
          <a:xfrm>
            <a:off x="4804825" y="1133300"/>
            <a:ext cx="4027500" cy="2392800"/>
          </a:xfrm>
          <a:prstGeom prst="rect">
            <a:avLst/>
          </a:prstGeom>
          <a:noFill/>
          <a:ln>
            <a:noFill/>
          </a:ln>
        </p:spPr>
      </p:sp>
      <p:sp>
        <p:nvSpPr>
          <p:cNvPr id="319" name="Google Shape;319;p40"/>
          <p:cNvSpPr/>
          <p:nvPr>
            <p:ph idx="3" type="pic"/>
          </p:nvPr>
        </p:nvSpPr>
        <p:spPr>
          <a:xfrm>
            <a:off x="311725" y="1133300"/>
            <a:ext cx="4027500" cy="2392800"/>
          </a:xfrm>
          <a:prstGeom prst="rect">
            <a:avLst/>
          </a:prstGeom>
          <a:noFill/>
          <a:ln>
            <a:noFill/>
          </a:ln>
        </p:spPr>
      </p:sp>
      <p:sp>
        <p:nvSpPr>
          <p:cNvPr id="320" name="Google Shape;320;p40"/>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1" name="Google Shape;321;p4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22" name="Google Shape;322;p40"/>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3" name="Google Shape;323;p40"/>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24" name="Shape 324"/>
        <p:cNvGrpSpPr/>
        <p:nvPr/>
      </p:nvGrpSpPr>
      <p:grpSpPr>
        <a:xfrm>
          <a:off x="0" y="0"/>
          <a:ext cx="0" cy="0"/>
          <a:chOff x="0" y="0"/>
          <a:chExt cx="0" cy="0"/>
        </a:xfrm>
      </p:grpSpPr>
      <p:sp>
        <p:nvSpPr>
          <p:cNvPr id="325" name="Google Shape;325;p41"/>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6" name="Google Shape;326;p41"/>
          <p:cNvSpPr/>
          <p:nvPr>
            <p:ph idx="2" type="pic"/>
          </p:nvPr>
        </p:nvSpPr>
        <p:spPr>
          <a:xfrm>
            <a:off x="6205225" y="1128325"/>
            <a:ext cx="2627100" cy="2273100"/>
          </a:xfrm>
          <a:prstGeom prst="rect">
            <a:avLst/>
          </a:prstGeom>
          <a:noFill/>
          <a:ln>
            <a:noFill/>
          </a:ln>
        </p:spPr>
      </p:sp>
      <p:sp>
        <p:nvSpPr>
          <p:cNvPr id="327" name="Google Shape;327;p41"/>
          <p:cNvSpPr/>
          <p:nvPr>
            <p:ph idx="3" type="pic"/>
          </p:nvPr>
        </p:nvSpPr>
        <p:spPr>
          <a:xfrm>
            <a:off x="311725" y="1128325"/>
            <a:ext cx="2627100" cy="2273100"/>
          </a:xfrm>
          <a:prstGeom prst="rect">
            <a:avLst/>
          </a:prstGeom>
          <a:noFill/>
          <a:ln>
            <a:noFill/>
          </a:ln>
        </p:spPr>
      </p:sp>
      <p:sp>
        <p:nvSpPr>
          <p:cNvPr id="328" name="Google Shape;328;p41"/>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9" name="Google Shape;329;p41"/>
          <p:cNvSpPr/>
          <p:nvPr>
            <p:ph idx="5" type="pic"/>
          </p:nvPr>
        </p:nvSpPr>
        <p:spPr>
          <a:xfrm>
            <a:off x="3255250" y="1128325"/>
            <a:ext cx="2627100" cy="2273100"/>
          </a:xfrm>
          <a:prstGeom prst="rect">
            <a:avLst/>
          </a:prstGeom>
          <a:noFill/>
          <a:ln>
            <a:noFill/>
          </a:ln>
        </p:spPr>
      </p:sp>
      <p:sp>
        <p:nvSpPr>
          <p:cNvPr id="330" name="Google Shape;330;p41"/>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1" name="Google Shape;331;p4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1"/>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3" name="Google Shape;333;p41"/>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4" name="Google Shape;334;p41"/>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35" name="Shape 335"/>
        <p:cNvGrpSpPr/>
        <p:nvPr/>
      </p:nvGrpSpPr>
      <p:grpSpPr>
        <a:xfrm>
          <a:off x="0" y="0"/>
          <a:ext cx="0" cy="0"/>
          <a:chOff x="0" y="0"/>
          <a:chExt cx="0" cy="0"/>
        </a:xfrm>
      </p:grpSpPr>
      <p:sp>
        <p:nvSpPr>
          <p:cNvPr id="336" name="Google Shape;336;p4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37" name="Shape 337"/>
        <p:cNvGrpSpPr/>
        <p:nvPr/>
      </p:nvGrpSpPr>
      <p:grpSpPr>
        <a:xfrm>
          <a:off x="0" y="0"/>
          <a:ext cx="0" cy="0"/>
          <a:chOff x="0" y="0"/>
          <a:chExt cx="0" cy="0"/>
        </a:xfrm>
      </p:grpSpPr>
      <p:sp>
        <p:nvSpPr>
          <p:cNvPr id="338" name="Google Shape;338;p43"/>
          <p:cNvSpPr/>
          <p:nvPr>
            <p:ph idx="2" type="pic"/>
          </p:nvPr>
        </p:nvSpPr>
        <p:spPr>
          <a:xfrm>
            <a:off x="3389600" y="118913"/>
            <a:ext cx="1643700" cy="1535100"/>
          </a:xfrm>
          <a:prstGeom prst="rect">
            <a:avLst/>
          </a:prstGeom>
          <a:noFill/>
          <a:ln>
            <a:noFill/>
          </a:ln>
        </p:spPr>
      </p:sp>
      <p:sp>
        <p:nvSpPr>
          <p:cNvPr id="339" name="Google Shape;339;p43"/>
          <p:cNvSpPr/>
          <p:nvPr>
            <p:ph idx="3" type="pic"/>
          </p:nvPr>
        </p:nvSpPr>
        <p:spPr>
          <a:xfrm>
            <a:off x="5195935" y="118913"/>
            <a:ext cx="1643700" cy="1535100"/>
          </a:xfrm>
          <a:prstGeom prst="rect">
            <a:avLst/>
          </a:prstGeom>
          <a:noFill/>
          <a:ln>
            <a:noFill/>
          </a:ln>
        </p:spPr>
      </p:sp>
      <p:sp>
        <p:nvSpPr>
          <p:cNvPr id="340" name="Google Shape;340;p43"/>
          <p:cNvSpPr/>
          <p:nvPr>
            <p:ph idx="4" type="pic"/>
          </p:nvPr>
        </p:nvSpPr>
        <p:spPr>
          <a:xfrm>
            <a:off x="7002270" y="118913"/>
            <a:ext cx="1643700" cy="1535100"/>
          </a:xfrm>
          <a:prstGeom prst="rect">
            <a:avLst/>
          </a:prstGeom>
          <a:noFill/>
          <a:ln>
            <a:noFill/>
          </a:ln>
        </p:spPr>
      </p:sp>
      <p:sp>
        <p:nvSpPr>
          <p:cNvPr id="341" name="Google Shape;341;p43"/>
          <p:cNvSpPr/>
          <p:nvPr>
            <p:ph idx="5" type="pic"/>
          </p:nvPr>
        </p:nvSpPr>
        <p:spPr>
          <a:xfrm>
            <a:off x="3389588" y="1804212"/>
            <a:ext cx="1643700" cy="1535100"/>
          </a:xfrm>
          <a:prstGeom prst="rect">
            <a:avLst/>
          </a:prstGeom>
          <a:noFill/>
          <a:ln>
            <a:noFill/>
          </a:ln>
        </p:spPr>
      </p:sp>
      <p:sp>
        <p:nvSpPr>
          <p:cNvPr id="342" name="Google Shape;342;p43"/>
          <p:cNvSpPr/>
          <p:nvPr>
            <p:ph idx="6" type="pic"/>
          </p:nvPr>
        </p:nvSpPr>
        <p:spPr>
          <a:xfrm>
            <a:off x="5195922" y="1804212"/>
            <a:ext cx="1643700" cy="1535100"/>
          </a:xfrm>
          <a:prstGeom prst="rect">
            <a:avLst/>
          </a:prstGeom>
          <a:noFill/>
          <a:ln>
            <a:noFill/>
          </a:ln>
        </p:spPr>
      </p:sp>
      <p:sp>
        <p:nvSpPr>
          <p:cNvPr id="343" name="Google Shape;343;p43"/>
          <p:cNvSpPr/>
          <p:nvPr>
            <p:ph idx="7" type="pic"/>
          </p:nvPr>
        </p:nvSpPr>
        <p:spPr>
          <a:xfrm>
            <a:off x="7002257" y="1804212"/>
            <a:ext cx="1643700" cy="1535100"/>
          </a:xfrm>
          <a:prstGeom prst="rect">
            <a:avLst/>
          </a:prstGeom>
          <a:noFill/>
          <a:ln>
            <a:noFill/>
          </a:ln>
        </p:spPr>
      </p:sp>
      <p:sp>
        <p:nvSpPr>
          <p:cNvPr id="344" name="Google Shape;344;p43"/>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5" name="Google Shape;345;p43"/>
          <p:cNvSpPr/>
          <p:nvPr>
            <p:ph idx="8" type="pic"/>
          </p:nvPr>
        </p:nvSpPr>
        <p:spPr>
          <a:xfrm>
            <a:off x="3389588" y="3489487"/>
            <a:ext cx="1643700" cy="1535100"/>
          </a:xfrm>
          <a:prstGeom prst="rect">
            <a:avLst/>
          </a:prstGeom>
          <a:noFill/>
          <a:ln>
            <a:noFill/>
          </a:ln>
        </p:spPr>
      </p:sp>
      <p:sp>
        <p:nvSpPr>
          <p:cNvPr id="346" name="Google Shape;346;p43"/>
          <p:cNvSpPr/>
          <p:nvPr>
            <p:ph idx="9" type="pic"/>
          </p:nvPr>
        </p:nvSpPr>
        <p:spPr>
          <a:xfrm>
            <a:off x="5195922" y="3489487"/>
            <a:ext cx="1643700" cy="1535100"/>
          </a:xfrm>
          <a:prstGeom prst="rect">
            <a:avLst/>
          </a:prstGeom>
          <a:noFill/>
          <a:ln>
            <a:noFill/>
          </a:ln>
        </p:spPr>
      </p:sp>
      <p:sp>
        <p:nvSpPr>
          <p:cNvPr id="347" name="Google Shape;347;p4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2.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7" name="Google Shape;7;p1"/>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4"/>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Alpaca</a:t>
            </a:r>
            <a:endParaRPr/>
          </a:p>
        </p:txBody>
      </p:sp>
      <p:sp>
        <p:nvSpPr>
          <p:cNvPr id="353" name="Google Shape;353;p44"/>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17-Nov-2025</a:t>
            </a:r>
            <a:endParaRPr/>
          </a:p>
        </p:txBody>
      </p:sp>
      <p:sp>
        <p:nvSpPr>
          <p:cNvPr id="354" name="Google Shape;354;p44"/>
          <p:cNvSpPr txBox="1"/>
          <p:nvPr>
            <p:ph type="title"/>
          </p:nvPr>
        </p:nvSpPr>
        <p:spPr>
          <a:xfrm>
            <a:off x="795525" y="2323100"/>
            <a:ext cx="7866300" cy="1453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300"/>
              <a:t>Alpaca - Past Info Memo</a:t>
            </a:r>
            <a:br>
              <a:rPr lang="en" sz="1000"/>
            </a:br>
            <a:br>
              <a:rPr lang="en" sz="1000"/>
            </a:br>
            <a:r>
              <a:rPr i="1" lang="en" sz="1400"/>
              <a:t>Secured Debt (USD &amp; EUR-denominated tranches) advice from a Real Dec-2012 Deal</a:t>
            </a:r>
            <a:endParaRPr i="1" sz="1400"/>
          </a:p>
          <a:p>
            <a:pPr indent="0" lvl="0" marL="0" rtl="0" algn="l">
              <a:spcBef>
                <a:spcPts val="0"/>
              </a:spcBef>
              <a:spcAft>
                <a:spcPts val="0"/>
              </a:spcAft>
              <a:buNone/>
            </a:pPr>
            <a:r>
              <a:t/>
            </a:r>
            <a:endParaRPr i="1"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txBox="1"/>
          <p:nvPr/>
        </p:nvSpPr>
        <p:spPr>
          <a:xfrm>
            <a:off x="172327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Deal Announcement</a:t>
            </a:r>
            <a:r>
              <a:rPr lang="en" sz="1100">
                <a:solidFill>
                  <a:schemeClr val="dk1"/>
                </a:solidFill>
                <a:latin typeface="Arimo"/>
                <a:ea typeface="Arimo"/>
                <a:cs typeface="Arimo"/>
                <a:sym typeface="Arimo"/>
              </a:rPr>
              <a:t>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lang="en" sz="700">
                <a:solidFill>
                  <a:schemeClr val="dk1"/>
                </a:solidFill>
                <a:latin typeface="Arimo"/>
                <a:ea typeface="Arimo"/>
                <a:cs typeface="Arimo"/>
                <a:sym typeface="Arimo"/>
              </a:rPr>
              <a:t>Goldman Stanley &amp; Swiss Bank are bookrunners on the deal</a:t>
            </a:r>
            <a:endParaRPr sz="700">
              <a:solidFill>
                <a:schemeClr val="dk1"/>
              </a:solidFill>
              <a:latin typeface="Arimo"/>
              <a:ea typeface="Arimo"/>
              <a:cs typeface="Arimo"/>
              <a:sym typeface="Arimo"/>
            </a:endParaRPr>
          </a:p>
        </p:txBody>
      </p:sp>
      <p:sp>
        <p:nvSpPr>
          <p:cNvPr id="360" name="Google Shape;360;p45"/>
          <p:cNvSpPr txBox="1"/>
          <p:nvPr/>
        </p:nvSpPr>
        <p:spPr>
          <a:xfrm>
            <a:off x="460520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Secured Bond in 2 tranches: $1,750m &amp; €250m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lang="en" sz="700">
                <a:solidFill>
                  <a:schemeClr val="dk1"/>
                </a:solidFill>
                <a:latin typeface="Arimo"/>
                <a:ea typeface="Arimo"/>
                <a:cs typeface="Arimo"/>
                <a:sym typeface="Arimo"/>
              </a:rPr>
              <a:t>Deal is upsized and closes on 30-Jan-2013</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p:txBody>
      </p:sp>
      <p:sp>
        <p:nvSpPr>
          <p:cNvPr id="361" name="Google Shape;361;p45"/>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A short history of the Information Memorandum found on scribd</a:t>
            </a:r>
            <a:endParaRPr sz="2000"/>
          </a:p>
        </p:txBody>
      </p:sp>
      <p:sp>
        <p:nvSpPr>
          <p:cNvPr id="362" name="Google Shape;362;p45"/>
          <p:cNvSpPr txBox="1"/>
          <p:nvPr/>
        </p:nvSpPr>
        <p:spPr>
          <a:xfrm>
            <a:off x="28230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Alpaca files 20-F for FY 2011</a:t>
            </a:r>
            <a:endParaRPr sz="1100">
              <a:solidFill>
                <a:schemeClr val="dk1"/>
              </a:solidFill>
              <a:latin typeface="Arimo"/>
              <a:ea typeface="Arimo"/>
              <a:cs typeface="Arimo"/>
              <a:sym typeface="Arimo"/>
            </a:endParaRPr>
          </a:p>
          <a:p>
            <a:pPr indent="0" lvl="0" marL="0" rtl="0" algn="l">
              <a:spcBef>
                <a:spcPts val="0"/>
              </a:spcBef>
              <a:spcAft>
                <a:spcPts val="0"/>
              </a:spcAft>
              <a:buNone/>
            </a:pPr>
            <a:r>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rPr lang="en" sz="700">
                <a:solidFill>
                  <a:schemeClr val="dk1"/>
                </a:solidFill>
                <a:latin typeface="Arimo"/>
                <a:ea typeface="Arimo"/>
                <a:cs typeface="Arimo"/>
                <a:sym typeface="Arimo"/>
              </a:rPr>
              <a:t>No later 20-F needed in the VDR, as the deal was in Dec-2012</a:t>
            </a:r>
            <a:endParaRPr sz="700">
              <a:solidFill>
                <a:schemeClr val="dk1"/>
              </a:solidFill>
              <a:latin typeface="Arimo"/>
              <a:ea typeface="Arimo"/>
              <a:cs typeface="Arimo"/>
              <a:sym typeface="Arimo"/>
            </a:endParaRPr>
          </a:p>
        </p:txBody>
      </p:sp>
      <p:cxnSp>
        <p:nvCxnSpPr>
          <p:cNvPr descr="A timeline stretching across several years. " id="363" name="Google Shape;363;p45"/>
          <p:cNvCxnSpPr/>
          <p:nvPr/>
        </p:nvCxnSpPr>
        <p:spPr>
          <a:xfrm>
            <a:off x="282300" y="2869750"/>
            <a:ext cx="8579400" cy="0"/>
          </a:xfrm>
          <a:prstGeom prst="straightConnector1">
            <a:avLst/>
          </a:prstGeom>
          <a:noFill/>
          <a:ln cap="flat" cmpd="sng" w="9525">
            <a:solidFill>
              <a:schemeClr val="dk1"/>
            </a:solidFill>
            <a:prstDash val="solid"/>
            <a:round/>
            <a:headEnd len="med" w="med" type="oval"/>
            <a:tailEnd len="med" w="med" type="oval"/>
          </a:ln>
        </p:spPr>
      </p:cxnSp>
      <p:cxnSp>
        <p:nvCxnSpPr>
          <p:cNvPr id="364" name="Google Shape;364;p45"/>
          <p:cNvCxnSpPr/>
          <p:nvPr/>
        </p:nvCxnSpPr>
        <p:spPr>
          <a:xfrm>
            <a:off x="9699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5" name="Google Shape;365;p45"/>
          <p:cNvCxnSpPr/>
          <p:nvPr/>
        </p:nvCxnSpPr>
        <p:spPr>
          <a:xfrm>
            <a:off x="24100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6" name="Google Shape;366;p45"/>
          <p:cNvCxnSpPr/>
          <p:nvPr/>
        </p:nvCxnSpPr>
        <p:spPr>
          <a:xfrm>
            <a:off x="38500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7" name="Google Shape;367;p45"/>
          <p:cNvCxnSpPr/>
          <p:nvPr/>
        </p:nvCxnSpPr>
        <p:spPr>
          <a:xfrm>
            <a:off x="52901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8" name="Google Shape;368;p45"/>
          <p:cNvCxnSpPr/>
          <p:nvPr/>
        </p:nvCxnSpPr>
        <p:spPr>
          <a:xfrm>
            <a:off x="67301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369" name="Google Shape;369;p45"/>
          <p:cNvCxnSpPr/>
          <p:nvPr/>
        </p:nvCxnSpPr>
        <p:spPr>
          <a:xfrm>
            <a:off x="8170249" y="2419900"/>
            <a:ext cx="0" cy="421500"/>
          </a:xfrm>
          <a:prstGeom prst="straightConnector1">
            <a:avLst/>
          </a:prstGeom>
          <a:noFill/>
          <a:ln cap="flat" cmpd="sng" w="9525">
            <a:solidFill>
              <a:schemeClr val="dk1"/>
            </a:solidFill>
            <a:prstDash val="solid"/>
            <a:round/>
            <a:headEnd len="med" w="med" type="none"/>
            <a:tailEnd len="med" w="med" type="none"/>
          </a:ln>
        </p:spPr>
      </p:cxnSp>
      <p:sp>
        <p:nvSpPr>
          <p:cNvPr id="370" name="Google Shape;370;p45"/>
          <p:cNvSpPr/>
          <p:nvPr/>
        </p:nvSpPr>
        <p:spPr>
          <a:xfrm>
            <a:off x="617425" y="2093402"/>
            <a:ext cx="8961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21-Mar-2012</a:t>
            </a:r>
            <a:endParaRPr sz="800">
              <a:solidFill>
                <a:schemeClr val="dk1"/>
              </a:solidFill>
              <a:latin typeface="Arimo"/>
              <a:ea typeface="Arimo"/>
              <a:cs typeface="Arimo"/>
              <a:sym typeface="Arimo"/>
            </a:endParaRPr>
          </a:p>
        </p:txBody>
      </p:sp>
      <p:sp>
        <p:nvSpPr>
          <p:cNvPr id="371" name="Google Shape;371;p45"/>
          <p:cNvSpPr/>
          <p:nvPr/>
        </p:nvSpPr>
        <p:spPr>
          <a:xfrm>
            <a:off x="2057475" y="2093500"/>
            <a:ext cx="8961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14-Dec-2012</a:t>
            </a:r>
            <a:endParaRPr sz="800">
              <a:solidFill>
                <a:schemeClr val="dk1"/>
              </a:solidFill>
              <a:latin typeface="Arimo"/>
              <a:ea typeface="Arimo"/>
              <a:cs typeface="Arimo"/>
              <a:sym typeface="Arimo"/>
            </a:endParaRPr>
          </a:p>
        </p:txBody>
      </p:sp>
      <p:sp>
        <p:nvSpPr>
          <p:cNvPr id="372" name="Google Shape;372;p45"/>
          <p:cNvSpPr/>
          <p:nvPr/>
        </p:nvSpPr>
        <p:spPr>
          <a:xfrm>
            <a:off x="3497525" y="2093500"/>
            <a:ext cx="8961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21-Dec-2012</a:t>
            </a:r>
            <a:endParaRPr sz="800">
              <a:solidFill>
                <a:schemeClr val="dk1"/>
              </a:solidFill>
              <a:latin typeface="Arimo"/>
              <a:ea typeface="Arimo"/>
              <a:cs typeface="Arimo"/>
              <a:sym typeface="Arimo"/>
            </a:endParaRPr>
          </a:p>
        </p:txBody>
      </p:sp>
      <p:sp>
        <p:nvSpPr>
          <p:cNvPr id="373" name="Google Shape;373;p45"/>
          <p:cNvSpPr/>
          <p:nvPr/>
        </p:nvSpPr>
        <p:spPr>
          <a:xfrm>
            <a:off x="4937575" y="2093500"/>
            <a:ext cx="8961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30-Jan-2013</a:t>
            </a:r>
            <a:endParaRPr sz="800">
              <a:solidFill>
                <a:schemeClr val="dk1"/>
              </a:solidFill>
              <a:latin typeface="Arimo"/>
              <a:ea typeface="Arimo"/>
              <a:cs typeface="Arimo"/>
              <a:sym typeface="Arimo"/>
            </a:endParaRPr>
          </a:p>
        </p:txBody>
      </p:sp>
      <p:sp>
        <p:nvSpPr>
          <p:cNvPr id="374" name="Google Shape;374;p45"/>
          <p:cNvSpPr/>
          <p:nvPr/>
        </p:nvSpPr>
        <p:spPr>
          <a:xfrm>
            <a:off x="6377625" y="2093500"/>
            <a:ext cx="858600" cy="3264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Acquisition</a:t>
            </a:r>
            <a:endParaRPr sz="800">
              <a:solidFill>
                <a:schemeClr val="dk1"/>
              </a:solidFill>
              <a:latin typeface="Arimo"/>
              <a:ea typeface="Arimo"/>
              <a:cs typeface="Arimo"/>
              <a:sym typeface="Arimo"/>
            </a:endParaRPr>
          </a:p>
        </p:txBody>
      </p:sp>
      <p:sp>
        <p:nvSpPr>
          <p:cNvPr id="375" name="Google Shape;375;p45"/>
          <p:cNvSpPr/>
          <p:nvPr/>
        </p:nvSpPr>
        <p:spPr>
          <a:xfrm>
            <a:off x="7810849" y="2175400"/>
            <a:ext cx="718800" cy="244500"/>
          </a:xfrm>
          <a:prstGeom prst="roundRect">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Arimo"/>
                <a:ea typeface="Arimo"/>
                <a:cs typeface="Arimo"/>
                <a:sym typeface="Arimo"/>
              </a:rPr>
              <a:t>Today</a:t>
            </a:r>
            <a:endParaRPr sz="800">
              <a:solidFill>
                <a:schemeClr val="lt2"/>
              </a:solidFill>
              <a:latin typeface="Arimo"/>
              <a:ea typeface="Arimo"/>
              <a:cs typeface="Arimo"/>
              <a:sym typeface="Arimo"/>
            </a:endParaRPr>
          </a:p>
        </p:txBody>
      </p:sp>
      <p:sp>
        <p:nvSpPr>
          <p:cNvPr id="376" name="Google Shape;376;p45"/>
          <p:cNvSpPr/>
          <p:nvPr/>
        </p:nvSpPr>
        <p:spPr>
          <a:xfrm>
            <a:off x="9399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377" name="Google Shape;377;p45"/>
          <p:cNvSpPr/>
          <p:nvPr/>
        </p:nvSpPr>
        <p:spPr>
          <a:xfrm>
            <a:off x="23800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378" name="Google Shape;378;p45"/>
          <p:cNvSpPr/>
          <p:nvPr/>
        </p:nvSpPr>
        <p:spPr>
          <a:xfrm>
            <a:off x="38200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379" name="Google Shape;379;p45"/>
          <p:cNvSpPr/>
          <p:nvPr/>
        </p:nvSpPr>
        <p:spPr>
          <a:xfrm>
            <a:off x="52601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380" name="Google Shape;380;p45"/>
          <p:cNvSpPr/>
          <p:nvPr/>
        </p:nvSpPr>
        <p:spPr>
          <a:xfrm>
            <a:off x="67001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381" name="Google Shape;381;p45"/>
          <p:cNvSpPr/>
          <p:nvPr/>
        </p:nvSpPr>
        <p:spPr>
          <a:xfrm>
            <a:off x="81402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382" name="Google Shape;382;p4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Alpaca</a:t>
            </a:r>
            <a:endParaRPr/>
          </a:p>
          <a:p>
            <a:pPr indent="0" lvl="0" marL="0" rtl="0" algn="l">
              <a:spcBef>
                <a:spcPts val="0"/>
              </a:spcBef>
              <a:spcAft>
                <a:spcPts val="0"/>
              </a:spcAft>
              <a:buNone/>
            </a:pPr>
            <a:r>
              <a:t/>
            </a:r>
            <a:endParaRPr/>
          </a:p>
        </p:txBody>
      </p:sp>
      <p:sp>
        <p:nvSpPr>
          <p:cNvPr id="383" name="Google Shape;383;p45"/>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
        <p:nvSpPr>
          <p:cNvPr id="384" name="Google Shape;384;p4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85" name="Google Shape;385;p45"/>
          <p:cNvSpPr txBox="1"/>
          <p:nvPr/>
        </p:nvSpPr>
        <p:spPr>
          <a:xfrm>
            <a:off x="748712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Alpaca is now part of a larger European company </a:t>
            </a:r>
            <a:endParaRPr i="1"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700">
                <a:solidFill>
                  <a:schemeClr val="dk1"/>
                </a:solidFill>
                <a:latin typeface="Arimo"/>
                <a:ea typeface="Arimo"/>
                <a:cs typeface="Arimo"/>
                <a:sym typeface="Arimo"/>
              </a:rPr>
              <a:t>Today’s company has a very different profile (company &gt; $30bn market cap)</a:t>
            </a:r>
            <a:endParaRPr sz="700">
              <a:solidFill>
                <a:schemeClr val="dk1"/>
              </a:solidFill>
              <a:latin typeface="Arimo"/>
              <a:ea typeface="Arimo"/>
              <a:cs typeface="Arimo"/>
              <a:sym typeface="Arimo"/>
            </a:endParaRPr>
          </a:p>
        </p:txBody>
      </p:sp>
      <p:sp>
        <p:nvSpPr>
          <p:cNvPr id="386" name="Google Shape;386;p45"/>
          <p:cNvSpPr txBox="1"/>
          <p:nvPr/>
        </p:nvSpPr>
        <p:spPr>
          <a:xfrm>
            <a:off x="6046150" y="3176350"/>
            <a:ext cx="1385400" cy="15735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Acquired in 2015</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700">
                <a:solidFill>
                  <a:schemeClr val="dk1"/>
                </a:solidFill>
                <a:latin typeface="Arimo"/>
                <a:ea typeface="Arimo"/>
                <a:cs typeface="Arimo"/>
                <a:sym typeface="Arimo"/>
              </a:rPr>
              <a:t>The debt deal was overall good for investors, as the company got acquired, which de-risked the initial investment ex post and triggered an upgrade to BB+. Early repayment of the secured debt took place in Jun-2014 via a convertible new issuance</a:t>
            </a:r>
            <a:endParaRPr sz="700">
              <a:solidFill>
                <a:schemeClr val="dk1"/>
              </a:solidFill>
              <a:latin typeface="Arimo"/>
              <a:ea typeface="Arimo"/>
              <a:cs typeface="Arimo"/>
              <a:sym typeface="Arimo"/>
            </a:endParaRPr>
          </a:p>
        </p:txBody>
      </p:sp>
      <p:sp>
        <p:nvSpPr>
          <p:cNvPr id="387" name="Google Shape;387;p45"/>
          <p:cNvSpPr txBox="1"/>
          <p:nvPr/>
        </p:nvSpPr>
        <p:spPr>
          <a:xfrm>
            <a:off x="316422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Credit Impact</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rPr lang="en" sz="700">
                <a:solidFill>
                  <a:schemeClr val="dk1"/>
                </a:solidFill>
                <a:latin typeface="Arimo"/>
                <a:ea typeface="Arimo"/>
                <a:cs typeface="Arimo"/>
                <a:sym typeface="Arimo"/>
              </a:rPr>
              <a:t>Unsecured debt got downgraded by S&amp;P to CCC+, in spite of the positive liquidity impact. Shares came under pressure </a:t>
            </a:r>
            <a:endParaRPr sz="700">
              <a:solidFill>
                <a:schemeClr val="dk1"/>
              </a:solidFill>
              <a:latin typeface="Arimo"/>
              <a:ea typeface="Arimo"/>
              <a:cs typeface="Arimo"/>
              <a:sym typeface="Arim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6"/>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Deal Overview</a:t>
            </a:r>
            <a:endParaRPr sz="2000"/>
          </a:p>
        </p:txBody>
      </p:sp>
      <p:sp>
        <p:nvSpPr>
          <p:cNvPr id="393" name="Google Shape;393;p4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394" name="Google Shape;394;p4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
        <p:nvSpPr>
          <p:cNvPr id="395" name="Google Shape;395;p46"/>
          <p:cNvSpPr txBox="1"/>
          <p:nvPr/>
        </p:nvSpPr>
        <p:spPr>
          <a:xfrm>
            <a:off x="277500" y="975925"/>
            <a:ext cx="8229600" cy="3586500"/>
          </a:xfrm>
          <a:prstGeom prst="rect">
            <a:avLst/>
          </a:prstGeom>
          <a:noFill/>
          <a:ln>
            <a:noFill/>
          </a:ln>
        </p:spPr>
        <p:txBody>
          <a:bodyPr anchorCtr="0" anchor="t" bIns="45700" lIns="0" spcFirstLastPara="1" rIns="0" wrap="square" tIns="45700">
            <a:spAutoFit/>
          </a:bodyPr>
          <a:lstStyle/>
          <a:p>
            <a:pPr indent="-298450" lvl="0" marL="457200" rtl="0" algn="l">
              <a:spcBef>
                <a:spcPts val="1240"/>
              </a:spcBef>
              <a:spcAft>
                <a:spcPts val="0"/>
              </a:spcAft>
              <a:buSzPts val="1100"/>
              <a:buFont typeface="Noto Sans Symbols"/>
              <a:buChar char="▪"/>
            </a:pPr>
            <a:r>
              <a:rPr lang="en" sz="1100"/>
              <a:t>Alpaca (the “Parent” and, together with its consolidated subsidiaries, “Alpaca” or the “Company”), together with its subsidiaries, is a major global communications solutions provider with strong market positions in IP, optics and 4G wireless. </a:t>
            </a:r>
            <a:endParaRPr sz="1100"/>
          </a:p>
          <a:p>
            <a:pPr indent="-298450" lvl="0" marL="457200" rtl="0" algn="l">
              <a:spcBef>
                <a:spcPts val="1240"/>
              </a:spcBef>
              <a:spcAft>
                <a:spcPts val="0"/>
              </a:spcAft>
              <a:buSzPts val="1100"/>
              <a:buFont typeface="Noto Sans Symbols"/>
              <a:buChar char="▪"/>
            </a:pPr>
            <a:r>
              <a:rPr lang="en" sz="1100"/>
              <a:t>Alpaca is a leading innovator in the field of networking and communications technology, products and services. The Company is home to Balthazar Labs, one of the world's foremost research centers, responsible for breakthroughs that have shaped the networking and communications industry. </a:t>
            </a:r>
            <a:endParaRPr sz="1100"/>
          </a:p>
          <a:p>
            <a:pPr indent="-298450" lvl="0" marL="457200" rtl="0" algn="l">
              <a:spcBef>
                <a:spcPts val="1240"/>
              </a:spcBef>
              <a:spcAft>
                <a:spcPts val="0"/>
              </a:spcAft>
              <a:buSzPts val="1100"/>
              <a:buFont typeface="Noto Sans Symbols"/>
              <a:buChar char="▪"/>
            </a:pPr>
            <a:r>
              <a:rPr lang="en" sz="1100"/>
              <a:t>As of LTM ending September 2012, the Company reported revenues and Adjusted EBITDA of €14.5bn and €689m, respectively.</a:t>
            </a:r>
            <a:endParaRPr sz="1100"/>
          </a:p>
          <a:p>
            <a:pPr indent="-298450" lvl="0" marL="457200" rtl="0" algn="l">
              <a:spcBef>
                <a:spcPts val="1240"/>
              </a:spcBef>
              <a:spcAft>
                <a:spcPts val="0"/>
              </a:spcAft>
              <a:buSzPts val="1100"/>
              <a:buFont typeface="Noto Sans Symbols"/>
              <a:buChar char="▪"/>
            </a:pPr>
            <a:r>
              <a:rPr lang="en" sz="1100"/>
              <a:t>Alpaca USA Inc. (the “Borrower”) intends to raise $500 million through an Asset Sale Facility and an additional $1,275 million and €250 million of Senior Secured Term Loans (together the “Senior Secured Credit Facilities”) to refinance (through a public tender or open market repurchases or at maturity) near-term debt maturities maturing ahead of the Senior Secured Term Loans, for working capital purposes and for general corporate purposes. </a:t>
            </a:r>
            <a:endParaRPr sz="1100"/>
          </a:p>
          <a:p>
            <a:pPr indent="-298450" lvl="0" marL="457200" rtl="0" algn="l">
              <a:spcBef>
                <a:spcPts val="1240"/>
              </a:spcBef>
              <a:spcAft>
                <a:spcPts val="0"/>
              </a:spcAft>
              <a:buSzPts val="1100"/>
              <a:buFont typeface="Noto Sans Symbols"/>
              <a:buChar char="▪"/>
            </a:pPr>
            <a:r>
              <a:rPr lang="en" sz="1100"/>
              <a:t>As part of the transaction, the existing unsecured revolving credit facility maturing in April 2013 will be terminated.</a:t>
            </a:r>
            <a:endParaRPr sz="1100"/>
          </a:p>
          <a:p>
            <a:pPr indent="-298450" lvl="0" marL="457200" rtl="0" algn="l">
              <a:spcBef>
                <a:spcPts val="1240"/>
              </a:spcBef>
              <a:spcAft>
                <a:spcPts val="0"/>
              </a:spcAft>
              <a:buSzPts val="1100"/>
              <a:buFont typeface="Noto Sans Symbols"/>
              <a:buChar char="▪"/>
            </a:pPr>
            <a:r>
              <a:rPr lang="en" sz="1100"/>
              <a:t>Total senior secured leverage will be 2.4x pro forma for the transaction, based on LTM September 2012 Adjusted EBITDA of €689 million.</a:t>
            </a:r>
            <a:endParaRPr sz="1100"/>
          </a:p>
          <a:p>
            <a:pPr indent="0" lvl="0" marL="457200" marR="0" rtl="0" algn="l">
              <a:spcBef>
                <a:spcPts val="1240"/>
              </a:spcBef>
              <a:spcAft>
                <a:spcPts val="0"/>
              </a:spcAft>
              <a:buNone/>
            </a:pPr>
            <a:r>
              <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7"/>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Advantages and Disadvantages of re-using a past I-Banking Info Memo</a:t>
            </a:r>
            <a:endParaRPr sz="2000"/>
          </a:p>
        </p:txBody>
      </p:sp>
      <p:sp>
        <p:nvSpPr>
          <p:cNvPr id="401" name="Google Shape;401;p4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02" name="Google Shape;402;p4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
        <p:nvSpPr>
          <p:cNvPr id="403" name="Google Shape;403;p47"/>
          <p:cNvSpPr txBox="1"/>
          <p:nvPr/>
        </p:nvSpPr>
        <p:spPr>
          <a:xfrm>
            <a:off x="255750" y="1234225"/>
            <a:ext cx="8632500" cy="3971100"/>
          </a:xfrm>
          <a:prstGeom prst="rect">
            <a:avLst/>
          </a:prstGeom>
          <a:noFill/>
          <a:ln>
            <a:noFill/>
          </a:ln>
        </p:spPr>
        <p:txBody>
          <a:bodyPr anchorCtr="0" anchor="t" bIns="45700" lIns="0" spcFirstLastPara="1" rIns="0" wrap="square" tIns="45700">
            <a:spAutoFit/>
          </a:bodyPr>
          <a:lstStyle/>
          <a:p>
            <a:pPr indent="0" lvl="0" marL="0" marR="0" rtl="0" algn="l">
              <a:spcBef>
                <a:spcPts val="1240"/>
              </a:spcBef>
              <a:spcAft>
                <a:spcPts val="0"/>
              </a:spcAft>
              <a:buNone/>
            </a:pPr>
            <a:r>
              <a:rPr lang="en" sz="1100"/>
              <a:t>+ Collect past data (more than 10 years) -&gt; Alpaca had relatively good data availability - the trading levels of matured bonds were available on Bloomberg</a:t>
            </a:r>
            <a:endParaRPr sz="1100"/>
          </a:p>
          <a:p>
            <a:pPr indent="0" lvl="0" marL="0" marR="0" rtl="0" algn="l">
              <a:spcBef>
                <a:spcPts val="1240"/>
              </a:spcBef>
              <a:spcAft>
                <a:spcPts val="0"/>
              </a:spcAft>
              <a:buNone/>
            </a:pPr>
            <a:r>
              <a:rPr lang="en" sz="1100"/>
              <a:t>+ Not completely synthetic, but potentially less patterns for Grok to recognize the company, as the data is relatively old - at the same time, there are not many companies with similar narratives</a:t>
            </a:r>
            <a:endParaRPr sz="1100"/>
          </a:p>
          <a:p>
            <a:pPr indent="0" lvl="0" marL="0" marR="0" rtl="0" algn="l">
              <a:spcBef>
                <a:spcPts val="1240"/>
              </a:spcBef>
              <a:spcAft>
                <a:spcPts val="0"/>
              </a:spcAft>
              <a:buNone/>
            </a:pPr>
            <a:r>
              <a:rPr lang="en" sz="1100"/>
              <a:t>+ We save the time on the output and can focus on a higher VDR quality</a:t>
            </a:r>
            <a:endParaRPr sz="1100"/>
          </a:p>
          <a:p>
            <a:pPr indent="0" lvl="0" marL="0" marR="0" rtl="0" algn="l">
              <a:spcBef>
                <a:spcPts val="1240"/>
              </a:spcBef>
              <a:spcAft>
                <a:spcPts val="0"/>
              </a:spcAft>
              <a:buNone/>
            </a:pPr>
            <a:r>
              <a:rPr lang="en" sz="1100"/>
              <a:t>+ Output (unlike project Nautilus) is not fully anonymized yet. Even anonymized, it will be rather clear which company is behind the data, but there is some level of filtering, as the company got acquired in the meantime (M&amp;A in 2015).</a:t>
            </a:r>
            <a:endParaRPr sz="1100"/>
          </a:p>
          <a:p>
            <a:pPr indent="0" lvl="0" marL="0" marR="0" rtl="0" algn="l">
              <a:spcBef>
                <a:spcPts val="1240"/>
              </a:spcBef>
              <a:spcAft>
                <a:spcPts val="0"/>
              </a:spcAft>
              <a:buNone/>
            </a:pPr>
            <a:r>
              <a:rPr lang="en" sz="1100"/>
              <a:t>+ The information memo being finalized, we can deal with a relatively complex transaction in a shorter timeframe.</a:t>
            </a:r>
            <a:endParaRPr sz="1100"/>
          </a:p>
          <a:p>
            <a:pPr indent="0" lvl="0" marL="0" rtl="0" algn="l">
              <a:spcBef>
                <a:spcPts val="1240"/>
              </a:spcBef>
              <a:spcAft>
                <a:spcPts val="0"/>
              </a:spcAft>
              <a:buClr>
                <a:schemeClr val="lt1"/>
              </a:buClr>
              <a:buSzPts val="1100"/>
              <a:buFont typeface="Arial"/>
              <a:buNone/>
            </a:pPr>
            <a:r>
              <a:rPr lang="en" sz="1100">
                <a:solidFill>
                  <a:schemeClr val="lt1"/>
                </a:solidFill>
              </a:rPr>
              <a:t>+</a:t>
            </a:r>
            <a:r>
              <a:rPr lang="en" sz="1100">
                <a:solidFill>
                  <a:schemeClr val="lt1"/>
                </a:solidFill>
              </a:rPr>
              <a:t> Deal did really take place. Thus, pricing should be easier.</a:t>
            </a:r>
            <a:endParaRPr sz="1100"/>
          </a:p>
          <a:p>
            <a:pPr indent="0" lvl="0" marL="0" marR="0" rtl="0" algn="l">
              <a:spcBef>
                <a:spcPts val="1240"/>
              </a:spcBef>
              <a:spcAft>
                <a:spcPts val="0"/>
              </a:spcAft>
              <a:buNone/>
            </a:pPr>
            <a:r>
              <a:t/>
            </a:r>
            <a:endParaRPr sz="1100"/>
          </a:p>
          <a:p>
            <a:pPr indent="0" lvl="0" marL="0" marR="0" rtl="0" algn="l">
              <a:spcBef>
                <a:spcPts val="1240"/>
              </a:spcBef>
              <a:spcAft>
                <a:spcPts val="0"/>
              </a:spcAft>
              <a:buNone/>
            </a:pPr>
            <a:r>
              <a:rPr lang="en" sz="1100"/>
              <a:t>- Any issues in the context of Grok - mixing up with current topics?  </a:t>
            </a:r>
            <a:br>
              <a:rPr lang="en" sz="1100"/>
            </a:br>
            <a:br>
              <a:rPr lang="en" sz="1100"/>
            </a:br>
            <a:r>
              <a:rPr lang="en" sz="1100"/>
              <a:t>- Lots of the content in the VDR will require image reading - This should be fine, as Grok 4.1 seems to be upgraded for this.</a:t>
            </a:r>
            <a:endParaRPr sz="1100"/>
          </a:p>
          <a:p>
            <a:pPr indent="0" lvl="0" marL="0" marR="0" rtl="0" algn="l">
              <a:spcBef>
                <a:spcPts val="1240"/>
              </a:spcBef>
              <a:spcAft>
                <a:spcPts val="0"/>
              </a:spcAft>
              <a:buNone/>
            </a:pPr>
            <a:r>
              <a:t/>
            </a:r>
            <a:endParaRPr sz="800"/>
          </a:p>
          <a:p>
            <a:pPr indent="0" lvl="0" marL="0" marR="0" rtl="0" algn="l">
              <a:spcBef>
                <a:spcPts val="1240"/>
              </a:spcBef>
              <a:spcAft>
                <a:spcPts val="0"/>
              </a:spcAft>
              <a:buNone/>
            </a:pPr>
            <a:r>
              <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graphicFrame>
        <p:nvGraphicFramePr>
          <p:cNvPr id="408" name="Google Shape;408;p48"/>
          <p:cNvGraphicFramePr/>
          <p:nvPr/>
        </p:nvGraphicFramePr>
        <p:xfrm>
          <a:off x="196250" y="828938"/>
          <a:ext cx="3000000" cy="3000000"/>
        </p:xfrm>
        <a:graphic>
          <a:graphicData uri="http://schemas.openxmlformats.org/drawingml/2006/table">
            <a:tbl>
              <a:tblPr>
                <a:noFill/>
                <a:tableStyleId>{47D54198-74DB-4955-B327-7FB9814FE38F}</a:tableStyleId>
              </a:tblPr>
              <a:tblGrid>
                <a:gridCol w="944125"/>
                <a:gridCol w="1033475"/>
                <a:gridCol w="1060675"/>
                <a:gridCol w="5483950"/>
              </a:tblGrid>
              <a:tr h="2489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a:t>
                      </a:r>
                      <a:endParaRPr b="1" sz="800"/>
                    </a:p>
                  </a:txBody>
                  <a:tcPr marT="91425" marB="91425" marR="91425" marL="91425"/>
                </a:tc>
              </a:tr>
              <a:tr h="248900">
                <a:tc>
                  <a:txBody>
                    <a:bodyPr/>
                    <a:lstStyle/>
                    <a:p>
                      <a:pPr indent="0" lvl="0" marL="0" rtl="0" algn="l">
                        <a:spcBef>
                          <a:spcPts val="0"/>
                        </a:spcBef>
                        <a:spcAft>
                          <a:spcPts val="0"/>
                        </a:spcAft>
                        <a:buNone/>
                      </a:pPr>
                      <a:r>
                        <a:rPr lang="en" sz="600"/>
                        <a:t>1.1 Overview</a:t>
                      </a:r>
                      <a:endParaRPr sz="600"/>
                    </a:p>
                  </a:txBody>
                  <a:tcPr marT="91425" marB="91425" marR="91425" marL="91425"/>
                </a:tc>
                <a:tc>
                  <a:txBody>
                    <a:bodyPr/>
                    <a:lstStyle/>
                    <a:p>
                      <a:pPr indent="0" lvl="0" marL="0" rtl="0" algn="l">
                        <a:spcBef>
                          <a:spcPts val="0"/>
                        </a:spcBef>
                        <a:spcAft>
                          <a:spcPts val="0"/>
                        </a:spcAft>
                        <a:buNone/>
                      </a:pPr>
                      <a:r>
                        <a:rPr lang="en" sz="600"/>
                        <a:t>Giampaolo/Alan</a:t>
                      </a:r>
                      <a:endParaRPr sz="600"/>
                    </a:p>
                  </a:txBody>
                  <a:tcPr marT="91425" marB="91425" marR="91425" marL="91425"/>
                </a:tc>
                <a:tc>
                  <a:txBody>
                    <a:bodyPr/>
                    <a:lstStyle/>
                    <a:p>
                      <a:pPr indent="0" lvl="0" marL="0" rtl="0" algn="l">
                        <a:spcBef>
                          <a:spcPts val="0"/>
                        </a:spcBef>
                        <a:spcAft>
                          <a:spcPts val="0"/>
                        </a:spcAft>
                        <a:buNone/>
                      </a:pPr>
                      <a:r>
                        <a:rPr lang="en" sz="600"/>
                        <a:t>Done /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1.2 Model</a:t>
                      </a:r>
                      <a:endParaRPr sz="600"/>
                    </a:p>
                  </a:txBody>
                  <a:tcPr marT="91425" marB="91425" marR="91425" marL="91425"/>
                </a:tc>
                <a:tc>
                  <a:txBody>
                    <a:bodyPr/>
                    <a:lstStyle/>
                    <a:p>
                      <a:pPr indent="0" lvl="0" marL="0" rtl="0" algn="l">
                        <a:spcBef>
                          <a:spcPts val="0"/>
                        </a:spcBef>
                        <a:spcAft>
                          <a:spcPts val="0"/>
                        </a:spcAft>
                        <a:buNone/>
                      </a:pPr>
                      <a:r>
                        <a:rPr lang="en" sz="600"/>
                        <a:t>Adam/Alan</a:t>
                      </a:r>
                      <a:endParaRPr sz="600"/>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1.3 Customer Data</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solidFill>
                          <a:schemeClr val="lt1"/>
                        </a:solidFill>
                      </a:endParaRPr>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1.4 Comp Models</a:t>
                      </a:r>
                      <a:endParaRPr sz="600"/>
                    </a:p>
                  </a:txBody>
                  <a:tcPr marT="91425" marB="91425" marR="91425" marL="91425"/>
                </a:tc>
                <a:tc>
                  <a:txBody>
                    <a:bodyPr/>
                    <a:lstStyle/>
                    <a:p>
                      <a:pPr indent="0" lvl="0" marL="0" rtl="0" algn="l">
                        <a:spcBef>
                          <a:spcPts val="0"/>
                        </a:spcBef>
                        <a:spcAft>
                          <a:spcPts val="0"/>
                        </a:spcAft>
                        <a:buNone/>
                      </a:pPr>
                      <a:r>
                        <a:rPr lang="en" sz="600"/>
                        <a:t>Giampaolo</a:t>
                      </a:r>
                      <a:endParaRPr sz="600"/>
                    </a:p>
                  </a:txBody>
                  <a:tcPr marT="91425" marB="91425" marR="91425" marL="91425"/>
                </a:tc>
                <a:tc>
                  <a:txBody>
                    <a:bodyPr/>
                    <a:lstStyle/>
                    <a:p>
                      <a:pPr indent="0" lvl="0" marL="0" rtl="0" algn="l">
                        <a:spcBef>
                          <a:spcPts val="0"/>
                        </a:spcBef>
                        <a:spcAft>
                          <a:spcPts val="0"/>
                        </a:spcAft>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1.5 Compliance Certificates</a:t>
                      </a:r>
                      <a:endParaRPr sz="600"/>
                    </a:p>
                  </a:txBody>
                  <a:tcPr marT="91425" marB="91425" marR="91425" marL="91425"/>
                </a:tc>
                <a:tc>
                  <a:txBody>
                    <a:bodyPr/>
                    <a:lstStyle/>
                    <a:p>
                      <a:pPr indent="0" lvl="0" marL="0" rtl="0" algn="l">
                        <a:spcBef>
                          <a:spcPts val="0"/>
                        </a:spcBef>
                        <a:spcAft>
                          <a:spcPts val="0"/>
                        </a:spcAft>
                        <a:buNone/>
                      </a:pPr>
                      <a:r>
                        <a:rPr lang="en" sz="600"/>
                        <a:t>Alan Tai</a:t>
                      </a:r>
                      <a:endParaRPr sz="600"/>
                    </a:p>
                  </a:txBody>
                  <a:tcPr marT="91425" marB="91425" marR="91425" marL="91425"/>
                </a:tc>
                <a:tc>
                  <a:txBody>
                    <a:bodyPr/>
                    <a:lstStyle/>
                    <a:p>
                      <a:pPr indent="0" lvl="0" marL="0" rtl="0" algn="l">
                        <a:spcBef>
                          <a:spcPts val="0"/>
                        </a:spcBef>
                        <a:spcAft>
                          <a:spcPts val="0"/>
                        </a:spcAft>
                        <a:buNone/>
                      </a:pPr>
                      <a:r>
                        <a:rPr lang="en" sz="600"/>
                        <a:t>Done / to be reviewed</a:t>
                      </a:r>
                      <a:endParaRPr sz="600"/>
                    </a:p>
                  </a:txBody>
                  <a:tcPr marT="91425" marB="91425" marR="91425" marL="91425"/>
                </a:tc>
                <a:tc>
                  <a:txBody>
                    <a:bodyPr/>
                    <a:lstStyle/>
                    <a:p>
                      <a:pPr indent="0" lvl="0" marL="0" rtl="0" algn="l">
                        <a:spcBef>
                          <a:spcPts val="0"/>
                        </a:spcBef>
                        <a:spcAft>
                          <a:spcPts val="0"/>
                        </a:spcAft>
                        <a:buNone/>
                      </a:pPr>
                      <a:r>
                        <a:rPr lang="en" sz="600"/>
                        <a:t>Giampaolo to review</a:t>
                      </a:r>
                      <a:endParaRPr sz="600"/>
                    </a:p>
                  </a:txBody>
                  <a:tcPr marT="91425" marB="91425" marR="91425" marL="91425"/>
                </a:tc>
              </a:tr>
              <a:tr h="248900">
                <a:tc>
                  <a:txBody>
                    <a:bodyPr/>
                    <a:lstStyle/>
                    <a:p>
                      <a:pPr indent="0" lvl="0" marL="0" rtl="0" algn="l">
                        <a:spcBef>
                          <a:spcPts val="0"/>
                        </a:spcBef>
                        <a:spcAft>
                          <a:spcPts val="0"/>
                        </a:spcAft>
                        <a:buNone/>
                      </a:pPr>
                      <a:r>
                        <a:rPr lang="en" sz="600"/>
                        <a:t>1.6 Audited Financials</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None/>
                      </a:pPr>
                      <a:r>
                        <a:rPr lang="en" sz="600"/>
                        <a:t>Done / to be anonymized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1.7 Working Capital Analysis</a:t>
                      </a:r>
                      <a:endParaRPr sz="600"/>
                    </a:p>
                  </a:txBody>
                  <a:tcPr marT="91425" marB="91425" marR="91425" marL="91425"/>
                </a:tc>
                <a:tc>
                  <a:txBody>
                    <a:bodyPr/>
                    <a:lstStyle/>
                    <a:p>
                      <a:pPr indent="0" lvl="0" marL="0" rtl="0" algn="l">
                        <a:spcBef>
                          <a:spcPts val="0"/>
                        </a:spcBef>
                        <a:spcAft>
                          <a:spcPts val="0"/>
                        </a:spcAft>
                        <a:buNone/>
                      </a:pPr>
                      <a:r>
                        <a:rPr lang="en" sz="600"/>
                        <a:t>Adam</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1.8 Sources &amp; Uses</a:t>
                      </a:r>
                      <a:endParaRPr sz="600"/>
                    </a:p>
                  </a:txBody>
                  <a:tcPr marT="91425" marB="91425" marR="91425" marL="91425"/>
                </a:tc>
                <a:tc>
                  <a:txBody>
                    <a:bodyPr/>
                    <a:lstStyle/>
                    <a:p>
                      <a:pPr indent="0" lvl="0" marL="0" rtl="0" algn="l">
                        <a:spcBef>
                          <a:spcPts val="0"/>
                        </a:spcBef>
                        <a:spcAft>
                          <a:spcPts val="0"/>
                        </a:spcAft>
                        <a:buNone/>
                      </a:pPr>
                      <a:r>
                        <a:rPr lang="en" sz="600"/>
                        <a:t>Adam/Godo</a:t>
                      </a:r>
                      <a:endParaRPr sz="600"/>
                    </a:p>
                  </a:txBody>
                  <a:tcPr marT="91425" marB="91425" marR="91425" marL="91425"/>
                </a:tc>
                <a:tc>
                  <a:txBody>
                    <a:bodyPr/>
                    <a:lstStyle/>
                    <a:p>
                      <a:pPr indent="0" lvl="0" marL="0" rtl="0" algn="l">
                        <a:spcBef>
                          <a:spcPts val="0"/>
                        </a:spcBef>
                        <a:spcAft>
                          <a:spcPts val="0"/>
                        </a:spcAft>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1.9 </a:t>
                      </a:r>
                      <a:r>
                        <a:rPr lang="en" sz="600">
                          <a:solidFill>
                            <a:schemeClr val="lt1"/>
                          </a:solidFill>
                        </a:rPr>
                        <a:t>Rating Reports</a:t>
                      </a:r>
                      <a:endParaRPr sz="600"/>
                    </a:p>
                  </a:txBody>
                  <a:tcPr marT="91425" marB="91425" marR="91425" marL="91425"/>
                </a:tc>
                <a:tc>
                  <a:txBody>
                    <a:bodyPr/>
                    <a:lstStyle/>
                    <a:p>
                      <a:pPr indent="0" lvl="0" marL="0" rtl="0" algn="l">
                        <a:spcBef>
                          <a:spcPts val="0"/>
                        </a:spcBef>
                        <a:spcAft>
                          <a:spcPts val="0"/>
                        </a:spcAft>
                        <a:buNone/>
                      </a:pPr>
                      <a:r>
                        <a:rPr lang="en" sz="600"/>
                        <a:t>Giampaolo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1.10 Financing &amp; Capital Structure</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1.11-12 </a:t>
                      </a:r>
                      <a:r>
                        <a:rPr lang="en" sz="600">
                          <a:solidFill>
                            <a:schemeClr val="lt1"/>
                          </a:solidFill>
                        </a:rPr>
                        <a:t>Investor Presentation / Industry Reports</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Try to remove the logos of the investor presentation (mega-trends) - 1.12</a:t>
                      </a:r>
                      <a:endParaRPr sz="600">
                        <a:solidFill>
                          <a:schemeClr val="lt1"/>
                        </a:solidFill>
                      </a:endParaRPr>
                    </a:p>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1.13-1.14 </a:t>
                      </a:r>
                      <a:r>
                        <a:rPr lang="en" sz="600">
                          <a:solidFill>
                            <a:schemeClr val="lt1"/>
                          </a:solidFill>
                        </a:rPr>
                        <a:t>Capex / M&amp;A</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None/>
                      </a:pPr>
                      <a:r>
                        <a:rPr lang="en" sz="600"/>
                        <a:t>Done / to be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Not matching with IM yet -&gt; check, if it can be reconciled (see p. 68) - Emmanuel to take a look</a:t>
                      </a:r>
                      <a:endParaRPr sz="600"/>
                    </a:p>
                  </a:txBody>
                  <a:tcPr marT="91425" marB="91425" marR="91425" marL="91425"/>
                </a:tc>
              </a:tr>
            </a:tbl>
          </a:graphicData>
        </a:graphic>
      </p:graphicFrame>
      <p:sp>
        <p:nvSpPr>
          <p:cNvPr id="409" name="Google Shape;409;p48"/>
          <p:cNvSpPr txBox="1"/>
          <p:nvPr>
            <p:ph type="title"/>
          </p:nvPr>
        </p:nvSpPr>
        <p:spPr>
          <a:xfrm>
            <a:off x="277500" y="358755"/>
            <a:ext cx="8589000" cy="425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Current Status of Alpaca - Financials</a:t>
            </a:r>
            <a:endParaRPr sz="2000"/>
          </a:p>
        </p:txBody>
      </p:sp>
      <p:sp>
        <p:nvSpPr>
          <p:cNvPr id="410" name="Google Shape;410;p4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11" name="Google Shape;411;p4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graphicFrame>
        <p:nvGraphicFramePr>
          <p:cNvPr id="416" name="Google Shape;416;p49"/>
          <p:cNvGraphicFramePr/>
          <p:nvPr/>
        </p:nvGraphicFramePr>
        <p:xfrm>
          <a:off x="236875" y="1060825"/>
          <a:ext cx="3000000" cy="3000000"/>
        </p:xfrm>
        <a:graphic>
          <a:graphicData uri="http://schemas.openxmlformats.org/drawingml/2006/table">
            <a:tbl>
              <a:tblPr>
                <a:noFill/>
                <a:tableStyleId>{47D54198-74DB-4955-B327-7FB9814FE38F}</a:tableStyleId>
              </a:tblPr>
              <a:tblGrid>
                <a:gridCol w="944025"/>
                <a:gridCol w="1033375"/>
                <a:gridCol w="1129525"/>
                <a:gridCol w="5414475"/>
              </a:tblGrid>
              <a:tr h="2489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a:t>
                      </a:r>
                      <a:endParaRPr b="1" sz="800"/>
                    </a:p>
                  </a:txBody>
                  <a:tcPr marT="91425" marB="91425" marR="91425" marL="91425"/>
                </a:tc>
              </a:tr>
              <a:tr h="248900">
                <a:tc>
                  <a:txBody>
                    <a:bodyPr/>
                    <a:lstStyle/>
                    <a:p>
                      <a:pPr indent="0" lvl="0" marL="0" rtl="0" algn="l">
                        <a:spcBef>
                          <a:spcPts val="0"/>
                        </a:spcBef>
                        <a:spcAft>
                          <a:spcPts val="0"/>
                        </a:spcAft>
                        <a:buNone/>
                      </a:pPr>
                      <a:r>
                        <a:rPr lang="en" sz="600"/>
                        <a:t>2</a:t>
                      </a:r>
                      <a:r>
                        <a:rPr lang="en" sz="600"/>
                        <a:t>.1 Legal Entity Chart</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2.2 </a:t>
                      </a:r>
                      <a:r>
                        <a:rPr lang="en" sz="600"/>
                        <a:t> Formation Documents</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2</a:t>
                      </a:r>
                      <a:r>
                        <a:rPr lang="en" sz="600"/>
                        <a:t>.3 Indenture</a:t>
                      </a:r>
                      <a:endParaRPr sz="600"/>
                    </a:p>
                  </a:txBody>
                  <a:tcPr marT="91425" marB="91425" marR="91425" marL="91425"/>
                </a:tc>
                <a:tc>
                  <a:txBody>
                    <a:bodyPr/>
                    <a:lstStyle/>
                    <a:p>
                      <a:pPr indent="0" lvl="0" marL="0" rtl="0" algn="l">
                        <a:spcBef>
                          <a:spcPts val="0"/>
                        </a:spcBef>
                        <a:spcAft>
                          <a:spcPts val="0"/>
                        </a:spcAft>
                        <a:buNone/>
                      </a:pPr>
                      <a:r>
                        <a:rPr lang="en" sz="600"/>
                        <a:t>Alan</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2</a:t>
                      </a:r>
                      <a:r>
                        <a:rPr lang="en" sz="600"/>
                        <a:t>.4 BoD Minutes</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48900">
                <a:tc>
                  <a:txBody>
                    <a:bodyPr/>
                    <a:lstStyle/>
                    <a:p>
                      <a:pPr indent="0" lvl="0" marL="0" rtl="0" algn="l">
                        <a:spcBef>
                          <a:spcPts val="0"/>
                        </a:spcBef>
                        <a:spcAft>
                          <a:spcPts val="0"/>
                        </a:spcAft>
                        <a:buNone/>
                      </a:pPr>
                      <a:r>
                        <a:rPr lang="en" sz="600"/>
                        <a:t>2</a:t>
                      </a:r>
                      <a:r>
                        <a:rPr lang="en" sz="600"/>
                        <a:t>.5 Capitalization Table</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bl>
          </a:graphicData>
        </a:graphic>
      </p:graphicFrame>
      <p:sp>
        <p:nvSpPr>
          <p:cNvPr id="417" name="Google Shape;417;p49"/>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Current Status of Alpaca - Legal &amp; Corporate</a:t>
            </a:r>
            <a:endParaRPr sz="2000"/>
          </a:p>
        </p:txBody>
      </p:sp>
      <p:sp>
        <p:nvSpPr>
          <p:cNvPr id="418" name="Google Shape;418;p4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19" name="Google Shape;419;p4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graphicFrame>
        <p:nvGraphicFramePr>
          <p:cNvPr id="424" name="Google Shape;424;p50"/>
          <p:cNvGraphicFramePr/>
          <p:nvPr/>
        </p:nvGraphicFramePr>
        <p:xfrm>
          <a:off x="236875" y="2571750"/>
          <a:ext cx="3000000" cy="3000000"/>
        </p:xfrm>
        <a:graphic>
          <a:graphicData uri="http://schemas.openxmlformats.org/drawingml/2006/table">
            <a:tbl>
              <a:tblPr>
                <a:noFill/>
                <a:tableStyleId>{47D54198-74DB-4955-B327-7FB9814FE38F}</a:tableStyleId>
              </a:tblPr>
              <a:tblGrid>
                <a:gridCol w="944025"/>
                <a:gridCol w="1033375"/>
                <a:gridCol w="1143475"/>
                <a:gridCol w="5400525"/>
              </a:tblGrid>
              <a:tr h="2489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a:t>
                      </a:r>
                      <a:endParaRPr b="1" sz="800"/>
                    </a:p>
                  </a:txBody>
                  <a:tcPr marT="91425" marB="91425" marR="91425" marL="91425"/>
                </a:tc>
              </a:tr>
              <a:tr h="248900">
                <a:tc>
                  <a:txBody>
                    <a:bodyPr/>
                    <a:lstStyle/>
                    <a:p>
                      <a:pPr indent="0" lvl="0" marL="0" rtl="0" algn="l">
                        <a:spcBef>
                          <a:spcPts val="0"/>
                        </a:spcBef>
                        <a:spcAft>
                          <a:spcPts val="0"/>
                        </a:spcAft>
                        <a:buNone/>
                      </a:pPr>
                      <a:r>
                        <a:rPr lang="en" sz="600"/>
                        <a:t>4</a:t>
                      </a:r>
                      <a:r>
                        <a:rPr lang="en" sz="600"/>
                        <a:t>.1 Census Data</a:t>
                      </a:r>
                      <a:endParaRPr sz="600"/>
                    </a:p>
                  </a:txBody>
                  <a:tcPr marT="91425" marB="91425" marR="91425" marL="91425"/>
                </a:tc>
                <a:tc>
                  <a:txBody>
                    <a:bodyPr/>
                    <a:lstStyle/>
                    <a:p>
                      <a:pPr indent="0" lvl="0" marL="0" rtl="0" algn="l">
                        <a:spcBef>
                          <a:spcPts val="0"/>
                        </a:spcBef>
                        <a:spcAft>
                          <a:spcPts val="0"/>
                        </a:spcAft>
                        <a:buNone/>
                      </a:pPr>
                      <a:r>
                        <a:rPr lang="en" sz="600"/>
                        <a:t>Alan</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to be reviewed</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r>
              <a:tr h="248900">
                <a:tc>
                  <a:txBody>
                    <a:bodyPr/>
                    <a:lstStyle/>
                    <a:p>
                      <a:pPr indent="0" lvl="0" marL="0" rtl="0" algn="l">
                        <a:spcBef>
                          <a:spcPts val="0"/>
                        </a:spcBef>
                        <a:spcAft>
                          <a:spcPts val="0"/>
                        </a:spcAft>
                        <a:buNone/>
                      </a:pPr>
                      <a:r>
                        <a:rPr lang="en" sz="600"/>
                        <a:t>4</a:t>
                      </a:r>
                      <a:r>
                        <a:rPr lang="en" sz="600"/>
                        <a:t>.2 Mgmt Incentive Plans</a:t>
                      </a:r>
                      <a:endParaRPr sz="600"/>
                    </a:p>
                  </a:txBody>
                  <a:tcPr marT="91425" marB="91425" marR="91425" marL="91425"/>
                </a:tc>
                <a:tc>
                  <a:txBody>
                    <a:bodyPr/>
                    <a:lstStyle/>
                    <a:p>
                      <a:pPr indent="0" lvl="0" marL="0" rtl="0" algn="l">
                        <a:spcBef>
                          <a:spcPts val="0"/>
                        </a:spcBef>
                        <a:spcAft>
                          <a:spcPts val="0"/>
                        </a:spcAft>
                        <a:buNone/>
                      </a:pPr>
                      <a:r>
                        <a:rPr lang="en" sz="600"/>
                        <a:t>Adam</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to be reviewed</a:t>
                      </a:r>
                      <a:endParaRPr sz="600"/>
                    </a:p>
                  </a:txBody>
                  <a:tcPr marT="91425" marB="91425" marR="91425" marL="91425"/>
                </a:tc>
                <a:tc>
                  <a:txBody>
                    <a:bodyPr/>
                    <a:lstStyle/>
                    <a:p>
                      <a:pPr indent="0" lvl="0" marL="0" rtl="0" algn="l">
                        <a:spcBef>
                          <a:spcPts val="0"/>
                        </a:spcBef>
                        <a:spcAft>
                          <a:spcPts val="0"/>
                        </a:spcAft>
                        <a:buNone/>
                      </a:pPr>
                      <a:r>
                        <a:rPr lang="en" sz="600"/>
                        <a:t>Alan -&gt; To review</a:t>
                      </a:r>
                      <a:endParaRPr sz="600"/>
                    </a:p>
                  </a:txBody>
                  <a:tcPr marT="91425" marB="91425" marR="91425" marL="91425"/>
                </a:tc>
              </a:tr>
              <a:tr h="248900">
                <a:tc>
                  <a:txBody>
                    <a:bodyPr/>
                    <a:lstStyle/>
                    <a:p>
                      <a:pPr indent="0" lvl="0" marL="0" rtl="0" algn="l">
                        <a:spcBef>
                          <a:spcPts val="0"/>
                        </a:spcBef>
                        <a:spcAft>
                          <a:spcPts val="0"/>
                        </a:spcAft>
                        <a:buNone/>
                      </a:pPr>
                      <a:r>
                        <a:rPr lang="en" sz="600"/>
                        <a:t>4.</a:t>
                      </a:r>
                      <a:r>
                        <a:rPr lang="en" sz="600"/>
                        <a:t>3 Org Chart</a:t>
                      </a:r>
                      <a:endParaRPr sz="600"/>
                    </a:p>
                  </a:txBody>
                  <a:tcPr marT="91425" marB="91425" marR="91425" marL="91425"/>
                </a:tc>
                <a:tc>
                  <a:txBody>
                    <a:bodyPr/>
                    <a:lstStyle/>
                    <a:p>
                      <a:pPr indent="0" lvl="0" marL="0" rtl="0" algn="l">
                        <a:spcBef>
                          <a:spcPts val="0"/>
                        </a:spcBef>
                        <a:spcAft>
                          <a:spcPts val="0"/>
                        </a:spcAft>
                        <a:buNone/>
                      </a:pPr>
                      <a:r>
                        <a:rPr lang="en" sz="600"/>
                        <a:t>Alan</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to be reviewed</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r>
              <a:tr h="248900">
                <a:tc>
                  <a:txBody>
                    <a:bodyPr/>
                    <a:lstStyle/>
                    <a:p>
                      <a:pPr indent="0" lvl="0" marL="0" rtl="0" algn="l">
                        <a:spcBef>
                          <a:spcPts val="0"/>
                        </a:spcBef>
                        <a:spcAft>
                          <a:spcPts val="0"/>
                        </a:spcAft>
                        <a:buNone/>
                      </a:pPr>
                      <a:r>
                        <a:rPr lang="en" sz="600"/>
                        <a:t>4.4 Employee Contracts / Top Mgmt</a:t>
                      </a:r>
                      <a:endParaRPr sz="600"/>
                    </a:p>
                  </a:txBody>
                  <a:tcPr marT="91425" marB="91425" marR="91425" marL="91425"/>
                </a:tc>
                <a:tc>
                  <a:txBody>
                    <a:bodyPr/>
                    <a:lstStyle/>
                    <a:p>
                      <a:pPr indent="0" lvl="0" marL="0" rtl="0" algn="l">
                        <a:spcBef>
                          <a:spcPts val="0"/>
                        </a:spcBef>
                        <a:spcAft>
                          <a:spcPts val="0"/>
                        </a:spcAft>
                        <a:buNone/>
                      </a:pPr>
                      <a:r>
                        <a:rPr lang="en" sz="600"/>
                        <a:t>Alan</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to be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Godo</a:t>
                      </a:r>
                      <a:endParaRPr sz="600"/>
                    </a:p>
                  </a:txBody>
                  <a:tcPr marT="91425" marB="91425" marR="91425" marL="91425"/>
                </a:tc>
              </a:tr>
            </a:tbl>
          </a:graphicData>
        </a:graphic>
      </p:graphicFrame>
      <p:graphicFrame>
        <p:nvGraphicFramePr>
          <p:cNvPr id="425" name="Google Shape;425;p50"/>
          <p:cNvGraphicFramePr/>
          <p:nvPr/>
        </p:nvGraphicFramePr>
        <p:xfrm>
          <a:off x="236875" y="1060825"/>
          <a:ext cx="3000000" cy="3000000"/>
        </p:xfrm>
        <a:graphic>
          <a:graphicData uri="http://schemas.openxmlformats.org/drawingml/2006/table">
            <a:tbl>
              <a:tblPr>
                <a:noFill/>
                <a:tableStyleId>{47D54198-74DB-4955-B327-7FB9814FE38F}</a:tableStyleId>
              </a:tblPr>
              <a:tblGrid>
                <a:gridCol w="944025"/>
                <a:gridCol w="1033375"/>
                <a:gridCol w="1143475"/>
                <a:gridCol w="5400525"/>
              </a:tblGrid>
              <a:tr h="2489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a:t>
                      </a:r>
                      <a:endParaRPr b="1" sz="800"/>
                    </a:p>
                  </a:txBody>
                  <a:tcPr marT="91425" marB="91425" marR="91425" marL="91425"/>
                </a:tc>
              </a:tr>
              <a:tr h="248900">
                <a:tc>
                  <a:txBody>
                    <a:bodyPr/>
                    <a:lstStyle/>
                    <a:p>
                      <a:pPr indent="0" lvl="0" marL="0" rtl="0" algn="l">
                        <a:spcBef>
                          <a:spcPts val="0"/>
                        </a:spcBef>
                        <a:spcAft>
                          <a:spcPts val="0"/>
                        </a:spcAft>
                        <a:buNone/>
                      </a:pPr>
                      <a:r>
                        <a:rPr lang="en" sz="600"/>
                        <a:t>3</a:t>
                      </a:r>
                      <a:r>
                        <a:rPr lang="en" sz="600"/>
                        <a:t>.1 Material Contracts</a:t>
                      </a:r>
                      <a:endParaRPr sz="600"/>
                    </a:p>
                  </a:txBody>
                  <a:tcPr marT="91425" marB="91425" marR="91425" marL="91425"/>
                </a:tc>
                <a:tc>
                  <a:txBody>
                    <a:bodyPr/>
                    <a:lstStyle/>
                    <a:p>
                      <a:pPr indent="0" lvl="0" marL="0" rtl="0" algn="l">
                        <a:spcBef>
                          <a:spcPts val="0"/>
                        </a:spcBef>
                        <a:spcAft>
                          <a:spcPts val="0"/>
                        </a:spcAft>
                        <a:buNone/>
                      </a:pPr>
                      <a:r>
                        <a:rPr lang="en" sz="600"/>
                        <a:t>Godo</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In progress</a:t>
                      </a:r>
                      <a:endParaRPr sz="600"/>
                    </a:p>
                  </a:txBody>
                  <a:tcPr marT="91425" marB="91425" marR="91425" marL="91425"/>
                </a:tc>
                <a:tc>
                  <a:txBody>
                    <a:bodyPr/>
                    <a:lstStyle/>
                    <a:p>
                      <a:pPr indent="0" lvl="0" marL="0" rtl="0" algn="l">
                        <a:spcBef>
                          <a:spcPts val="0"/>
                        </a:spcBef>
                        <a:spcAft>
                          <a:spcPts val="0"/>
                        </a:spcAft>
                        <a:buNone/>
                      </a:pPr>
                      <a:r>
                        <a:rPr lang="en" sz="600"/>
                        <a:t>Reached Claude’s limits - 12 contracts done, 8 more contracts to go / Giampaolo</a:t>
                      </a:r>
                      <a:endParaRPr sz="600"/>
                    </a:p>
                  </a:txBody>
                  <a:tcPr marT="91425" marB="91425" marR="91425" marL="91425"/>
                </a:tc>
              </a:tr>
              <a:tr h="248900">
                <a:tc>
                  <a:txBody>
                    <a:bodyPr/>
                    <a:lstStyle/>
                    <a:p>
                      <a:pPr indent="0" lvl="0" marL="0" rtl="0" algn="l">
                        <a:spcBef>
                          <a:spcPts val="0"/>
                        </a:spcBef>
                        <a:spcAft>
                          <a:spcPts val="0"/>
                        </a:spcAft>
                        <a:buNone/>
                      </a:pPr>
                      <a:r>
                        <a:rPr lang="en" sz="600"/>
                        <a:t>3</a:t>
                      </a:r>
                      <a:r>
                        <a:rPr lang="en" sz="600"/>
                        <a:t>.2  Real Estate (Leased &amp; Owned)</a:t>
                      </a:r>
                      <a:endParaRPr sz="600"/>
                    </a:p>
                  </a:txBody>
                  <a:tcPr marT="91425" marB="91425" marR="91425" marL="91425"/>
                </a:tc>
                <a:tc>
                  <a:txBody>
                    <a:bodyPr/>
                    <a:lstStyle/>
                    <a:p>
                      <a:pPr indent="0" lvl="0" marL="0" rtl="0" algn="l">
                        <a:spcBef>
                          <a:spcPts val="0"/>
                        </a:spcBef>
                        <a:spcAft>
                          <a:spcPts val="0"/>
                        </a:spcAft>
                        <a:buNone/>
                      </a:pPr>
                      <a:r>
                        <a:rPr lang="en" sz="600"/>
                        <a:t>Emmanuel</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Done / To be reviewed</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t>Godo</a:t>
                      </a:r>
                      <a:endParaRPr sz="600"/>
                    </a:p>
                  </a:txBody>
                  <a:tcPr marT="91425" marB="91425" marR="91425" marL="91425"/>
                </a:tc>
              </a:tr>
              <a:tr h="248900">
                <a:tc>
                  <a:txBody>
                    <a:bodyPr/>
                    <a:lstStyle/>
                    <a:p>
                      <a:pPr indent="0" lvl="0" marL="0" rtl="0" algn="l">
                        <a:spcBef>
                          <a:spcPts val="0"/>
                        </a:spcBef>
                        <a:spcAft>
                          <a:spcPts val="0"/>
                        </a:spcAft>
                        <a:buNone/>
                      </a:pPr>
                      <a:r>
                        <a:rPr lang="en" sz="600"/>
                        <a:t>3</a:t>
                      </a:r>
                      <a:r>
                        <a:rPr lang="en" sz="600"/>
                        <a:t>.3 Media / Social Media</a:t>
                      </a:r>
                      <a:endParaRPr sz="600"/>
                    </a:p>
                  </a:txBody>
                  <a:tcPr marT="91425" marB="91425" marR="91425" marL="91425"/>
                </a:tc>
                <a:tc>
                  <a:txBody>
                    <a:bodyPr/>
                    <a:lstStyle/>
                    <a:p>
                      <a:pPr indent="0" lvl="0" marL="0" rtl="0" algn="l">
                        <a:spcBef>
                          <a:spcPts val="0"/>
                        </a:spcBef>
                        <a:spcAft>
                          <a:spcPts val="0"/>
                        </a:spcAft>
                        <a:buNone/>
                      </a:pPr>
                      <a:r>
                        <a:rPr lang="en" sz="600"/>
                        <a:t>All</a:t>
                      </a:r>
                      <a:endParaRPr sz="600"/>
                    </a:p>
                  </a:txBody>
                  <a:tcPr marT="91425" marB="91425" marR="91425" marL="91425"/>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In progress</a:t>
                      </a:r>
                      <a:endParaRPr sz="600">
                        <a:solidFill>
                          <a:schemeClr val="lt1"/>
                        </a:solidFill>
                      </a:endParaRPr>
                    </a:p>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bl>
          </a:graphicData>
        </a:graphic>
      </p:graphicFrame>
      <p:sp>
        <p:nvSpPr>
          <p:cNvPr id="426" name="Google Shape;426;p50"/>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Current Status of Alpaca - 3. Operational &amp; Commercial &amp; 4. HR</a:t>
            </a:r>
            <a:endParaRPr sz="2000"/>
          </a:p>
        </p:txBody>
      </p:sp>
      <p:sp>
        <p:nvSpPr>
          <p:cNvPr id="427" name="Google Shape;427;p50"/>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28" name="Google Shape;428;p50"/>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graphicFrame>
        <p:nvGraphicFramePr>
          <p:cNvPr id="433" name="Google Shape;433;p51"/>
          <p:cNvGraphicFramePr/>
          <p:nvPr/>
        </p:nvGraphicFramePr>
        <p:xfrm>
          <a:off x="236875" y="4131388"/>
          <a:ext cx="3000000" cy="3000000"/>
        </p:xfrm>
        <a:graphic>
          <a:graphicData uri="http://schemas.openxmlformats.org/drawingml/2006/table">
            <a:tbl>
              <a:tblPr>
                <a:noFill/>
                <a:tableStyleId>{47D54198-74DB-4955-B327-7FB9814FE38F}</a:tableStyleId>
              </a:tblPr>
              <a:tblGrid>
                <a:gridCol w="1455925"/>
                <a:gridCol w="724600"/>
                <a:gridCol w="977725"/>
                <a:gridCol w="5363150"/>
              </a:tblGrid>
              <a:tr h="216650">
                <a:tc>
                  <a:txBody>
                    <a:bodyPr/>
                    <a:lstStyle/>
                    <a:p>
                      <a:pPr indent="0" lvl="0" marL="0" rtl="0" algn="l">
                        <a:spcBef>
                          <a:spcPts val="0"/>
                        </a:spcBef>
                        <a:spcAft>
                          <a:spcPts val="0"/>
                        </a:spcAft>
                        <a:buNone/>
                      </a:pPr>
                      <a:r>
                        <a:rPr b="1" lang="en" sz="800"/>
                        <a:t>Folder</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Person in Charge</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Status</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Comments</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725">
                <a:tc>
                  <a:txBody>
                    <a:bodyPr/>
                    <a:lstStyle/>
                    <a:p>
                      <a:pPr indent="0" lvl="0" marL="0" rtl="0" algn="l">
                        <a:spcBef>
                          <a:spcPts val="0"/>
                        </a:spcBef>
                        <a:spcAft>
                          <a:spcPts val="0"/>
                        </a:spcAft>
                        <a:buNone/>
                      </a:pPr>
                      <a:r>
                        <a:rPr lang="en" sz="600"/>
                        <a:t>7</a:t>
                      </a:r>
                      <a:r>
                        <a:rPr lang="en" sz="600"/>
                        <a:t>.1 Others</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All</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TBD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434" name="Google Shape;434;p51"/>
          <p:cNvGraphicFramePr/>
          <p:nvPr/>
        </p:nvGraphicFramePr>
        <p:xfrm>
          <a:off x="236875" y="3274688"/>
          <a:ext cx="3000000" cy="3000000"/>
        </p:xfrm>
        <a:graphic>
          <a:graphicData uri="http://schemas.openxmlformats.org/drawingml/2006/table">
            <a:tbl>
              <a:tblPr>
                <a:noFill/>
                <a:tableStyleId>{47D54198-74DB-4955-B327-7FB9814FE38F}</a:tableStyleId>
              </a:tblPr>
              <a:tblGrid>
                <a:gridCol w="1455925"/>
                <a:gridCol w="724600"/>
                <a:gridCol w="977725"/>
                <a:gridCol w="5363150"/>
              </a:tblGrid>
              <a:tr h="216650">
                <a:tc>
                  <a:txBody>
                    <a:bodyPr/>
                    <a:lstStyle/>
                    <a:p>
                      <a:pPr indent="0" lvl="0" marL="0" rtl="0" algn="l">
                        <a:spcBef>
                          <a:spcPts val="0"/>
                        </a:spcBef>
                        <a:spcAft>
                          <a:spcPts val="0"/>
                        </a:spcAft>
                        <a:buNone/>
                      </a:pPr>
                      <a:r>
                        <a:rPr b="1" lang="en" sz="800"/>
                        <a:t>Folder</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Person in Charge</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Status</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t>Comments</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725">
                <a:tc>
                  <a:txBody>
                    <a:bodyPr/>
                    <a:lstStyle/>
                    <a:p>
                      <a:pPr indent="0" lvl="0" marL="0" rtl="0" algn="l">
                        <a:spcBef>
                          <a:spcPts val="0"/>
                        </a:spcBef>
                        <a:spcAft>
                          <a:spcPts val="0"/>
                        </a:spcAft>
                        <a:buNone/>
                      </a:pPr>
                      <a:r>
                        <a:rPr lang="en" sz="600"/>
                        <a:t>6.1 Patents</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Godo</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435" name="Google Shape;435;p51"/>
          <p:cNvGraphicFramePr/>
          <p:nvPr/>
        </p:nvGraphicFramePr>
        <p:xfrm>
          <a:off x="236875" y="1263975"/>
          <a:ext cx="3000000" cy="3000000"/>
        </p:xfrm>
        <a:graphic>
          <a:graphicData uri="http://schemas.openxmlformats.org/drawingml/2006/table">
            <a:tbl>
              <a:tblPr>
                <a:noFill/>
                <a:tableStyleId>{47D54198-74DB-4955-B327-7FB9814FE38F}</a:tableStyleId>
              </a:tblPr>
              <a:tblGrid>
                <a:gridCol w="1455925"/>
                <a:gridCol w="724600"/>
                <a:gridCol w="977725"/>
                <a:gridCol w="5363150"/>
              </a:tblGrid>
              <a:tr h="483600">
                <a:tc>
                  <a:txBody>
                    <a:bodyPr/>
                    <a:lstStyle/>
                    <a:p>
                      <a:pPr indent="0" lvl="0" marL="0" rtl="0" algn="l">
                        <a:spcBef>
                          <a:spcPts val="0"/>
                        </a:spcBef>
                        <a:spcAft>
                          <a:spcPts val="0"/>
                        </a:spcAft>
                        <a:buNone/>
                      </a:pPr>
                      <a:r>
                        <a:rPr b="1" lang="en" sz="800"/>
                        <a:t>Folder</a:t>
                      </a:r>
                      <a:endParaRPr b="1" sz="800"/>
                    </a:p>
                  </a:txBody>
                  <a:tcPr marT="91425" marB="91425" marR="91425" marL="91425"/>
                </a:tc>
                <a:tc>
                  <a:txBody>
                    <a:bodyPr/>
                    <a:lstStyle/>
                    <a:p>
                      <a:pPr indent="0" lvl="0" marL="0" rtl="0" algn="l">
                        <a:spcBef>
                          <a:spcPts val="0"/>
                        </a:spcBef>
                        <a:spcAft>
                          <a:spcPts val="0"/>
                        </a:spcAft>
                        <a:buNone/>
                      </a:pPr>
                      <a:r>
                        <a:rPr b="1" lang="en" sz="800"/>
                        <a:t>Person in Charge</a:t>
                      </a:r>
                      <a:endParaRPr b="1" sz="800"/>
                    </a:p>
                  </a:txBody>
                  <a:tcPr marT="91425" marB="91425" marR="91425" marL="91425"/>
                </a:tc>
                <a:tc>
                  <a:txBody>
                    <a:bodyPr/>
                    <a:lstStyle/>
                    <a:p>
                      <a:pPr indent="0" lvl="0" marL="0" rtl="0" algn="l">
                        <a:spcBef>
                          <a:spcPts val="0"/>
                        </a:spcBef>
                        <a:spcAft>
                          <a:spcPts val="0"/>
                        </a:spcAft>
                        <a:buNone/>
                      </a:pPr>
                      <a:r>
                        <a:rPr b="1" lang="en" sz="800"/>
                        <a:t>Status</a:t>
                      </a:r>
                      <a:endParaRPr b="1" sz="800"/>
                    </a:p>
                  </a:txBody>
                  <a:tcPr marT="91425" marB="91425" marR="91425" marL="91425"/>
                </a:tc>
                <a:tc>
                  <a:txBody>
                    <a:bodyPr/>
                    <a:lstStyle/>
                    <a:p>
                      <a:pPr indent="0" lvl="0" marL="0" rtl="0" algn="l">
                        <a:spcBef>
                          <a:spcPts val="0"/>
                        </a:spcBef>
                        <a:spcAft>
                          <a:spcPts val="0"/>
                        </a:spcAft>
                        <a:buNone/>
                      </a:pPr>
                      <a:r>
                        <a:rPr b="1" lang="en" sz="800"/>
                        <a:t>Comments </a:t>
                      </a:r>
                      <a:endParaRPr b="1" sz="800"/>
                    </a:p>
                  </a:txBody>
                  <a:tcPr marT="91425" marB="91425" marR="91425" marL="91425"/>
                </a:tc>
              </a:tr>
              <a:tr h="241775">
                <a:tc>
                  <a:txBody>
                    <a:bodyPr/>
                    <a:lstStyle/>
                    <a:p>
                      <a:pPr indent="0" lvl="0" marL="0" rtl="0" algn="l">
                        <a:spcBef>
                          <a:spcPts val="0"/>
                        </a:spcBef>
                        <a:spcAft>
                          <a:spcPts val="0"/>
                        </a:spcAft>
                        <a:buNone/>
                      </a:pPr>
                      <a:r>
                        <a:rPr lang="en" sz="600"/>
                        <a:t>5</a:t>
                      </a:r>
                      <a:r>
                        <a:rPr lang="en" sz="600"/>
                        <a:t>.1 IT Ops and Vendors</a:t>
                      </a:r>
                      <a:endParaRPr sz="600"/>
                    </a:p>
                  </a:txBody>
                  <a:tcPr marT="91425" marB="91425" marR="91425" marL="91425"/>
                </a:tc>
                <a:tc>
                  <a:txBody>
                    <a:bodyPr/>
                    <a:lstStyle/>
                    <a:p>
                      <a:pPr indent="0" lvl="0" marL="0" rtl="0" algn="l">
                        <a:spcBef>
                          <a:spcPts val="0"/>
                        </a:spcBef>
                        <a:spcAft>
                          <a:spcPts val="0"/>
                        </a:spcAft>
                        <a:buNone/>
                      </a:pPr>
                      <a:r>
                        <a:rPr lang="en" sz="600"/>
                        <a:t>Adam</a:t>
                      </a:r>
                      <a:endParaRPr sz="6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600"/>
                    </a:p>
                  </a:txBody>
                  <a:tcPr marT="91425" marB="91425" marR="91425" marL="91425"/>
                </a:tc>
              </a:tr>
              <a:tr h="241775">
                <a:tc>
                  <a:txBody>
                    <a:bodyPr/>
                    <a:lstStyle/>
                    <a:p>
                      <a:pPr indent="0" lvl="0" marL="0" rtl="0" algn="l">
                        <a:spcBef>
                          <a:spcPts val="0"/>
                        </a:spcBef>
                        <a:spcAft>
                          <a:spcPts val="0"/>
                        </a:spcAft>
                        <a:buNone/>
                      </a:pPr>
                      <a:r>
                        <a:rPr lang="en" sz="600"/>
                        <a:t>5.2 Platform Architecture &amp; Infra</a:t>
                      </a:r>
                      <a:endParaRPr sz="6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600"/>
                        <a:t>Godo</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Done / to be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600"/>
                    </a:p>
                  </a:txBody>
                  <a:tcPr marT="91425" marB="91425" marR="91425" marL="91425">
                    <a:lnL cap="flat" cmpd="sng" w="9525">
                      <a:solidFill>
                        <a:srgbClr val="9E9E9E"/>
                      </a:solidFill>
                      <a:prstDash val="solid"/>
                      <a:round/>
                      <a:headEnd len="sm" w="sm" type="none"/>
                      <a:tailEnd len="sm" w="sm" type="none"/>
                    </a:lnL>
                  </a:tcPr>
                </a:tc>
              </a:tr>
              <a:tr h="241775">
                <a:tc>
                  <a:txBody>
                    <a:bodyPr/>
                    <a:lstStyle/>
                    <a:p>
                      <a:pPr indent="0" lvl="0" marL="0" rtl="0" algn="l">
                        <a:spcBef>
                          <a:spcPts val="0"/>
                        </a:spcBef>
                        <a:spcAft>
                          <a:spcPts val="0"/>
                        </a:spcAft>
                        <a:buNone/>
                      </a:pPr>
                      <a:r>
                        <a:rPr lang="en" sz="600"/>
                        <a:t>5.3 Product Dev. &amp; Engineering</a:t>
                      </a:r>
                      <a:endParaRPr sz="6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600"/>
                        <a:t>Giampaolo</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Anonymized</a:t>
                      </a:r>
                      <a:endParaRPr sz="600">
                        <a:solidFill>
                          <a:schemeClr val="lt1"/>
                        </a:solidFill>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r>
              <a:tr h="241775">
                <a:tc>
                  <a:txBody>
                    <a:bodyPr/>
                    <a:lstStyle/>
                    <a:p>
                      <a:pPr indent="0" lvl="0" marL="0" rtl="0" algn="l">
                        <a:spcBef>
                          <a:spcPts val="0"/>
                        </a:spcBef>
                        <a:spcAft>
                          <a:spcPts val="0"/>
                        </a:spcAft>
                        <a:buNone/>
                      </a:pPr>
                      <a:r>
                        <a:rPr lang="en" sz="600"/>
                        <a:t>5.4 Technology Risk &amp; Compliance</a:t>
                      </a:r>
                      <a:endParaRPr sz="6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600"/>
                        <a:t>Alan</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to be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Giampaolo</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41775">
                <a:tc>
                  <a:txBody>
                    <a:bodyPr/>
                    <a:lstStyle/>
                    <a:p>
                      <a:pPr indent="0" lvl="0" marL="0" rtl="0" algn="l">
                        <a:spcBef>
                          <a:spcPts val="0"/>
                        </a:spcBef>
                        <a:spcAft>
                          <a:spcPts val="0"/>
                        </a:spcAft>
                        <a:buNone/>
                      </a:pPr>
                      <a:r>
                        <a:rPr lang="en" sz="600"/>
                        <a:t>5.5. Cybersecurity and Data Mgmt</a:t>
                      </a:r>
                      <a:endParaRPr sz="6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600"/>
                        <a:t>Alan</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100"/>
                        <a:buFont typeface="Arial"/>
                        <a:buNone/>
                      </a:pPr>
                      <a:r>
                        <a:rPr lang="en" sz="600">
                          <a:solidFill>
                            <a:schemeClr val="lt1"/>
                          </a:solidFill>
                        </a:rPr>
                        <a:t>Done / to be reviewed</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Giampaolo</a:t>
                      </a:r>
                      <a:endParaRPr sz="600"/>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r>
            </a:tbl>
          </a:graphicData>
        </a:graphic>
      </p:graphicFrame>
      <p:sp>
        <p:nvSpPr>
          <p:cNvPr id="436" name="Google Shape;436;p51"/>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2000"/>
              <a:t>Current Status of Alpaca - 5. IT &amp; Tech &amp; 6. IP &amp; 7. Others</a:t>
            </a:r>
            <a:endParaRPr sz="2000"/>
          </a:p>
        </p:txBody>
      </p:sp>
      <p:sp>
        <p:nvSpPr>
          <p:cNvPr id="437" name="Google Shape;437;p5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Alpaca</a:t>
            </a:r>
            <a:endParaRPr/>
          </a:p>
        </p:txBody>
      </p:sp>
      <p:sp>
        <p:nvSpPr>
          <p:cNvPr id="438" name="Google Shape;438;p51"/>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17-Nov-2025</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
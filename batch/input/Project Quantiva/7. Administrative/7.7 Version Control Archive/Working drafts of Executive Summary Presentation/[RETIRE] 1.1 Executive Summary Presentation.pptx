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 Slab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9" roundtripDataSignature="AMtx7mh0kB1EqIUk1SukY099QN6eNgaj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Slab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font" Target="fonts/RobotoSlab-bold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23de4463e_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3a23de4463e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23de4463e_3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a23de4463e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23de4463e_3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a23de4463e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23de4463e_3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a23de4463e_3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23de4463e_3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a23de4463e_3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23de4463e_3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a23de4463e_3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23de4463e_3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a23de4463e_3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0c5fcd36f_0_4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90c5fcd36f_0_4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90c5fcd36f_0_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90c5fcd36f_0_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90c5fcd36f_0_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90c5fcd36f_0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90c5fcd36f_0_11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90c5fcd36f_0_11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90c5fcd36f_0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g390c5fcd36f_0_1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g390c5fcd36f_0_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g390c5fcd36f_0_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g390c5fcd36f_0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90c5fcd36f_0_20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90c5fcd36f_0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90c5fcd36f_0_20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90c5fcd36f_0_20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90c5fcd36f_0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0c5fcd36f_0_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90c5fcd36f_0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90c5fcd36f_0_2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90c5fcd36f_0_29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90c5fcd36f_0_29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90c5fcd36f_0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0c5fcd36f_0_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90c5fcd36f_0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0c5fcd36f_0_37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g390c5fcd36f_0_37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90c5fcd36f_0_37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90c5fcd36f_0_3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90c5fcd36f_0_3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90c5fcd36f_0_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90c5fcd36f_0_4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90c5fcd36f_0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0c5fcd36f_0_47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90c5fcd36f_0_47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90c5fcd36f_0_47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90c5fcd36f_0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0c5fcd36f_0_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0c5fcd36f_0_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90c5fcd36f_0_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90c5fcd36f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23de4463e_3_0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4800"/>
              <a:t>Qu</a:t>
            </a:r>
            <a:r>
              <a:rPr lang="en"/>
              <a:t>a</a:t>
            </a:r>
            <a:r>
              <a:rPr lang="en" sz="4800"/>
              <a:t>ntiva</a:t>
            </a:r>
            <a:endParaRPr/>
          </a:p>
        </p:txBody>
      </p:sp>
      <p:sp>
        <p:nvSpPr>
          <p:cNvPr id="64" name="Google Shape;64;g3a23de4463e_3_0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100"/>
              <a:t>Cloud-native investment, accounting, and reporting platform</a:t>
            </a:r>
            <a:endParaRPr/>
          </a:p>
        </p:txBody>
      </p:sp>
      <p:sp>
        <p:nvSpPr>
          <p:cNvPr id="65" name="Google Shape;65;g3a23de4463e_3_0"/>
          <p:cNvSpPr txBox="1"/>
          <p:nvPr/>
        </p:nvSpPr>
        <p:spPr>
          <a:xfrm>
            <a:off x="0" y="4758600"/>
            <a:ext cx="914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Disclaimer: Content is only for institutional US- based investors. Past performance is no guarantee for future performance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23de4463e_3_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Business Overview</a:t>
            </a:r>
            <a:endParaRPr/>
          </a:p>
        </p:txBody>
      </p:sp>
      <p:sp>
        <p:nvSpPr>
          <p:cNvPr id="71" name="Google Shape;71;g3a23de4463e_3_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Quantiva centralizes daily investment data from custodians, banks, and trading systems.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Automates reconciliation, investment accounting, and reporting — reducing manual finance/ops work.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Mission-critical for insurers, asset managers, corporates, and public entities that require audit-ready data.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Delivered as multi-tenant SaaS to speed onboarding and lower total cost of ownership.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Modelled on the operating approach of leading investment-accounting platforms.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23de4463e_3_1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Platform Capabilities</a:t>
            </a:r>
            <a:endParaRPr/>
          </a:p>
        </p:txBody>
      </p:sp>
      <p:sp>
        <p:nvSpPr>
          <p:cNvPr id="77" name="Google Shape;77;g3a23de4463e_3_1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Data Ingestion: daily feeds from global custodians, banks, and market systems.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Normalization: rules-based mapping into a canonical investment data model.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Reconciliation: automated cash, position, and transaction matching with exception workflows.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Investment Accounting: support for multiple bases and regulatory regimes.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Reporting &amp; Dashboards: management, regulatory/statutory, and client-facing reporting.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23de4463e_3_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Customers &amp; Use Cases</a:t>
            </a:r>
            <a:endParaRPr/>
          </a:p>
        </p:txBody>
      </p:sp>
      <p:sp>
        <p:nvSpPr>
          <p:cNvPr id="83" name="Google Shape;83;g3a23de4463e_3_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Insurance: daily, accurate investment accounting to meet statutory/regulatory needs.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Asset &amp; Wealth Managers: consolidated, reconciled portfolios for client reporting.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Corporates &amp; Treasury: transparency into investment sleeves across multiple banks.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Public entities: audit-ready investment reporting and controls.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Land-and-expand: start with reporting or reconciliation, then add accounting and analytics.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23de4463e_3_2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Competitive Advantages</a:t>
            </a:r>
            <a:endParaRPr/>
          </a:p>
        </p:txBody>
      </p:sp>
      <p:sp>
        <p:nvSpPr>
          <p:cNvPr id="89" name="Google Shape;89;g3a23de4463e_3_2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Single daily source of truth across all investment data.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Service + software delivery reduces client operational burden.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Cloud-native, secure, and scalable architecture.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Deep domain capabilities for investment accounting and reporting.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Strong retention potential as workflows become embedded.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23de4463e_3_2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Structure: combined primary (Quantiva) and secondary (existing shareholders) offering.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Underwriting discount typically applies to total shares sold and is allocated issuer/sellers.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Proceeds to Quantiva: fund product R&amp;D, add custodian/bank connectors, expand onboarding capacity.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Proceeds to selling holders: provide liquidity to early backers/founders.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Supports long-term growth of a Clearwater-style investment data and accounting platform.</a:t>
            </a:r>
            <a:endParaRPr/>
          </a:p>
        </p:txBody>
      </p:sp>
      <p:sp>
        <p:nvSpPr>
          <p:cNvPr id="95" name="Google Shape;95;g3a23de4463e_3_2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Illustrative Follow-On / Financing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23de4463e_3_3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Transaction Information</a:t>
            </a:r>
            <a:endParaRPr/>
          </a:p>
        </p:txBody>
      </p:sp>
      <p:sp>
        <p:nvSpPr>
          <p:cNvPr id="101" name="Google Shape;101;g3a23de4463e_3_3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Secondary offering of equity: 40 million shares (25 million primary and 15 million selling shareholders)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Public offering price: $15.37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Proceeds: $615 million ($384 million to Quintiva and $231 million to selling shareholders)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Underwriters: AAABB. LLC, BBBCC Securities, DDDFF Securities LLC as Joint Book-Running Managers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Use of Proceeds: Infrastructure investment and general corporate purposes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Selling shareholders - YG Partners L.P. funds and certain executives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
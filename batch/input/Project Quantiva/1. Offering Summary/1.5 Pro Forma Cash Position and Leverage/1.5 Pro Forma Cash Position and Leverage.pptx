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oboto Slab"/>
      <p:regular r:id="rId9"/>
      <p:bold r:id="rId10"/>
    </p:embeddedFon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gauVuf/V/yFZsH2TSf8GhlE9sy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0EE627-006F-4C9D-9B69-37B04D49C15E}">
  <a:tblStyle styleId="{620EE627-006F-4C9D-9B69-37B04D49C15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font" Target="fonts/RobotoSlab-bold.fntdata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RobotoSlab-regular.fntdata"/><Relationship Id="rId15" Type="http://customschemas.google.com/relationships/presentationmetadata" Target="metadata"/><Relationship Id="rId14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db74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db74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db74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db74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db74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db74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db74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db74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edb74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edb74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edb74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edb74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edb74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db74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db74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db74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db74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db74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db74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db74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db74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db74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db74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db74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db74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db74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db74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edb74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db74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db74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db74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db74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db74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db74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db74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edb74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db74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db74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db74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db74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db74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db74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1.5 Pro Forma Cash Position and Leverage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Pro-Forma Cash Position and Leverage</a:t>
            </a:r>
            <a:endParaRPr/>
          </a:p>
        </p:txBody>
      </p:sp>
      <p:graphicFrame>
        <p:nvGraphicFramePr>
          <p:cNvPr id="70" name="Google Shape;70;p2"/>
          <p:cNvGraphicFramePr/>
          <p:nvPr/>
        </p:nvGraphicFramePr>
        <p:xfrm>
          <a:off x="762000" y="120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{620EE627-006F-4C9D-9B69-37B04D49C15E}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In Millions of USD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Q2 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Q3 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Q4 </a:t>
                      </a: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2026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2027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2028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Estimate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Estimate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06/30/2025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09/30/2025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12/31/2026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12/31/2027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12/31/2028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Cash and Equivalents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68.4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60.8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70.3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70.3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247.0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141.0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70.3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Long-term Debt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Operating Income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-14.4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4.3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-52.2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161.7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384.2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Depreciation and Amortization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23.6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25.0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81.1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EBITDA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10.6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35.4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86.9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11.9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225.9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448.4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Long-term Debt/EBITDA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
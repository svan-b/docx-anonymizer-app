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jk2MXV7tZd7m9IplScLwt7EIbM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957F81-53A1-4C02-A763-38E3DD2BB868}">
  <a:tblStyle styleId="{A9957F81-53A1-4C02-A763-38E3DD2BB86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Slab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01716907d_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01716907d_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01716907d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701716907d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01716907d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701716907d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90c5ea6363_0_4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90c5ea6363_0_4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90c5ea6363_0_4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90c5ea6363_0_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90c5ea6363_0_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90c5ea6363_0_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90c5ea6363_0_1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90c5ea6363_0_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g390c5ea6363_0_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g390c5ea6363_0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g390c5ea6363_0_1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g390c5ea6363_0_1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390c5ea6363_0_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90c5ea6363_0_20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90c5ea6363_0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90c5ea6363_0_20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90c5ea6363_0_20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90c5ea6363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90c5ea6363_0_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90c5ea6363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90c5ea6363_0_29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90c5ea6363_0_29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90c5ea6363_0_29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90c5ea6363_0_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0c5ea6363_0_3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90c5ea6363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0c5ea6363_0_37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90c5ea6363_0_37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90c5ea6363_0_37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90c5ea6363_0_37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90c5ea6363_0_3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90c5ea6363_0_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0c5ea6363_0_44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90c5ea6363_0_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0c5ea6363_0_47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90c5ea6363_0_47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90c5ea6363_0_47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90c5ea6363_0_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0c5ea6363_0_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0c5ea6363_0_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b="0" i="0" sz="3000" u="none" cap="none" strike="noStrik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90c5ea6363_0_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90c5ea6363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8771"/>
              <a:buNone/>
            </a:pPr>
            <a:r>
              <a:rPr lang="en"/>
              <a:t>1.4 EPS Analysis - Secondary Offering - 2027</a:t>
            </a:r>
            <a:endParaRPr sz="5400"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31025" y="1458250"/>
            <a:ext cx="8501400" cy="3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Offering Price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$15.37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Secondary Offering Shares (000s)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15,000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Total Offering Amount ($mm)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40,000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23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Offering Assumptions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Share Count Analysis</a:t>
            </a:r>
            <a:endParaRPr/>
          </a:p>
        </p:txBody>
      </p:sp>
      <p:sp>
        <p:nvSpPr>
          <p:cNvPr id="76" name="Google Shape;76;p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Q3 (000s)												       288,154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Primary Shares Issued (000s)												         25,000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Shares Outstanding After Offering (000s)										       313,154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01716907d_3_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Basic EPS Calculation </a:t>
            </a:r>
            <a:endParaRPr/>
          </a:p>
        </p:txBody>
      </p:sp>
      <p:sp>
        <p:nvSpPr>
          <p:cNvPr id="82" name="Google Shape;82;g3701716907d_3_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EARNINGS DATA (2025E)</a:t>
            </a:r>
            <a:r>
              <a:rPr b="1" lang="en" sz="17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 Income Available to Common ($000s)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700">
                <a:latin typeface="Calibri"/>
                <a:ea typeface="Calibri"/>
                <a:cs typeface="Calibri"/>
                <a:sym typeface="Calibri"/>
              </a:rPr>
              <a:t>114,800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83" name="Google Shape;83;g3701716907d_3_9"/>
          <p:cNvGraphicFramePr/>
          <p:nvPr/>
        </p:nvGraphicFramePr>
        <p:xfrm>
          <a:off x="707100" y="2119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2576600"/>
                <a:gridCol w="2576600"/>
                <a:gridCol w="2576600"/>
              </a:tblGrid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47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$0.3984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1716907d_3_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Diluted EPS Calculation </a:t>
            </a:r>
            <a:endParaRPr/>
          </a:p>
        </p:txBody>
      </p:sp>
      <p:sp>
        <p:nvSpPr>
          <p:cNvPr id="89" name="Google Shape;89;g3701716907d_3_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Potentially Dilutive Shares (000s)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i="1"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Dilutive Securities (Stock Options, Warrants, etc.) </a:t>
            </a: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0" name="Google Shape;90;g3701716907d_3_20"/>
          <p:cNvGraphicFramePr/>
          <p:nvPr/>
        </p:nvGraphicFramePr>
        <p:xfrm>
          <a:off x="952500" y="2100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2801575"/>
                <a:gridCol w="2024425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sz="15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After Offering</a:t>
                      </a:r>
                      <a:endParaRPr b="1"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Shares Outstanding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Add: Dilutive Securities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Shares (000s)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288,154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313,154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sz="15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$0.3984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01716907d_3_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Sensitivity Analysis: Impact on EPS (Post Offering)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6" name="Google Shape;96;g3701716907d_3_29"/>
          <p:cNvSpPr txBox="1"/>
          <p:nvPr>
            <p:ph idx="1" type="body"/>
          </p:nvPr>
        </p:nvSpPr>
        <p:spPr>
          <a:xfrm>
            <a:off x="311700" y="9563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97" name="Google Shape;97;g3701716907d_3_29"/>
          <p:cNvGraphicFramePr/>
          <p:nvPr/>
        </p:nvGraphicFramePr>
        <p:xfrm>
          <a:off x="1116100" y="136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{A9957F81-53A1-4C02-A763-38E3DD2BB868}</a:tableStyleId>
              </a:tblPr>
              <a:tblGrid>
                <a:gridCol w="1727950"/>
                <a:gridCol w="1727950"/>
                <a:gridCol w="1727950"/>
                <a:gridCol w="1727950"/>
              </a:tblGrid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Change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 Income ($000s)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Basic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Diluted EPS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91,840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$0.2933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$0.2933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103,320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$0.3299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$0.3299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109,060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$0.3483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$0.3483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1"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Case</a:t>
                      </a:r>
                      <a:endParaRPr b="1" i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114,800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$0.3666</a:t>
                      </a:r>
                      <a:endParaRPr b="1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+5%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120,540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$0.3849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$0.3849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126,280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$0.4033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137,760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$0.4399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$0.4399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+30%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149,240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$0.4766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$0.4766</a:t>
                      </a:r>
                      <a:endParaRPr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
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5143500" cx="9144000"/>
  <p:notesSz cx="6858000" cy="9144000"/>
  <p:embeddedFontLst>
    <p:embeddedFont>
      <p:font typeface="Roboto Slab"/>
      <p:regular r:id="rId13"/>
      <p:bold r:id="rId14"/>
    </p:embeddedFont>
    <p:embeddedFont>
      <p:font typeface="Roboto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19" roundtripDataSignature="AMtx7mi9T5RYZTtD38AU5Uj4KYJGRSX8b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B3A7C16-7770-4D03-A8E4-11400DAE4708}">
  <a:tblStyle styleId="{9B3A7C16-7770-4D03-A8E4-11400DAE470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RobotoSlab-regular.fntdata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Roboto-regular.fntdata"/><Relationship Id="rId14" Type="http://schemas.openxmlformats.org/officeDocument/2006/relationships/font" Target="fonts/RobotoSlab-bold.fntdata"/><Relationship Id="rId17" Type="http://schemas.openxmlformats.org/officeDocument/2006/relationships/font" Target="fonts/Roboto-italic.fntdata"/><Relationship Id="rId16" Type="http://schemas.openxmlformats.org/officeDocument/2006/relationships/font" Target="fonts/Roboto-bold.fntdata"/><Relationship Id="rId5" Type="http://schemas.openxmlformats.org/officeDocument/2006/relationships/slideMaster" Target="slideMasters/slideMaster1.xml"/><Relationship Id="rId19" Type="http://customschemas.google.com/relationships/presentationmetadata" Target="metadata"/><Relationship Id="rId6" Type="http://schemas.openxmlformats.org/officeDocument/2006/relationships/notesMaster" Target="notesMasters/notesMaster1.xml"/><Relationship Id="rId18" Type="http://schemas.openxmlformats.org/officeDocument/2006/relationships/font" Target="fonts/Roboto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701716907d_3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701716907d_3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701716907d_3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701716907d_3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701716907d_3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701716907d_3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90c5ea6363_0_4"/>
          <p:cNvSpPr/>
          <p:nvPr/>
        </p:nvSpPr>
        <p:spPr>
          <a:xfrm>
            <a:off x="1524800" y="672606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g390c5ea6363_0_4"/>
          <p:cNvSpPr/>
          <p:nvPr/>
        </p:nvSpPr>
        <p:spPr>
          <a:xfrm rot="10800000">
            <a:off x="6537563" y="33429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12" name="Google Shape;12;g390c5ea6363_0_4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g390c5ea6363_0_4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4" name="Google Shape;14;g390c5ea6363_0_4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5" name="Google Shape;15;g390c5ea6363_0_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g390c5ea6363_0_11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g390c5ea6363_0_11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" name="Google Shape;19;g390c5ea6363_0_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g390c5ea6363_0_1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g390c5ea6363_0_1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g390c5ea6363_0_15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g390c5ea6363_0_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g390c5ea6363_0_20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g390c5ea6363_0_20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g390c5ea6363_0_20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g390c5ea6363_0_20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g390c5ea6363_0_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390c5ea6363_0_2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g390c5ea6363_0_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g390c5ea6363_0_29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g390c5ea6363_0_29"/>
          <p:cNvSpPr txBox="1"/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g390c5ea6363_0_29"/>
          <p:cNvSpPr txBox="1"/>
          <p:nvPr>
            <p:ph idx="1" type="body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g390c5ea6363_0_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90c5ea6363_0_34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g390c5ea6363_0_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390c5ea6363_0_37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" name="Google Shape;44;g390c5ea6363_0_37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g390c5ea6363_0_37"/>
          <p:cNvSpPr txBox="1"/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6" name="Google Shape;46;g390c5ea6363_0_37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7" name="Google Shape;47;g390c5ea6363_0_37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g390c5ea6363_0_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390c5ea6363_0_44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51" name="Google Shape;51;g390c5ea6363_0_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90c5ea6363_0_47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g390c5ea6363_0_47"/>
          <p:cNvSpPr txBox="1"/>
          <p:nvPr>
            <p:ph hasCustomPrompt="1" type="title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g390c5ea6363_0_47"/>
          <p:cNvSpPr txBox="1"/>
          <p:nvPr>
            <p:ph idx="1" type="body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g390c5ea6363_0_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90c5ea6363_0_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rina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90c5ea6363_0_0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7" name="Google Shape;7;g390c5ea6363_0_0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g390c5ea6363_0_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8888"/>
              <a:buNone/>
            </a:pPr>
            <a:r>
              <a:rPr lang="en"/>
              <a:t>1.4 </a:t>
            </a:r>
            <a:r>
              <a:rPr lang="en"/>
              <a:t>EPS Analysis - Secondary Offering - 2025</a:t>
            </a:r>
            <a:endParaRPr sz="5400"/>
          </a:p>
        </p:txBody>
      </p:sp>
      <p:sp>
        <p:nvSpPr>
          <p:cNvPr id="64" name="Google Shape;64;p1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/>
              <a:t>Quantiva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"/>
          <p:cNvSpPr txBox="1"/>
          <p:nvPr>
            <p:ph idx="1" type="body"/>
          </p:nvPr>
        </p:nvSpPr>
        <p:spPr>
          <a:xfrm>
            <a:off x="331025" y="1458250"/>
            <a:ext cx="8501400" cy="34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23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Offering Price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$15.37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Primary Offering Shares (000s)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25,000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Secondary Offering Shares (000s)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15,000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Total Offering Amount ($mm)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40,000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23"/>
              <a:buNone/>
            </a:pPr>
            <a:r>
              <a:t/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23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70" name="Google Shape;70;p2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33"/>
              <a:buNone/>
            </a:pPr>
            <a:r>
              <a:rPr lang="en"/>
              <a:t>Offering Assumptions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33"/>
              <a:buNone/>
            </a:pPr>
            <a:r>
              <a:rPr lang="en"/>
              <a:t>Share Count Analysis</a:t>
            </a:r>
            <a:endParaRPr/>
          </a:p>
        </p:txBody>
      </p:sp>
      <p:sp>
        <p:nvSpPr>
          <p:cNvPr id="76" name="Google Shape;76;p3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Shares Outstanding Q3 (000s)												       288,154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Primary Shares Issued (000s)												         25,000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Shares Outstanding After Offering (000s)										       313,154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701716907d_3_9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Basic EPS Calculation </a:t>
            </a:r>
            <a:endParaRPr/>
          </a:p>
        </p:txBody>
      </p:sp>
      <p:sp>
        <p:nvSpPr>
          <p:cNvPr id="82" name="Google Shape;82;g3701716907d_3_9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EARNINGS DATA (2025E)</a:t>
            </a:r>
            <a:r>
              <a:rPr b="1" lang="en" sz="1700"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 Income Available to Common ($000s)</a:t>
            </a:r>
            <a:r>
              <a:rPr lang="en" sz="1700">
                <a:latin typeface="Calibri"/>
                <a:ea typeface="Calibri"/>
                <a:cs typeface="Calibri"/>
                <a:sym typeface="Calibri"/>
              </a:rPr>
              <a:t> -</a:t>
            </a:r>
            <a:r>
              <a:rPr lang="e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6,800.00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83" name="Google Shape;83;g3701716907d_3_9"/>
          <p:cNvGraphicFramePr/>
          <p:nvPr/>
        </p:nvGraphicFramePr>
        <p:xfrm>
          <a:off x="707100" y="2119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{9B3A7C16-7770-4D03-A8E4-11400DAE4708}</a:tableStyleId>
              </a:tblPr>
              <a:tblGrid>
                <a:gridCol w="2576600"/>
                <a:gridCol w="2576600"/>
                <a:gridCol w="2576600"/>
              </a:tblGrid>
              <a:tr h="547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Before Offering</a:t>
                      </a:r>
                      <a:endParaRPr b="1" sz="15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After Offering</a:t>
                      </a:r>
                      <a:endParaRPr b="1" sz="15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7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Shares Outstanding (000s)</a:t>
                      </a:r>
                      <a:endParaRPr sz="15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288,154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313,154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47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Net Income ($000s)</a:t>
                      </a:r>
                      <a:endParaRPr sz="15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6,800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6,800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47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Basic EPS</a:t>
                      </a:r>
                      <a:endParaRPr sz="15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$0.0236</a:t>
                      </a:r>
                      <a:endParaRPr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$0.0217</a:t>
                      </a:r>
                      <a:endParaRPr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701716907d_3_20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Diluted EPS Calculation </a:t>
            </a:r>
            <a:endParaRPr/>
          </a:p>
        </p:txBody>
      </p:sp>
      <p:sp>
        <p:nvSpPr>
          <p:cNvPr id="89" name="Google Shape;89;g3701716907d_3_20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Potentially Dilutive Shares (000s)</a:t>
            </a:r>
            <a:r>
              <a:rPr lang="en" sz="1500">
                <a:latin typeface="Calibri"/>
                <a:ea typeface="Calibri"/>
                <a:cs typeface="Calibri"/>
                <a:sym typeface="Calibri"/>
              </a:rPr>
              <a:t> - </a:t>
            </a:r>
            <a:r>
              <a:rPr i="1"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Dilutive Securities (Stock Options, Warrants, etc.) </a:t>
            </a:r>
            <a:r>
              <a:rPr lang="en" sz="1500">
                <a:latin typeface="Calibri"/>
                <a:ea typeface="Calibri"/>
                <a:cs typeface="Calibri"/>
                <a:sym typeface="Calibri"/>
              </a:rPr>
              <a:t> - </a:t>
            </a:r>
            <a:r>
              <a:rPr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90" name="Google Shape;90;g3701716907d_3_20"/>
          <p:cNvGraphicFramePr/>
          <p:nvPr/>
        </p:nvGraphicFramePr>
        <p:xfrm>
          <a:off x="952500" y="2100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{9B3A7C16-7770-4D03-A8E4-11400DAE4708}</a:tableStyleId>
              </a:tblPr>
              <a:tblGrid>
                <a:gridCol w="2801575"/>
                <a:gridCol w="2024425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Before Offering</a:t>
                      </a:r>
                      <a:endParaRPr b="1" sz="15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After Offering</a:t>
                      </a:r>
                      <a:endParaRPr b="1" sz="15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Basic Shares Outstanding (000s)</a:t>
                      </a:r>
                      <a:endParaRPr sz="15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288,154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313,154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Add: Dilutive Securities (000s)</a:t>
                      </a:r>
                      <a:endParaRPr sz="15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Diluted Shares (000s)</a:t>
                      </a:r>
                      <a:endParaRPr sz="15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288,154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313,154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Net Income ($000s)</a:t>
                      </a:r>
                      <a:endParaRPr sz="15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6,800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6,800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Diluted EPS</a:t>
                      </a:r>
                      <a:endParaRPr sz="15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$0.0236</a:t>
                      </a:r>
                      <a:endParaRPr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$0.0217</a:t>
                      </a:r>
                      <a:endParaRPr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701716907d_3_29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Sensitivity Analysis: </a:t>
            </a:r>
            <a:r>
              <a:rPr lang="en"/>
              <a:t>Impact on EPS (Post Offering)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g3701716907d_3_29"/>
          <p:cNvSpPr txBox="1"/>
          <p:nvPr>
            <p:ph idx="1" type="body"/>
          </p:nvPr>
        </p:nvSpPr>
        <p:spPr>
          <a:xfrm>
            <a:off x="311700" y="9563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97" name="Google Shape;97;g3701716907d_3_29"/>
          <p:cNvGraphicFramePr/>
          <p:nvPr/>
        </p:nvGraphicFramePr>
        <p:xfrm>
          <a:off x="1116100" y="1361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{9B3A7C16-7770-4D03-A8E4-11400DAE4708}</a:tableStyleId>
              </a:tblPr>
              <a:tblGrid>
                <a:gridCol w="1727950"/>
                <a:gridCol w="1727950"/>
                <a:gridCol w="1727950"/>
                <a:gridCol w="1727950"/>
              </a:tblGrid>
              <a:tr h="379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Net Income Change</a:t>
                      </a:r>
                      <a:endParaRPr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Net Income ($000s)</a:t>
                      </a:r>
                      <a:endParaRPr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Basic EPS</a:t>
                      </a:r>
                      <a:endParaRPr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Diluted EPS</a:t>
                      </a:r>
                      <a:endParaRPr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9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-20%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5,440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$0.0174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$0.0174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9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-10%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6,120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$0.0195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$0.0195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9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-5%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6,460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$0.0206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$0.0206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9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Base Case</a:t>
                      </a:r>
                      <a:endParaRPr b="1" i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6,800</a:t>
                      </a:r>
                      <a:endParaRPr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$0.0217</a:t>
                      </a:r>
                      <a:endParaRPr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$0.0217</a:t>
                      </a:r>
                      <a:endParaRPr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9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+5%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7,140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$0.0228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$0.0228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9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+10%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7,480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$0.0239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$0.0239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9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+20%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8,160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$0.0261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$0.0261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9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+30%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8,840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$0.0282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$0.0282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
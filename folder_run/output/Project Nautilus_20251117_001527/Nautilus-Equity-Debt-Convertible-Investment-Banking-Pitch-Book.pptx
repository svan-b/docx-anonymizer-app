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008">
          <p15:clr>
            <a:srgbClr val="A4A3A4"/>
          </p15:clr>
        </p15:guide>
        <p15:guide id="2" orient="horz" pos="576">
          <p15:clr>
            <a:srgbClr val="A4A3A4"/>
          </p15:clr>
        </p15:guide>
        <p15:guide id="3" pos="240">
          <p15:clr>
            <a:srgbClr val="A4A3A4"/>
          </p15:clr>
        </p15:guide>
        <p15:guide id="4" pos="5472">
          <p15:clr>
            <a:srgbClr val="A4A3A4"/>
          </p15:clr>
        </p15:guide>
        <p15:guide id="5" orient="horz" pos="1824">
          <p15:clr>
            <a:srgbClr val="A4A3A4"/>
          </p15:clr>
        </p15:guide>
        <p15:guide id="6" orient="horz" pos="2928">
          <p15:clr>
            <a:srgbClr val="A4A3A4"/>
          </p15:clr>
        </p15:guide>
        <p15:guide id="7" orient="horz" pos="1280">
          <p15:clr>
            <a:srgbClr val="A4A3A4"/>
          </p15:clr>
        </p15:guide>
        <p15:guide id="8" pos="1632">
          <p15:clr>
            <a:srgbClr val="A4A3A4"/>
          </p15:clr>
        </p15:guide>
        <p15:guide id="9" pos="4128">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3" roundtripDataSignature="AMtx7mjPIUFh/fi7i6tI1xGQzG5u4hHw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CAF1D7-BB3B-48E1-B30D-3D8150179482}">
  <a:tblStyle styleId="{A9CAF1D7-BB3B-48E1-B30D-3D815017948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008" orient="horz"/>
        <p:guide pos="576" orient="horz"/>
        <p:guide pos="240"/>
        <p:guide pos="5472"/>
        <p:guide pos="1824" orient="horz"/>
        <p:guide pos="2928" orient="horz"/>
        <p:guide pos="1280" orient="horz"/>
        <p:guide pos="1632"/>
        <p:guide pos="4128"/>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 name="Google Shape;4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41" name="Google Shape;41;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 name="Google Shape;4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6" name="Google Shape;5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4" name="Google Shape;6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4" name="Google Shape;8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5" name="Google Shape;95;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4" name="Google Shape;11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4" name="Google Shape;124;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5" name="Google Shape;135;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5" name="Google Shape;145;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4" name="Google Shape;16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3" name="Google Shape;17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1" name="Google Shape;18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1" name="Google Shape;19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1" name="Google Shape;20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38b68570a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3a38b68570a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a38b68570a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7"/>
          <p:cNvSpPr txBox="1"/>
          <p:nvPr>
            <p:ph type="ctrTitle"/>
          </p:nvPr>
        </p:nvSpPr>
        <p:spPr>
          <a:xfrm>
            <a:off x="381000" y="2680771"/>
            <a:ext cx="7772400" cy="369332"/>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sz="2400"/>
            </a:lvl1pPr>
            <a:lvl2pPr lvl="1" algn="just">
              <a:spcBef>
                <a:spcPts val="0"/>
              </a:spcBef>
              <a:spcAft>
                <a:spcPts val="0"/>
              </a:spcAft>
              <a:buSzPts val="1400"/>
              <a:buNone/>
              <a:defRPr/>
            </a:lvl2pPr>
            <a:lvl3pPr lvl="2" algn="just">
              <a:spcBef>
                <a:spcPts val="0"/>
              </a:spcBef>
              <a:spcAft>
                <a:spcPts val="0"/>
              </a:spcAft>
              <a:buSzPts val="1400"/>
              <a:buNone/>
              <a:defRPr/>
            </a:lvl3pPr>
            <a:lvl4pPr lvl="3" algn="just">
              <a:spcBef>
                <a:spcPts val="0"/>
              </a:spcBef>
              <a:spcAft>
                <a:spcPts val="0"/>
              </a:spcAft>
              <a:buSzPts val="1400"/>
              <a:buNone/>
              <a:defRPr/>
            </a:lvl4pPr>
            <a:lvl5pPr lvl="4" algn="just">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17"/>
          <p:cNvSpPr txBox="1"/>
          <p:nvPr>
            <p:ph idx="1" type="subTitle"/>
          </p:nvPr>
        </p:nvSpPr>
        <p:spPr>
          <a:xfrm>
            <a:off x="381000" y="3352800"/>
            <a:ext cx="6400800" cy="215444"/>
          </a:xfrm>
          <a:prstGeom prst="rect">
            <a:avLst/>
          </a:prstGeom>
          <a:noFill/>
          <a:ln>
            <a:noFill/>
          </a:ln>
        </p:spPr>
        <p:txBody>
          <a:bodyPr anchorCtr="0" anchor="t" bIns="0" lIns="0" spcFirstLastPara="1" rIns="0" wrap="square" tIns="0">
            <a:spAutoFit/>
          </a:bodyPr>
          <a:lstStyle>
            <a:lvl1pPr lvl="0" algn="l">
              <a:spcBef>
                <a:spcPts val="280"/>
              </a:spcBef>
              <a:spcAft>
                <a:spcPts val="0"/>
              </a:spcAft>
              <a:buClr>
                <a:srgbClr val="888888"/>
              </a:buClr>
              <a:buSzPts val="1680"/>
              <a:buNone/>
              <a:defRPr>
                <a:solidFill>
                  <a:srgbClr val="888888"/>
                </a:solidFill>
              </a:defRPr>
            </a:lvl1pPr>
            <a:lvl2pPr lvl="1" algn="ctr">
              <a:spcBef>
                <a:spcPts val="280"/>
              </a:spcBef>
              <a:spcAft>
                <a:spcPts val="0"/>
              </a:spcAft>
              <a:buClr>
                <a:srgbClr val="888888"/>
              </a:buClr>
              <a:buSzPts val="1680"/>
              <a:buNone/>
              <a:defRPr>
                <a:solidFill>
                  <a:srgbClr val="888888"/>
                </a:solidFill>
              </a:defRPr>
            </a:lvl2pPr>
            <a:lvl3pPr lvl="2" algn="ctr">
              <a:spcBef>
                <a:spcPts val="280"/>
              </a:spcBef>
              <a:spcAft>
                <a:spcPts val="0"/>
              </a:spcAft>
              <a:buClr>
                <a:srgbClr val="888888"/>
              </a:buClr>
              <a:buSzPts val="1680"/>
              <a:buNone/>
              <a:defRPr>
                <a:solidFill>
                  <a:srgbClr val="888888"/>
                </a:solidFill>
              </a:defRPr>
            </a:lvl3pPr>
            <a:lvl4pPr lvl="3" algn="ctr">
              <a:spcBef>
                <a:spcPts val="280"/>
              </a:spcBef>
              <a:spcAft>
                <a:spcPts val="0"/>
              </a:spcAft>
              <a:buClr>
                <a:srgbClr val="888888"/>
              </a:buClr>
              <a:buSzPts val="1680"/>
              <a:buNone/>
              <a:defRPr>
                <a:solidFill>
                  <a:srgbClr val="888888"/>
                </a:solidFill>
              </a:defRPr>
            </a:lvl4pPr>
            <a:lvl5pPr lvl="4" algn="ctr">
              <a:spcBef>
                <a:spcPts val="280"/>
              </a:spcBef>
              <a:spcAft>
                <a:spcPts val="0"/>
              </a:spcAft>
              <a:buClr>
                <a:srgbClr val="888888"/>
              </a:buClr>
              <a:buSzPts val="168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lvl1pPr indent="0" lvl="0" marL="0" marR="0" algn="r">
              <a:spcBef>
                <a:spcPts val="0"/>
              </a:spcBef>
              <a:spcAft>
                <a:spcPts val="0"/>
              </a:spcAft>
              <a:buNone/>
              <a:defRPr sz="1000">
                <a:solidFill>
                  <a:schemeClr val="dk1"/>
                </a:solidFill>
                <a:latin typeface="Arial"/>
                <a:ea typeface="Arial"/>
                <a:cs typeface="Arial"/>
                <a:sym typeface="Arial"/>
              </a:defRPr>
            </a:lvl1pPr>
            <a:lvl2pPr indent="0" lvl="1" marL="0" marR="0" algn="r">
              <a:spcBef>
                <a:spcPts val="0"/>
              </a:spcBef>
              <a:spcAft>
                <a:spcPts val="0"/>
              </a:spcAft>
              <a:buNone/>
              <a:defRPr sz="1000">
                <a:solidFill>
                  <a:schemeClr val="dk1"/>
                </a:solidFill>
                <a:latin typeface="Arial"/>
                <a:ea typeface="Arial"/>
                <a:cs typeface="Arial"/>
                <a:sym typeface="Arial"/>
              </a:defRPr>
            </a:lvl2pPr>
            <a:lvl3pPr indent="0" lvl="2" marL="0" marR="0" algn="r">
              <a:spcBef>
                <a:spcPts val="0"/>
              </a:spcBef>
              <a:spcAft>
                <a:spcPts val="0"/>
              </a:spcAft>
              <a:buNone/>
              <a:defRPr sz="1000">
                <a:solidFill>
                  <a:schemeClr val="dk1"/>
                </a:solidFill>
                <a:latin typeface="Arial"/>
                <a:ea typeface="Arial"/>
                <a:cs typeface="Arial"/>
                <a:sym typeface="Arial"/>
              </a:defRPr>
            </a:lvl3pPr>
            <a:lvl4pPr indent="0" lvl="3" marL="0" marR="0" algn="r">
              <a:spcBef>
                <a:spcPts val="0"/>
              </a:spcBef>
              <a:spcAft>
                <a:spcPts val="0"/>
              </a:spcAft>
              <a:buNone/>
              <a:defRPr sz="1000">
                <a:solidFill>
                  <a:schemeClr val="dk1"/>
                </a:solidFill>
                <a:latin typeface="Arial"/>
                <a:ea typeface="Arial"/>
                <a:cs typeface="Arial"/>
                <a:sym typeface="Arial"/>
              </a:defRPr>
            </a:lvl4pPr>
            <a:lvl5pPr indent="0" lvl="4" marL="0" marR="0" algn="r">
              <a:spcBef>
                <a:spcPts val="0"/>
              </a:spcBef>
              <a:spcAft>
                <a:spcPts val="0"/>
              </a:spcAft>
              <a:buNone/>
              <a:defRPr sz="1000">
                <a:solidFill>
                  <a:schemeClr val="dk1"/>
                </a:solidFill>
                <a:latin typeface="Arial"/>
                <a:ea typeface="Arial"/>
                <a:cs typeface="Arial"/>
                <a:sym typeface="Arial"/>
              </a:defRPr>
            </a:lvl5pPr>
            <a:lvl6pPr indent="0" lvl="5" marL="0" marR="0" algn="r">
              <a:spcBef>
                <a:spcPts val="0"/>
              </a:spcBef>
              <a:spcAft>
                <a:spcPts val="0"/>
              </a:spcAft>
              <a:buNone/>
              <a:defRPr sz="1000">
                <a:solidFill>
                  <a:schemeClr val="dk1"/>
                </a:solidFill>
                <a:latin typeface="Arial"/>
                <a:ea typeface="Arial"/>
                <a:cs typeface="Arial"/>
                <a:sym typeface="Arial"/>
              </a:defRPr>
            </a:lvl6pPr>
            <a:lvl7pPr indent="0" lvl="6" marL="0" marR="0" algn="r">
              <a:spcBef>
                <a:spcPts val="0"/>
              </a:spcBef>
              <a:spcAft>
                <a:spcPts val="0"/>
              </a:spcAft>
              <a:buNone/>
              <a:defRPr sz="1000">
                <a:solidFill>
                  <a:schemeClr val="dk1"/>
                </a:solidFill>
                <a:latin typeface="Arial"/>
                <a:ea typeface="Arial"/>
                <a:cs typeface="Arial"/>
                <a:sym typeface="Arial"/>
              </a:defRPr>
            </a:lvl7pPr>
            <a:lvl8pPr indent="0" lvl="7" marL="0" marR="0" algn="r">
              <a:spcBef>
                <a:spcPts val="0"/>
              </a:spcBef>
              <a:spcAft>
                <a:spcPts val="0"/>
              </a:spcAft>
              <a:buNone/>
              <a:defRPr sz="1000">
                <a:solidFill>
                  <a:schemeClr val="dk1"/>
                </a:solidFill>
                <a:latin typeface="Arial"/>
                <a:ea typeface="Arial"/>
                <a:cs typeface="Arial"/>
                <a:sym typeface="Arial"/>
              </a:defRPr>
            </a:lvl8pPr>
            <a:lvl9pPr indent="0" lvl="8" marL="0" marR="0" algn="r">
              <a:spcBef>
                <a:spcPts val="0"/>
              </a:spcBef>
              <a:spcAft>
                <a:spcPts val="0"/>
              </a:spcAft>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27" name="Google Shape;27;p17"/>
          <p:cNvCxnSpPr/>
          <p:nvPr/>
        </p:nvCxnSpPr>
        <p:spPr>
          <a:xfrm>
            <a:off x="0" y="838200"/>
            <a:ext cx="9144000" cy="1588"/>
          </a:xfrm>
          <a:prstGeom prst="straightConnector1">
            <a:avLst/>
          </a:prstGeom>
          <a:noFill/>
          <a:ln cap="flat" cmpd="sng" w="22225">
            <a:solidFill>
              <a:srgbClr val="113D63"/>
            </a:solidFill>
            <a:prstDash val="solid"/>
            <a:round/>
            <a:headEnd len="sm" w="sm" type="none"/>
            <a:tailEnd len="sm" w="sm" type="none"/>
          </a:ln>
        </p:spPr>
      </p:cxnSp>
      <p:sp>
        <p:nvSpPr>
          <p:cNvPr id="28" name="Google Shape;28;p17"/>
          <p:cNvSpPr/>
          <p:nvPr/>
        </p:nvSpPr>
        <p:spPr>
          <a:xfrm>
            <a:off x="0" y="838200"/>
            <a:ext cx="155448" cy="374904"/>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 name="Google Shape;29;p17"/>
          <p:cNvSpPr txBox="1"/>
          <p:nvPr/>
        </p:nvSpPr>
        <p:spPr>
          <a:xfrm>
            <a:off x="7315200" y="561975"/>
            <a:ext cx="1371600" cy="18466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Confidential Draft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0" name="Shape 30"/>
        <p:cNvGrpSpPr/>
        <p:nvPr/>
      </p:nvGrpSpPr>
      <p:grpSpPr>
        <a:xfrm>
          <a:off x="0" y="0"/>
          <a:ext cx="0" cy="0"/>
          <a:chOff x="0" y="0"/>
          <a:chExt cx="0" cy="0"/>
        </a:xfrm>
      </p:grpSpPr>
      <p:sp>
        <p:nvSpPr>
          <p:cNvPr id="31" name="Google Shape;31;p18"/>
          <p:cNvSpPr txBox="1"/>
          <p:nvPr>
            <p:ph idx="1" type="body"/>
          </p:nvPr>
        </p:nvSpPr>
        <p:spPr>
          <a:xfrm>
            <a:off x="427300" y="1646238"/>
            <a:ext cx="9136380" cy="1341906"/>
          </a:xfrm>
          <a:prstGeom prst="rect">
            <a:avLst/>
          </a:prstGeom>
          <a:noFill/>
          <a:ln>
            <a:noFill/>
          </a:ln>
        </p:spPr>
        <p:txBody>
          <a:bodyPr anchorCtr="0" anchor="t" bIns="45700" lIns="0" spcFirstLastPara="1" rIns="0" wrap="square" tIns="45700">
            <a:spAutoFit/>
          </a:bodyPr>
          <a:lstStyle>
            <a:lvl1pPr indent="-335280" lvl="0" marL="457200" algn="l">
              <a:spcBef>
                <a:spcPts val="280"/>
              </a:spcBef>
              <a:spcAft>
                <a:spcPts val="0"/>
              </a:spcAft>
              <a:buClr>
                <a:schemeClr val="dk1"/>
              </a:buClr>
              <a:buSzPts val="1680"/>
              <a:buFont typeface="Noto Sans Symbols"/>
              <a:buChar char="▪"/>
              <a:defRPr b="0" i="0" u="none"/>
            </a:lvl1pPr>
            <a:lvl2pPr indent="-335280" lvl="1" marL="914400" algn="l">
              <a:spcBef>
                <a:spcPts val="280"/>
              </a:spcBef>
              <a:spcAft>
                <a:spcPts val="0"/>
              </a:spcAft>
              <a:buClr>
                <a:schemeClr val="dk1"/>
              </a:buClr>
              <a:buSzPts val="1680"/>
              <a:buFont typeface="Arial"/>
              <a:buChar char="•"/>
              <a:defRPr/>
            </a:lvl2pPr>
            <a:lvl3pPr indent="-335280" lvl="2" marL="1371600" algn="l">
              <a:spcBef>
                <a:spcPts val="280"/>
              </a:spcBef>
              <a:spcAft>
                <a:spcPts val="0"/>
              </a:spcAft>
              <a:buClr>
                <a:schemeClr val="dk1"/>
              </a:buClr>
              <a:buSzPts val="1680"/>
              <a:buFont typeface="Noto Sans Symbols"/>
              <a:buChar char="⮚"/>
              <a:defRPr/>
            </a:lvl3pPr>
            <a:lvl4pPr indent="-335280" lvl="3" marL="1828800" algn="l">
              <a:spcBef>
                <a:spcPts val="280"/>
              </a:spcBef>
              <a:spcAft>
                <a:spcPts val="0"/>
              </a:spcAft>
              <a:buClr>
                <a:schemeClr val="dk1"/>
              </a:buClr>
              <a:buSzPts val="1680"/>
              <a:buChar char="–"/>
              <a:defRPr/>
            </a:lvl4pPr>
            <a:lvl5pPr indent="-335279" lvl="4" marL="2286000" algn="l">
              <a:spcBef>
                <a:spcPts val="280"/>
              </a:spcBef>
              <a:spcAft>
                <a:spcPts val="0"/>
              </a:spcAft>
              <a:buClr>
                <a:schemeClr val="dk1"/>
              </a:buClr>
              <a:buSzPts val="16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8"/>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lvl1pPr indent="0" lvl="0" marL="0" marR="0" algn="r">
              <a:spcBef>
                <a:spcPts val="0"/>
              </a:spcBef>
              <a:spcAft>
                <a:spcPts val="0"/>
              </a:spcAft>
              <a:buNone/>
              <a:defRPr sz="1000">
                <a:solidFill>
                  <a:schemeClr val="dk1"/>
                </a:solidFill>
                <a:latin typeface="Arial"/>
                <a:ea typeface="Arial"/>
                <a:cs typeface="Arial"/>
                <a:sym typeface="Arial"/>
              </a:defRPr>
            </a:lvl1pPr>
            <a:lvl2pPr indent="0" lvl="1" marL="0" marR="0" algn="r">
              <a:spcBef>
                <a:spcPts val="0"/>
              </a:spcBef>
              <a:spcAft>
                <a:spcPts val="0"/>
              </a:spcAft>
              <a:buNone/>
              <a:defRPr sz="1000">
                <a:solidFill>
                  <a:schemeClr val="dk1"/>
                </a:solidFill>
                <a:latin typeface="Arial"/>
                <a:ea typeface="Arial"/>
                <a:cs typeface="Arial"/>
                <a:sym typeface="Arial"/>
              </a:defRPr>
            </a:lvl2pPr>
            <a:lvl3pPr indent="0" lvl="2" marL="0" marR="0" algn="r">
              <a:spcBef>
                <a:spcPts val="0"/>
              </a:spcBef>
              <a:spcAft>
                <a:spcPts val="0"/>
              </a:spcAft>
              <a:buNone/>
              <a:defRPr sz="1000">
                <a:solidFill>
                  <a:schemeClr val="dk1"/>
                </a:solidFill>
                <a:latin typeface="Arial"/>
                <a:ea typeface="Arial"/>
                <a:cs typeface="Arial"/>
                <a:sym typeface="Arial"/>
              </a:defRPr>
            </a:lvl3pPr>
            <a:lvl4pPr indent="0" lvl="3" marL="0" marR="0" algn="r">
              <a:spcBef>
                <a:spcPts val="0"/>
              </a:spcBef>
              <a:spcAft>
                <a:spcPts val="0"/>
              </a:spcAft>
              <a:buNone/>
              <a:defRPr sz="1000">
                <a:solidFill>
                  <a:schemeClr val="dk1"/>
                </a:solidFill>
                <a:latin typeface="Arial"/>
                <a:ea typeface="Arial"/>
                <a:cs typeface="Arial"/>
                <a:sym typeface="Arial"/>
              </a:defRPr>
            </a:lvl4pPr>
            <a:lvl5pPr indent="0" lvl="4" marL="0" marR="0" algn="r">
              <a:spcBef>
                <a:spcPts val="0"/>
              </a:spcBef>
              <a:spcAft>
                <a:spcPts val="0"/>
              </a:spcAft>
              <a:buNone/>
              <a:defRPr sz="1000">
                <a:solidFill>
                  <a:schemeClr val="dk1"/>
                </a:solidFill>
                <a:latin typeface="Arial"/>
                <a:ea typeface="Arial"/>
                <a:cs typeface="Arial"/>
                <a:sym typeface="Arial"/>
              </a:defRPr>
            </a:lvl5pPr>
            <a:lvl6pPr indent="0" lvl="5" marL="0" marR="0" algn="r">
              <a:spcBef>
                <a:spcPts val="0"/>
              </a:spcBef>
              <a:spcAft>
                <a:spcPts val="0"/>
              </a:spcAft>
              <a:buNone/>
              <a:defRPr sz="1000">
                <a:solidFill>
                  <a:schemeClr val="dk1"/>
                </a:solidFill>
                <a:latin typeface="Arial"/>
                <a:ea typeface="Arial"/>
                <a:cs typeface="Arial"/>
                <a:sym typeface="Arial"/>
              </a:defRPr>
            </a:lvl6pPr>
            <a:lvl7pPr indent="0" lvl="6" marL="0" marR="0" algn="r">
              <a:spcBef>
                <a:spcPts val="0"/>
              </a:spcBef>
              <a:spcAft>
                <a:spcPts val="0"/>
              </a:spcAft>
              <a:buNone/>
              <a:defRPr sz="1000">
                <a:solidFill>
                  <a:schemeClr val="dk1"/>
                </a:solidFill>
                <a:latin typeface="Arial"/>
                <a:ea typeface="Arial"/>
                <a:cs typeface="Arial"/>
                <a:sym typeface="Arial"/>
              </a:defRPr>
            </a:lvl7pPr>
            <a:lvl8pPr indent="0" lvl="7" marL="0" marR="0" algn="r">
              <a:spcBef>
                <a:spcPts val="0"/>
              </a:spcBef>
              <a:spcAft>
                <a:spcPts val="0"/>
              </a:spcAft>
              <a:buNone/>
              <a:defRPr sz="1000">
                <a:solidFill>
                  <a:schemeClr val="dk1"/>
                </a:solidFill>
                <a:latin typeface="Arial"/>
                <a:ea typeface="Arial"/>
                <a:cs typeface="Arial"/>
                <a:sym typeface="Arial"/>
              </a:defRPr>
            </a:lvl8pPr>
            <a:lvl9pPr indent="0" lvl="8" marL="0" marR="0" algn="r">
              <a:spcBef>
                <a:spcPts val="0"/>
              </a:spcBef>
              <a:spcAft>
                <a:spcPts val="0"/>
              </a:spcAft>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18"/>
          <p:cNvSpPr txBox="1"/>
          <p:nvPr>
            <p:ph type="title"/>
          </p:nvPr>
        </p:nvSpPr>
        <p:spPr>
          <a:xfrm>
            <a:off x="381000" y="386834"/>
            <a:ext cx="8305800" cy="369332"/>
          </a:xfrm>
          <a:prstGeom prst="rect">
            <a:avLst/>
          </a:prstGeom>
          <a:noFill/>
          <a:ln>
            <a:noFill/>
          </a:ln>
        </p:spPr>
        <p:txBody>
          <a:bodyPr anchorCtr="0" anchor="ctr" bIns="0" lIns="0" spcFirstLastPara="1" rIns="0" wrap="square" tIns="0">
            <a:spAutoFit/>
          </a:bodyPr>
          <a:lstStyle>
            <a:lvl1pPr lvl="0" algn="just">
              <a:spcBef>
                <a:spcPts val="0"/>
              </a:spcBef>
              <a:spcAft>
                <a:spcPts val="0"/>
              </a:spcAft>
              <a:buSzPts val="1400"/>
              <a:buNone/>
              <a:defRPr/>
            </a:lvl1pPr>
            <a:lvl2pPr lvl="1" algn="just">
              <a:spcBef>
                <a:spcPts val="0"/>
              </a:spcBef>
              <a:spcAft>
                <a:spcPts val="0"/>
              </a:spcAft>
              <a:buSzPts val="1400"/>
              <a:buNone/>
              <a:defRPr/>
            </a:lvl2pPr>
            <a:lvl3pPr lvl="2" algn="just">
              <a:spcBef>
                <a:spcPts val="0"/>
              </a:spcBef>
              <a:spcAft>
                <a:spcPts val="0"/>
              </a:spcAft>
              <a:buSzPts val="1400"/>
              <a:buNone/>
              <a:defRPr/>
            </a:lvl3pPr>
            <a:lvl4pPr lvl="3" algn="just">
              <a:spcBef>
                <a:spcPts val="0"/>
              </a:spcBef>
              <a:spcAft>
                <a:spcPts val="0"/>
              </a:spcAft>
              <a:buSzPts val="1400"/>
              <a:buNone/>
              <a:defRPr/>
            </a:lvl4pPr>
            <a:lvl5pPr lvl="4" algn="just">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35" name="Google Shape;35;p18"/>
          <p:cNvCxnSpPr/>
          <p:nvPr/>
        </p:nvCxnSpPr>
        <p:spPr>
          <a:xfrm>
            <a:off x="0" y="838200"/>
            <a:ext cx="9144000" cy="1588"/>
          </a:xfrm>
          <a:prstGeom prst="straightConnector1">
            <a:avLst/>
          </a:prstGeom>
          <a:noFill/>
          <a:ln cap="flat" cmpd="sng" w="22225">
            <a:solidFill>
              <a:srgbClr val="113D63"/>
            </a:solidFill>
            <a:prstDash val="solid"/>
            <a:round/>
            <a:headEnd len="sm" w="sm" type="none"/>
            <a:tailEnd len="sm" w="sm" type="none"/>
          </a:ln>
        </p:spPr>
      </p:cxnSp>
      <p:sp>
        <p:nvSpPr>
          <p:cNvPr id="36" name="Google Shape;36;p18"/>
          <p:cNvSpPr/>
          <p:nvPr/>
        </p:nvSpPr>
        <p:spPr>
          <a:xfrm>
            <a:off x="0" y="838200"/>
            <a:ext cx="155448" cy="374904"/>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 name="Google Shape;37;p18"/>
          <p:cNvCxnSpPr/>
          <p:nvPr/>
        </p:nvCxnSpPr>
        <p:spPr>
          <a:xfrm>
            <a:off x="0" y="6354762"/>
            <a:ext cx="9144000" cy="1588"/>
          </a:xfrm>
          <a:prstGeom prst="straightConnector1">
            <a:avLst/>
          </a:prstGeom>
          <a:noFill/>
          <a:ln cap="flat" cmpd="sng" w="22225">
            <a:solidFill>
              <a:srgbClr val="113D63"/>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381000" y="386834"/>
            <a:ext cx="8305800" cy="369332"/>
          </a:xfrm>
          <a:prstGeom prst="rect">
            <a:avLst/>
          </a:prstGeom>
          <a:noFill/>
          <a:ln>
            <a:noFill/>
          </a:ln>
        </p:spPr>
        <p:txBody>
          <a:bodyPr anchorCtr="0" anchor="ctr" bIns="0" lIns="0" spcFirstLastPara="1" rIns="0" wrap="square" tIns="0">
            <a:spAutoFit/>
          </a:bodyPr>
          <a:lstStyle>
            <a:lvl1pPr lvl="0" marR="0" rtl="0" algn="just">
              <a:spcBef>
                <a:spcPts val="0"/>
              </a:spcBef>
              <a:spcAft>
                <a:spcPts val="0"/>
              </a:spcAft>
              <a:buSzPts val="1400"/>
              <a:buNone/>
              <a:defRPr b="0" i="0" sz="2400" u="none" cap="none" strike="noStrike">
                <a:solidFill>
                  <a:schemeClr val="dk1"/>
                </a:solidFill>
                <a:latin typeface="Arial"/>
                <a:ea typeface="Arial"/>
                <a:cs typeface="Arial"/>
                <a:sym typeface="Arial"/>
              </a:defRPr>
            </a:lvl1pPr>
            <a:lvl2pPr lvl="1" marR="0" rtl="0" algn="just">
              <a:spcBef>
                <a:spcPts val="0"/>
              </a:spcBef>
              <a:spcAft>
                <a:spcPts val="0"/>
              </a:spcAft>
              <a:buSzPts val="1400"/>
              <a:buNone/>
              <a:defRPr b="0" i="0" sz="3200" u="none" cap="none" strike="noStrike">
                <a:solidFill>
                  <a:schemeClr val="dk1"/>
                </a:solidFill>
                <a:latin typeface="Arial"/>
                <a:ea typeface="Arial"/>
                <a:cs typeface="Arial"/>
                <a:sym typeface="Arial"/>
              </a:defRPr>
            </a:lvl2pPr>
            <a:lvl3pPr lvl="2" marR="0" rtl="0" algn="just">
              <a:spcBef>
                <a:spcPts val="0"/>
              </a:spcBef>
              <a:spcAft>
                <a:spcPts val="0"/>
              </a:spcAft>
              <a:buSzPts val="1400"/>
              <a:buNone/>
              <a:defRPr b="0" i="0" sz="3200" u="none" cap="none" strike="noStrike">
                <a:solidFill>
                  <a:schemeClr val="dk1"/>
                </a:solidFill>
                <a:latin typeface="Arial"/>
                <a:ea typeface="Arial"/>
                <a:cs typeface="Arial"/>
                <a:sym typeface="Arial"/>
              </a:defRPr>
            </a:lvl3pPr>
            <a:lvl4pPr lvl="3" marR="0" rtl="0" algn="just">
              <a:spcBef>
                <a:spcPts val="0"/>
              </a:spcBef>
              <a:spcAft>
                <a:spcPts val="0"/>
              </a:spcAft>
              <a:buSzPts val="1400"/>
              <a:buNone/>
              <a:defRPr b="0" i="0" sz="3200" u="none" cap="none" strike="noStrike">
                <a:solidFill>
                  <a:schemeClr val="dk1"/>
                </a:solidFill>
                <a:latin typeface="Arial"/>
                <a:ea typeface="Arial"/>
                <a:cs typeface="Arial"/>
                <a:sym typeface="Arial"/>
              </a:defRPr>
            </a:lvl4pPr>
            <a:lvl5pPr lvl="4" marR="0" rtl="0" algn="just">
              <a:spcBef>
                <a:spcPts val="0"/>
              </a:spcBef>
              <a:spcAft>
                <a:spcPts val="0"/>
              </a:spcAft>
              <a:buSzPts val="1400"/>
              <a:buNone/>
              <a:defRPr b="0" i="0" sz="32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6"/>
          <p:cNvSpPr txBox="1"/>
          <p:nvPr>
            <p:ph idx="1" type="body"/>
          </p:nvPr>
        </p:nvSpPr>
        <p:spPr>
          <a:xfrm>
            <a:off x="381000" y="1646238"/>
            <a:ext cx="8305800" cy="1341906"/>
          </a:xfrm>
          <a:prstGeom prst="rect">
            <a:avLst/>
          </a:prstGeom>
          <a:noFill/>
          <a:ln>
            <a:noFill/>
          </a:ln>
        </p:spPr>
        <p:txBody>
          <a:bodyPr anchorCtr="0" anchor="t" bIns="45700" lIns="0" spcFirstLastPara="1" rIns="0" wrap="square" tIns="45700">
            <a:spAutoFit/>
          </a:bodyPr>
          <a:lstStyle>
            <a:lvl1pPr indent="-335280" lvl="0" marL="457200" marR="0" rtl="0" algn="l">
              <a:spcBef>
                <a:spcPts val="280"/>
              </a:spcBef>
              <a:spcAft>
                <a:spcPts val="0"/>
              </a:spcAft>
              <a:buClr>
                <a:schemeClr val="dk1"/>
              </a:buClr>
              <a:buSzPts val="1680"/>
              <a:buFont typeface="Noto Sans Symbols"/>
              <a:buChar char="▪"/>
              <a:defRPr b="0" i="0" sz="1400" u="none" cap="none" strike="noStrike">
                <a:solidFill>
                  <a:schemeClr val="dk1"/>
                </a:solidFill>
                <a:latin typeface="Arial"/>
                <a:ea typeface="Arial"/>
                <a:cs typeface="Arial"/>
                <a:sym typeface="Arial"/>
              </a:defRPr>
            </a:lvl1pPr>
            <a:lvl2pPr indent="-335280" lvl="1" marL="914400" marR="0" rtl="0" algn="l">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2pPr>
            <a:lvl3pPr indent="-335280" lvl="2" marL="1371600" marR="0" rtl="0" algn="l">
              <a:spcBef>
                <a:spcPts val="280"/>
              </a:spcBef>
              <a:spcAft>
                <a:spcPts val="0"/>
              </a:spcAft>
              <a:buClr>
                <a:schemeClr val="dk1"/>
              </a:buClr>
              <a:buSzPts val="1680"/>
              <a:buFont typeface="Noto Sans Symbols"/>
              <a:buChar char="⮚"/>
              <a:defRPr b="0" i="0" sz="1400" u="none" cap="none" strike="noStrike">
                <a:solidFill>
                  <a:schemeClr val="dk1"/>
                </a:solidFill>
                <a:latin typeface="Arial"/>
                <a:ea typeface="Arial"/>
                <a:cs typeface="Arial"/>
                <a:sym typeface="Arial"/>
              </a:defRPr>
            </a:lvl3pPr>
            <a:lvl4pPr indent="-335280" lvl="3" marL="1828800" marR="0" rtl="0" algn="l">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4pPr>
            <a:lvl5pPr indent="-335279" lvl="4" marL="2286000" marR="0" rtl="0" algn="l">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lvl1pPr indent="0" lvl="0" marL="0" marR="0" rt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6"/>
          <p:cNvSpPr txBox="1"/>
          <p:nvPr/>
        </p:nvSpPr>
        <p:spPr>
          <a:xfrm>
            <a:off x="-3429000" y="386834"/>
            <a:ext cx="3200400" cy="138499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400" u="none" cap="none" strike="noStrike">
                <a:solidFill>
                  <a:srgbClr val="000000"/>
                </a:solidFill>
                <a:latin typeface="Arial"/>
                <a:ea typeface="Arial"/>
                <a:cs typeface="Arial"/>
                <a:sym typeface="Arial"/>
              </a:rPr>
              <a:t>Arial Slide Title – 24</a:t>
            </a:r>
            <a:endParaRPr b="0" i="0" sz="1800" u="none" cap="none" strike="noStrike">
              <a:solidFill>
                <a:srgbClr val="000000"/>
              </a:solidFill>
              <a:latin typeface="Arial"/>
              <a:ea typeface="Arial"/>
              <a:cs typeface="Arial"/>
              <a:sym typeface="Arial"/>
            </a:endParaRPr>
          </a:p>
          <a:p>
            <a:pPr indent="0" lvl="0" marL="0" marR="0" rtl="0" algn="r">
              <a:spcBef>
                <a:spcPts val="1200"/>
              </a:spcBef>
              <a:spcAft>
                <a:spcPts val="0"/>
              </a:spcAft>
              <a:buNone/>
            </a:pPr>
            <a:r>
              <a:rPr b="0" i="0" lang="en-US" sz="1400" u="none" cap="none" strike="noStrike">
                <a:solidFill>
                  <a:srgbClr val="000000"/>
                </a:solidFill>
                <a:latin typeface="Arial"/>
                <a:ea typeface="Arial"/>
                <a:cs typeface="Arial"/>
                <a:sym typeface="Arial"/>
              </a:rPr>
              <a:t>Content/Section Title Text – 14</a:t>
            </a:r>
            <a:endParaRPr/>
          </a:p>
          <a:p>
            <a:pPr indent="0" lvl="0" marL="0" marR="0" rtl="0" algn="r">
              <a:spcBef>
                <a:spcPts val="1200"/>
              </a:spcBef>
              <a:spcAft>
                <a:spcPts val="0"/>
              </a:spcAft>
              <a:buNone/>
            </a:pPr>
            <a:r>
              <a:rPr b="0" i="0" lang="en-US" sz="1200" u="none" cap="none" strike="noStrike">
                <a:solidFill>
                  <a:srgbClr val="000000"/>
                </a:solidFill>
                <a:latin typeface="Arial"/>
                <a:ea typeface="Arial"/>
                <a:cs typeface="Arial"/>
                <a:sym typeface="Arial"/>
              </a:rPr>
              <a:t>Bullet and Subtitle Text – 12</a:t>
            </a:r>
            <a:endParaRPr/>
          </a:p>
          <a:p>
            <a:pPr indent="0" lvl="0" marL="0" marR="0" rtl="0" algn="r">
              <a:spcBef>
                <a:spcPts val="1200"/>
              </a:spcBef>
              <a:spcAft>
                <a:spcPts val="0"/>
              </a:spcAft>
              <a:buNone/>
            </a:pPr>
            <a:r>
              <a:rPr b="0" i="0" lang="en-US" sz="1000" u="none" cap="none" strike="noStrike">
                <a:solidFill>
                  <a:srgbClr val="000000"/>
                </a:solidFill>
                <a:latin typeface="Arial"/>
                <a:ea typeface="Arial"/>
                <a:cs typeface="Arial"/>
                <a:sym typeface="Arial"/>
              </a:rPr>
              <a:t>Chart, Profile, and Currency Text – 10</a:t>
            </a:r>
            <a:endParaRPr/>
          </a:p>
        </p:txBody>
      </p:sp>
      <p:sp>
        <p:nvSpPr>
          <p:cNvPr id="15" name="Google Shape;15;p16"/>
          <p:cNvSpPr/>
          <p:nvPr/>
        </p:nvSpPr>
        <p:spPr>
          <a:xfrm>
            <a:off x="-2186151" y="2659942"/>
            <a:ext cx="1957551" cy="463500"/>
          </a:xfrm>
          <a:prstGeom prst="rect">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Outline: black, ½ pt.</a:t>
            </a:r>
            <a:endParaRPr/>
          </a:p>
        </p:txBody>
      </p:sp>
      <p:sp>
        <p:nvSpPr>
          <p:cNvPr id="16" name="Google Shape;16;p16"/>
          <p:cNvSpPr/>
          <p:nvPr/>
        </p:nvSpPr>
        <p:spPr>
          <a:xfrm>
            <a:off x="-2186151" y="3383473"/>
            <a:ext cx="1957551" cy="466344"/>
          </a:xfrm>
          <a:prstGeom prst="rect">
            <a:avLst/>
          </a:prstGeom>
          <a:solidFill>
            <a:srgbClr val="CCD1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Arial"/>
                <a:ea typeface="Arial"/>
                <a:cs typeface="Arial"/>
                <a:sym typeface="Arial"/>
              </a:rPr>
              <a:t>204 – 209 – 215</a:t>
            </a:r>
            <a:endParaRPr b="0" i="0" sz="1200" u="none" cap="none" strike="noStrike">
              <a:solidFill>
                <a:schemeClr val="dk1"/>
              </a:solidFill>
              <a:latin typeface="Arial"/>
              <a:ea typeface="Arial"/>
              <a:cs typeface="Arial"/>
              <a:sym typeface="Arial"/>
            </a:endParaRPr>
          </a:p>
        </p:txBody>
      </p:sp>
      <p:sp>
        <p:nvSpPr>
          <p:cNvPr id="17" name="Google Shape;17;p16"/>
          <p:cNvSpPr/>
          <p:nvPr/>
        </p:nvSpPr>
        <p:spPr>
          <a:xfrm>
            <a:off x="-2186151" y="4109848"/>
            <a:ext cx="1957551" cy="466344"/>
          </a:xfrm>
          <a:prstGeom prst="rect">
            <a:avLst/>
          </a:prstGeom>
          <a:solidFill>
            <a:srgbClr val="485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lt1"/>
                </a:solidFill>
                <a:latin typeface="Arial"/>
                <a:ea typeface="Arial"/>
                <a:cs typeface="Arial"/>
                <a:sym typeface="Arial"/>
              </a:rPr>
              <a:t>72 – 80 – 89 </a:t>
            </a:r>
            <a:endParaRPr b="0" i="0" sz="1200" u="none" cap="none" strike="noStrike">
              <a:solidFill>
                <a:schemeClr val="lt1"/>
              </a:solidFill>
              <a:latin typeface="Arial"/>
              <a:ea typeface="Arial"/>
              <a:cs typeface="Arial"/>
              <a:sym typeface="Arial"/>
            </a:endParaRPr>
          </a:p>
        </p:txBody>
      </p:sp>
      <p:sp>
        <p:nvSpPr>
          <p:cNvPr id="18" name="Google Shape;18;p16"/>
          <p:cNvSpPr/>
          <p:nvPr/>
        </p:nvSpPr>
        <p:spPr>
          <a:xfrm>
            <a:off x="-2186151" y="4836223"/>
            <a:ext cx="1957551" cy="466344"/>
          </a:xfrm>
          <a:prstGeom prst="rect">
            <a:avLst/>
          </a:prstGeom>
          <a:solidFill>
            <a:srgbClr val="5E7C9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lt1"/>
                </a:solidFill>
                <a:latin typeface="Arial"/>
                <a:ea typeface="Arial"/>
                <a:cs typeface="Arial"/>
                <a:sym typeface="Arial"/>
              </a:rPr>
              <a:t>94 – 124 – 158</a:t>
            </a:r>
            <a:endParaRPr b="0" i="0" sz="1200" u="none" cap="none" strike="noStrike">
              <a:solidFill>
                <a:schemeClr val="lt1"/>
              </a:solidFill>
              <a:latin typeface="Arial"/>
              <a:ea typeface="Arial"/>
              <a:cs typeface="Arial"/>
              <a:sym typeface="Arial"/>
            </a:endParaRPr>
          </a:p>
        </p:txBody>
      </p:sp>
      <p:sp>
        <p:nvSpPr>
          <p:cNvPr id="19" name="Google Shape;19;p16"/>
          <p:cNvSpPr/>
          <p:nvPr/>
        </p:nvSpPr>
        <p:spPr>
          <a:xfrm>
            <a:off x="-2186151" y="5562600"/>
            <a:ext cx="1957551" cy="466344"/>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lt1"/>
                </a:solidFill>
                <a:latin typeface="Arial"/>
                <a:ea typeface="Arial"/>
                <a:cs typeface="Arial"/>
                <a:sym typeface="Arial"/>
              </a:rPr>
              <a:t>17 – 61 – 99</a:t>
            </a:r>
            <a:endParaRPr/>
          </a:p>
        </p:txBody>
      </p:sp>
      <p:sp>
        <p:nvSpPr>
          <p:cNvPr id="20" name="Google Shape;20;p16"/>
          <p:cNvSpPr/>
          <p:nvPr/>
        </p:nvSpPr>
        <p:spPr>
          <a:xfrm>
            <a:off x="-2186151" y="1936411"/>
            <a:ext cx="1957551" cy="463500"/>
          </a:xfrm>
          <a:prstGeom prst="rect">
            <a:avLst/>
          </a:prstGeom>
          <a:solidFill>
            <a:srgbClr val="113D63"/>
          </a:solidFill>
          <a:ln>
            <a:noFill/>
          </a:ln>
        </p:spPr>
        <p:txBody>
          <a:bodyPr anchorCtr="0" anchor="ctr" bIns="45700" lIns="91425" spcFirstLastPara="1" rIns="91425" wrap="square" tIns="45700">
            <a:noAutofit/>
          </a:bodyPr>
          <a:lstStyle/>
          <a:p>
            <a:pPr indent="-171450" lvl="0" marL="171450" marR="0" rtl="0" algn="l">
              <a:spcBef>
                <a:spcPts val="0"/>
              </a:spcBef>
              <a:spcAft>
                <a:spcPts val="0"/>
              </a:spcAft>
              <a:buClr>
                <a:schemeClr val="lt1"/>
              </a:buClr>
              <a:buSzPts val="1200"/>
              <a:buFont typeface="Noto Sans Symbols"/>
              <a:buChar char="▪"/>
            </a:pPr>
            <a:r>
              <a:rPr b="0" i="0" lang="en-US" sz="1200" u="none" cap="none" strike="noStrike">
                <a:solidFill>
                  <a:schemeClr val="lt1"/>
                </a:solidFill>
                <a:latin typeface="Arial"/>
                <a:ea typeface="Arial"/>
                <a:cs typeface="Arial"/>
                <a:sym typeface="Arial"/>
              </a:rPr>
              <a:t>Normal shapes w/ text</a:t>
            </a:r>
            <a:endParaRPr/>
          </a:p>
        </p:txBody>
      </p:sp>
      <p:sp>
        <p:nvSpPr>
          <p:cNvPr id="21" name="Google Shape;21;p16"/>
          <p:cNvSpPr txBox="1"/>
          <p:nvPr/>
        </p:nvSpPr>
        <p:spPr>
          <a:xfrm>
            <a:off x="375920" y="6444476"/>
            <a:ext cx="2286000"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13D63"/>
                </a:solidFill>
                <a:latin typeface="Arial"/>
                <a:ea typeface="Arial"/>
                <a:cs typeface="Arial"/>
                <a:sym typeface="Arial"/>
              </a:rPr>
              <a:t>Goldman Stanley</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
          <p:cNvSpPr txBox="1"/>
          <p:nvPr/>
        </p:nvSpPr>
        <p:spPr>
          <a:xfrm>
            <a:off x="381000" y="2032000"/>
            <a:ext cx="3657600" cy="461665"/>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2400">
                <a:solidFill>
                  <a:srgbClr val="113D63"/>
                </a:solidFill>
                <a:latin typeface="Arial"/>
                <a:ea typeface="Arial"/>
                <a:cs typeface="Arial"/>
                <a:sym typeface="Arial"/>
              </a:rPr>
              <a:t>Project Nautilus</a:t>
            </a:r>
            <a:endParaRPr/>
          </a:p>
        </p:txBody>
      </p:sp>
      <p:sp>
        <p:nvSpPr>
          <p:cNvPr id="44" name="Google Shape;44;p1"/>
          <p:cNvSpPr txBox="1"/>
          <p:nvPr/>
        </p:nvSpPr>
        <p:spPr>
          <a:xfrm>
            <a:off x="4419600" y="2895600"/>
            <a:ext cx="4267200" cy="646331"/>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Presentation to the Board of Directors</a:t>
            </a:r>
            <a:endParaRPr/>
          </a:p>
          <a:p>
            <a:pPr indent="0" lvl="0" marL="0" marR="0" rtl="0" algn="r">
              <a:spcBef>
                <a:spcPts val="0"/>
              </a:spcBef>
              <a:spcAft>
                <a:spcPts val="0"/>
              </a:spcAft>
              <a:buNone/>
            </a:pPr>
            <a:r>
              <a:rPr lang="en-US" sz="1800">
                <a:solidFill>
                  <a:schemeClr val="dk1"/>
                </a:solidFill>
                <a:latin typeface="Arial"/>
                <a:ea typeface="Arial"/>
                <a:cs typeface="Arial"/>
                <a:sym typeface="Arial"/>
              </a:rPr>
              <a:t>January 28, 2015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2"/>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Executive Summary</a:t>
            </a:r>
            <a:endParaRPr/>
          </a:p>
        </p:txBody>
      </p:sp>
      <p:sp>
        <p:nvSpPr>
          <p:cNvPr id="51" name="Google Shape;51;p2"/>
          <p:cNvSpPr txBox="1"/>
          <p:nvPr>
            <p:ph idx="1" type="body"/>
          </p:nvPr>
        </p:nvSpPr>
        <p:spPr>
          <a:xfrm>
            <a:off x="381000" y="1295400"/>
            <a:ext cx="8229600" cy="4883388"/>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Nautilus has indicated that it needs $1.5 billion in funding to continue ramping up its international expansion efforts and for general corporate purposes</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Management has indicated a strong preference for Unsecured Senior Notes, but we believe that Convertible Bonds offer the lowest cost of funding, and that dilution can be minimized with the proper call-spread structure</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Such Convertible Bonds might offer a 45% conversion premium (conversion price of $641.58) and a 1.5% coupon rate, for an after-tax cash cost of 0.99%</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By contrast, the after-tax cost of Unsecured Senior Notes might be between 3.50% and 4.00%, and such an issuance would likely result in a credit rating downgrade for Nautilus</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Given Nautilus’ share price and valuation multiples, a follow-on equity offering is also viable, but the likely discount on such an offering would imply an after-tax cost of between 1.20% and 1.40%</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The major downside of a Convertible Bond issuance is possible dilution, but the company could raise the effective conversion price by purchasing call options on its stock and selling warrants on its stock at a higher exercise price</a:t>
            </a:r>
            <a:endParaRPr/>
          </a:p>
        </p:txBody>
      </p:sp>
      <p:sp>
        <p:nvSpPr>
          <p:cNvPr id="52" name="Google Shape;52;p2"/>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3"/>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Financial Summary – Operating Scenarios</a:t>
            </a:r>
            <a:endParaRPr/>
          </a:p>
        </p:txBody>
      </p:sp>
      <p:sp>
        <p:nvSpPr>
          <p:cNvPr id="59" name="Google Shape;59;p3"/>
          <p:cNvSpPr txBox="1"/>
          <p:nvPr>
            <p:ph idx="1" type="body"/>
          </p:nvPr>
        </p:nvSpPr>
        <p:spPr>
          <a:xfrm>
            <a:off x="381000" y="1295400"/>
            <a:ext cx="8229600" cy="4183709"/>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To evaluate Nautilus’ financial performance from the perspective of debt and equity investors, Goldman Stanley projected its financial statements under four scenarios:</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Base Case:</a:t>
            </a:r>
            <a:r>
              <a:rPr lang="en-US" sz="1200">
                <a:latin typeface="Arial"/>
                <a:ea typeface="Arial"/>
                <a:cs typeface="Arial"/>
                <a:sym typeface="Arial"/>
              </a:rPr>
              <a:t> This scenario was in-line with consensus estimates for the company</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Upside Case:</a:t>
            </a:r>
            <a:r>
              <a:rPr lang="en-US" sz="1200">
                <a:latin typeface="Arial"/>
                <a:ea typeface="Arial"/>
                <a:cs typeface="Arial"/>
                <a:sym typeface="Arial"/>
              </a:rPr>
              <a:t> This scenario aligned more closely with internal projections provided by management</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Downside Case:</a:t>
            </a:r>
            <a:r>
              <a:rPr lang="en-US" sz="1200">
                <a:latin typeface="Arial"/>
                <a:ea typeface="Arial"/>
                <a:cs typeface="Arial"/>
                <a:sym typeface="Arial"/>
              </a:rPr>
              <a:t> This case corresponded to lower subscriber growth, renewal rates, and fee growth, and higher marketing expenses and cost of revenue</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Extreme Downside Case:</a:t>
            </a:r>
            <a:r>
              <a:rPr lang="en-US" sz="1200">
                <a:latin typeface="Arial"/>
                <a:ea typeface="Arial"/>
                <a:cs typeface="Arial"/>
                <a:sym typeface="Arial"/>
              </a:rPr>
              <a:t> Subscriber growth, renewal rates, and fee growth were all significantly lower in this case, and marketing expenses and cost of revenue were even higher as percentages of revenue</a:t>
            </a:r>
            <a:endParaRPr b="1"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Despite the differences, many of the key percentage-based assumptions were the same across all scenarios:</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Domestic Content Additions and Amortization:</a:t>
            </a:r>
            <a:r>
              <a:rPr lang="en-US" sz="1200">
                <a:latin typeface="Arial"/>
                <a:ea typeface="Arial"/>
                <a:cs typeface="Arial"/>
                <a:sym typeface="Arial"/>
              </a:rPr>
              <a:t> Content additions were set to 60% of FY 15 domestic streaming revenue, falling to 35% by FY 19, with amortization of 25-35% in FY 15 declining to 5-10% in FY 19</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International Content Additions and Amortization:</a:t>
            </a:r>
            <a:r>
              <a:rPr lang="en-US" sz="1200">
                <a:latin typeface="Arial"/>
                <a:ea typeface="Arial"/>
                <a:cs typeface="Arial"/>
                <a:sym typeface="Arial"/>
              </a:rPr>
              <a:t> Content additions were set to 110% of international streaming revenue in FY 15, falling to 70% by FY 19, with amortization of 35-50% in FY 15 declining to 0-5% in FY 19</a:t>
            </a:r>
            <a:endParaRPr b="1" sz="1200">
              <a:latin typeface="Arial"/>
              <a:ea typeface="Arial"/>
              <a:cs typeface="Arial"/>
              <a:sym typeface="Arial"/>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Balance Sheet and Cash Flow Statement Line Items:</a:t>
            </a:r>
            <a:r>
              <a:rPr lang="en-US" sz="1200">
                <a:latin typeface="Arial"/>
                <a:ea typeface="Arial"/>
                <a:cs typeface="Arial"/>
                <a:sym typeface="Arial"/>
              </a:rPr>
              <a:t> These were linked to revenue, cost of revenue, or total operating expenses, and each scenario used the same percentages</a:t>
            </a:r>
            <a:endParaRPr/>
          </a:p>
        </p:txBody>
      </p:sp>
      <p:sp>
        <p:nvSpPr>
          <p:cNvPr id="60" name="Google Shape;60;p3"/>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4"/>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Nautilus’ Financing Requirements</a:t>
            </a:r>
            <a:endParaRPr/>
          </a:p>
        </p:txBody>
      </p:sp>
      <p:sp>
        <p:nvSpPr>
          <p:cNvPr id="67" name="Google Shape;67;p4"/>
          <p:cNvSpPr txBox="1"/>
          <p:nvPr>
            <p:ph idx="1" type="body"/>
          </p:nvPr>
        </p:nvSpPr>
        <p:spPr>
          <a:xfrm>
            <a:off x="381000" y="1295400"/>
            <a:ext cx="8229600" cy="461665"/>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Under the assumption that the Nautilus minimum cash balance is 5% of its Cost of Revenue + Operating Expenses, the company requires additional funding in every scenario except for the Upside Case:</a:t>
            </a:r>
            <a:endParaRPr/>
          </a:p>
        </p:txBody>
      </p:sp>
      <p:sp>
        <p:nvSpPr>
          <p:cNvPr id="68" name="Google Shape;68;p4"/>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pic>
        <p:nvPicPr>
          <p:cNvPr id="69" name="Google Shape;69;p4"/>
          <p:cNvPicPr preferRelativeResize="0"/>
          <p:nvPr/>
        </p:nvPicPr>
        <p:blipFill rotWithShape="1">
          <a:blip r:embed="rId3">
            <a:alphaModFix/>
          </a:blip>
          <a:srcRect b="0" l="0" r="0" t="0"/>
          <a:stretch/>
        </p:blipFill>
        <p:spPr>
          <a:xfrm>
            <a:off x="381000" y="2048989"/>
            <a:ext cx="3242857" cy="1947619"/>
          </a:xfrm>
          <a:prstGeom prst="rect">
            <a:avLst/>
          </a:prstGeom>
          <a:noFill/>
          <a:ln>
            <a:noFill/>
          </a:ln>
        </p:spPr>
      </p:pic>
      <p:sp>
        <p:nvSpPr>
          <p:cNvPr id="70" name="Google Shape;70;p4"/>
          <p:cNvSpPr/>
          <p:nvPr/>
        </p:nvSpPr>
        <p:spPr>
          <a:xfrm>
            <a:off x="381000" y="1828800"/>
            <a:ext cx="3242857" cy="220189"/>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Base Case</a:t>
            </a:r>
            <a:endParaRPr/>
          </a:p>
        </p:txBody>
      </p:sp>
      <p:sp>
        <p:nvSpPr>
          <p:cNvPr id="71" name="Google Shape;71;p4"/>
          <p:cNvSpPr/>
          <p:nvPr/>
        </p:nvSpPr>
        <p:spPr>
          <a:xfrm>
            <a:off x="4724400" y="1828800"/>
            <a:ext cx="3242857" cy="220189"/>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Upside Case</a:t>
            </a:r>
            <a:endParaRPr/>
          </a:p>
        </p:txBody>
      </p:sp>
      <p:pic>
        <p:nvPicPr>
          <p:cNvPr id="72" name="Google Shape;72;p4"/>
          <p:cNvPicPr preferRelativeResize="0"/>
          <p:nvPr/>
        </p:nvPicPr>
        <p:blipFill rotWithShape="1">
          <a:blip r:embed="rId4">
            <a:alphaModFix/>
          </a:blip>
          <a:srcRect b="0" l="0" r="0" t="0"/>
          <a:stretch/>
        </p:blipFill>
        <p:spPr>
          <a:xfrm>
            <a:off x="4724400" y="2048989"/>
            <a:ext cx="3242857" cy="1947619"/>
          </a:xfrm>
          <a:prstGeom prst="rect">
            <a:avLst/>
          </a:prstGeom>
          <a:noFill/>
          <a:ln>
            <a:noFill/>
          </a:ln>
        </p:spPr>
      </p:pic>
      <p:pic>
        <p:nvPicPr>
          <p:cNvPr id="73" name="Google Shape;73;p4"/>
          <p:cNvPicPr preferRelativeResize="0"/>
          <p:nvPr/>
        </p:nvPicPr>
        <p:blipFill rotWithShape="1">
          <a:blip r:embed="rId5">
            <a:alphaModFix/>
          </a:blip>
          <a:srcRect b="0" l="0" r="0" t="0"/>
          <a:stretch/>
        </p:blipFill>
        <p:spPr>
          <a:xfrm>
            <a:off x="376643" y="4301784"/>
            <a:ext cx="3247214" cy="1950236"/>
          </a:xfrm>
          <a:prstGeom prst="rect">
            <a:avLst/>
          </a:prstGeom>
          <a:noFill/>
          <a:ln>
            <a:noFill/>
          </a:ln>
        </p:spPr>
      </p:pic>
      <p:pic>
        <p:nvPicPr>
          <p:cNvPr id="74" name="Google Shape;74;p4"/>
          <p:cNvPicPr preferRelativeResize="0"/>
          <p:nvPr/>
        </p:nvPicPr>
        <p:blipFill rotWithShape="1">
          <a:blip r:embed="rId6">
            <a:alphaModFix/>
          </a:blip>
          <a:srcRect b="0" l="0" r="0" t="0"/>
          <a:stretch/>
        </p:blipFill>
        <p:spPr>
          <a:xfrm>
            <a:off x="4724400" y="4301784"/>
            <a:ext cx="3242857" cy="1947619"/>
          </a:xfrm>
          <a:prstGeom prst="rect">
            <a:avLst/>
          </a:prstGeom>
          <a:noFill/>
          <a:ln>
            <a:noFill/>
          </a:ln>
        </p:spPr>
      </p:pic>
      <p:sp>
        <p:nvSpPr>
          <p:cNvPr id="75" name="Google Shape;75;p4"/>
          <p:cNvSpPr/>
          <p:nvPr/>
        </p:nvSpPr>
        <p:spPr>
          <a:xfrm>
            <a:off x="381000" y="4071656"/>
            <a:ext cx="3242857" cy="220189"/>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Downside Case</a:t>
            </a:r>
            <a:endParaRPr/>
          </a:p>
        </p:txBody>
      </p:sp>
      <p:sp>
        <p:nvSpPr>
          <p:cNvPr id="76" name="Google Shape;76;p4"/>
          <p:cNvSpPr/>
          <p:nvPr/>
        </p:nvSpPr>
        <p:spPr>
          <a:xfrm>
            <a:off x="4724400" y="4071656"/>
            <a:ext cx="3242857" cy="220189"/>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Extreme Downside Case</a:t>
            </a:r>
            <a:endParaRPr/>
          </a:p>
        </p:txBody>
      </p:sp>
      <p:sp>
        <p:nvSpPr>
          <p:cNvPr id="77" name="Google Shape;77;p4"/>
          <p:cNvSpPr/>
          <p:nvPr/>
        </p:nvSpPr>
        <p:spPr>
          <a:xfrm>
            <a:off x="2057400" y="3022798"/>
            <a:ext cx="533400" cy="787202"/>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
        <p:nvSpPr>
          <p:cNvPr id="78" name="Google Shape;78;p4"/>
          <p:cNvSpPr/>
          <p:nvPr/>
        </p:nvSpPr>
        <p:spPr>
          <a:xfrm>
            <a:off x="2057400" y="5105400"/>
            <a:ext cx="990600" cy="787202"/>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
        <p:nvSpPr>
          <p:cNvPr id="79" name="Google Shape;79;p4"/>
          <p:cNvSpPr/>
          <p:nvPr/>
        </p:nvSpPr>
        <p:spPr>
          <a:xfrm>
            <a:off x="5867400" y="4953000"/>
            <a:ext cx="1524000" cy="1066800"/>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
        <p:nvSpPr>
          <p:cNvPr id="80" name="Google Shape;80;p4"/>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Rationale for Follow-On Equity Offering</a:t>
            </a:r>
            <a:endParaRPr/>
          </a:p>
        </p:txBody>
      </p:sp>
      <p:sp>
        <p:nvSpPr>
          <p:cNvPr id="87" name="Google Shape;87;p5"/>
          <p:cNvSpPr txBox="1"/>
          <p:nvPr>
            <p:ph idx="1" type="body"/>
          </p:nvPr>
        </p:nvSpPr>
        <p:spPr>
          <a:xfrm>
            <a:off x="381000" y="1295400"/>
            <a:ext cx="8229600" cy="1530675"/>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Given Nautilus’ rich valuation multiples and stock-price performance in the past several years, it is a prime candidate for a follow-on equity offering</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Because of the recent jump in the stock price, we believe the company may have to offer a higher-than-usual share-price discount to complete a $1.5 billion follow-on offering</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At discounts of 10-20%, the company’s After-Tax Cost of Equity ranges from 1.24% to 1.38% in the Base Case (1.60% to 1.80% in the Upside Case and 0.85% to 0.95% in the Downside Case)</a:t>
            </a:r>
            <a:endParaRPr/>
          </a:p>
        </p:txBody>
      </p:sp>
      <p:sp>
        <p:nvSpPr>
          <p:cNvPr id="88" name="Google Shape;88;p5"/>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pic>
        <p:nvPicPr>
          <p:cNvPr id="89" name="Google Shape;89;p5"/>
          <p:cNvPicPr preferRelativeResize="0"/>
          <p:nvPr/>
        </p:nvPicPr>
        <p:blipFill rotWithShape="1">
          <a:blip r:embed="rId3">
            <a:alphaModFix/>
          </a:blip>
          <a:srcRect b="0" l="0" r="0" t="0"/>
          <a:stretch/>
        </p:blipFill>
        <p:spPr>
          <a:xfrm>
            <a:off x="762001" y="2826076"/>
            <a:ext cx="7467599" cy="3430616"/>
          </a:xfrm>
          <a:prstGeom prst="rect">
            <a:avLst/>
          </a:prstGeom>
          <a:noFill/>
          <a:ln>
            <a:noFill/>
          </a:ln>
        </p:spPr>
      </p:pic>
      <p:sp>
        <p:nvSpPr>
          <p:cNvPr id="90" name="Google Shape;90;p5"/>
          <p:cNvSpPr txBox="1"/>
          <p:nvPr/>
        </p:nvSpPr>
        <p:spPr>
          <a:xfrm>
            <a:off x="3581400" y="3962400"/>
            <a:ext cx="22860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Average Share Price - $403.53</a:t>
            </a:r>
            <a:endParaRPr/>
          </a:p>
        </p:txBody>
      </p:sp>
      <p:sp>
        <p:nvSpPr>
          <p:cNvPr id="91" name="Google Shape;91;p5"/>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381000" y="392668"/>
            <a:ext cx="9220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Valuation Summary</a:t>
            </a:r>
            <a:endParaRPr/>
          </a:p>
        </p:txBody>
      </p:sp>
      <p:sp>
        <p:nvSpPr>
          <p:cNvPr id="98" name="Google Shape;98;p6"/>
          <p:cNvSpPr/>
          <p:nvPr/>
        </p:nvSpPr>
        <p:spPr>
          <a:xfrm>
            <a:off x="2670048" y="138742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company’s share price is a 15% premium to its DCF-determined intrinsic value in the Base Case and 42% in the Downside Case (vs. a 30% discount in the Upside Case)</a:t>
            </a:r>
            <a:endParaRPr/>
          </a:p>
        </p:txBody>
      </p:sp>
      <p:sp>
        <p:nvSpPr>
          <p:cNvPr id="99" name="Google Shape;99;p6"/>
          <p:cNvSpPr/>
          <p:nvPr/>
        </p:nvSpPr>
        <p:spPr>
          <a:xfrm>
            <a:off x="381000" y="138742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#1</a:t>
            </a:r>
            <a:endParaRPr/>
          </a:p>
        </p:txBody>
      </p:sp>
      <p:sp>
        <p:nvSpPr>
          <p:cNvPr id="100" name="Google Shape;100;p6"/>
          <p:cNvSpPr/>
          <p:nvPr/>
        </p:nvSpPr>
        <p:spPr>
          <a:xfrm>
            <a:off x="2670048" y="262919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Despite EBITDA growth in the middle of the public comps’ range, Nautilus trades at, by far, the highest EV / EBITDA and P / E multiples, exceeding even those of Facebook</a:t>
            </a:r>
            <a:endParaRPr/>
          </a:p>
        </p:txBody>
      </p:sp>
      <p:sp>
        <p:nvSpPr>
          <p:cNvPr id="101" name="Google Shape;101;p6"/>
          <p:cNvSpPr/>
          <p:nvPr/>
        </p:nvSpPr>
        <p:spPr>
          <a:xfrm>
            <a:off x="381000" y="262919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#2</a:t>
            </a:r>
            <a:endParaRPr/>
          </a:p>
        </p:txBody>
      </p:sp>
      <p:sp>
        <p:nvSpPr>
          <p:cNvPr id="102" name="Google Shape;102;p6"/>
          <p:cNvSpPr/>
          <p:nvPr/>
        </p:nvSpPr>
        <p:spPr>
          <a:xfrm>
            <a:off x="2670048" y="387096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While this is not a tremendous increase, equity investors may still perceive the company as being richly valued, given the recent price jump and the resulting multiples</a:t>
            </a:r>
            <a:endParaRPr/>
          </a:p>
        </p:txBody>
      </p:sp>
      <p:sp>
        <p:nvSpPr>
          <p:cNvPr id="103" name="Google Shape;103;p6"/>
          <p:cNvSpPr/>
          <p:nvPr/>
        </p:nvSpPr>
        <p:spPr>
          <a:xfrm>
            <a:off x="381000" y="387096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#3</a:t>
            </a:r>
            <a:endParaRPr/>
          </a:p>
        </p:txBody>
      </p:sp>
      <p:sp>
        <p:nvSpPr>
          <p:cNvPr id="104" name="Google Shape;104;p6"/>
          <p:cNvSpPr/>
          <p:nvPr/>
        </p:nvSpPr>
        <p:spPr>
          <a:xfrm>
            <a:off x="2670048" y="511273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Given the company’s longer-term trading history, investors are likely to demand a follow-on offering discount above the standard range</a:t>
            </a:r>
            <a:endParaRPr/>
          </a:p>
        </p:txBody>
      </p:sp>
      <p:sp>
        <p:nvSpPr>
          <p:cNvPr id="105" name="Google Shape;105;p6"/>
          <p:cNvSpPr/>
          <p:nvPr/>
        </p:nvSpPr>
        <p:spPr>
          <a:xfrm>
            <a:off x="381000" y="511273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#4</a:t>
            </a:r>
            <a:endParaRPr/>
          </a:p>
        </p:txBody>
      </p:sp>
      <p:sp>
        <p:nvSpPr>
          <p:cNvPr id="106" name="Google Shape;106;p6"/>
          <p:cNvSpPr/>
          <p:nvPr/>
        </p:nvSpPr>
        <p:spPr>
          <a:xfrm>
            <a:off x="993648" y="138742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Nautilus’ Share Price Exceeds its Intrinsic Value</a:t>
            </a:r>
            <a:endParaRPr/>
          </a:p>
        </p:txBody>
      </p:sp>
      <p:sp>
        <p:nvSpPr>
          <p:cNvPr id="107" name="Google Shape;107;p6"/>
          <p:cNvSpPr/>
          <p:nvPr/>
        </p:nvSpPr>
        <p:spPr>
          <a:xfrm>
            <a:off x="993648" y="262919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Nautilus Trades at Premium Multiples</a:t>
            </a:r>
            <a:endParaRPr/>
          </a:p>
        </p:txBody>
      </p:sp>
      <p:sp>
        <p:nvSpPr>
          <p:cNvPr id="108" name="Google Shape;108;p6"/>
          <p:cNvSpPr/>
          <p:nvPr/>
        </p:nvSpPr>
        <p:spPr>
          <a:xfrm>
            <a:off x="993648" y="387096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Nautilus’ Share Price is Up ~10% in the Past Year</a:t>
            </a:r>
            <a:endParaRPr/>
          </a:p>
        </p:txBody>
      </p:sp>
      <p:sp>
        <p:nvSpPr>
          <p:cNvPr id="109" name="Google Shape;109;p6"/>
          <p:cNvSpPr/>
          <p:nvPr/>
        </p:nvSpPr>
        <p:spPr>
          <a:xfrm>
            <a:off x="993648" y="511273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But Its Share Price is Up More Than 6x in the Past Five Years</a:t>
            </a:r>
            <a:endParaRPr/>
          </a:p>
        </p:txBody>
      </p:sp>
      <p:sp>
        <p:nvSpPr>
          <p:cNvPr id="110" name="Google Shape;110;p6"/>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txBox="1"/>
          <p:nvPr>
            <p:ph type="title"/>
          </p:nvPr>
        </p:nvSpPr>
        <p:spPr>
          <a:xfrm>
            <a:off x="381000" y="392668"/>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Follow-On Offering Proceeds Analysis</a:t>
            </a:r>
            <a:endParaRPr/>
          </a:p>
        </p:txBody>
      </p:sp>
      <p:sp>
        <p:nvSpPr>
          <p:cNvPr id="117" name="Google Shape;117;p7"/>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18" name="Google Shape;118;p7"/>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sp>
        <p:nvSpPr>
          <p:cNvPr id="119" name="Google Shape;119;p7"/>
          <p:cNvSpPr txBox="1"/>
          <p:nvPr>
            <p:ph idx="1" type="body"/>
          </p:nvPr>
        </p:nvSpPr>
        <p:spPr>
          <a:xfrm>
            <a:off x="381000" y="1295400"/>
            <a:ext cx="1752600" cy="4261679"/>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To analyze a potential follow-on offering, Goldman Stanley used the following assumptions:</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Offering Size:</a:t>
            </a:r>
            <a:r>
              <a:rPr lang="en-US" sz="1200">
                <a:latin typeface="Arial"/>
                <a:ea typeface="Arial"/>
                <a:cs typeface="Arial"/>
                <a:sym typeface="Arial"/>
              </a:rPr>
              <a:t> $1.5 billion USD, with a 15% overallotment provision</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Primary / Secondary Split:</a:t>
            </a:r>
            <a:r>
              <a:rPr lang="en-US" sz="1200">
                <a:latin typeface="Arial"/>
                <a:ea typeface="Arial"/>
                <a:cs typeface="Arial"/>
                <a:sym typeface="Arial"/>
              </a:rPr>
              <a:t> 90% / 10% in both the initial offering and the overallotment</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Underwriting Discount:</a:t>
            </a:r>
            <a:r>
              <a:rPr lang="en-US" sz="1200">
                <a:latin typeface="Arial"/>
                <a:ea typeface="Arial"/>
                <a:cs typeface="Arial"/>
                <a:sym typeface="Arial"/>
              </a:rPr>
              <a:t> 2.25%</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Other Fees:</a:t>
            </a:r>
            <a:r>
              <a:rPr lang="en-US" sz="1200">
                <a:latin typeface="Arial"/>
                <a:ea typeface="Arial"/>
                <a:cs typeface="Arial"/>
                <a:sym typeface="Arial"/>
              </a:rPr>
              <a:t> $0.5 million</a:t>
            </a:r>
            <a:endParaRPr b="1" sz="1200">
              <a:latin typeface="Arial"/>
              <a:ea typeface="Arial"/>
              <a:cs typeface="Arial"/>
              <a:sym typeface="Arial"/>
            </a:endParaRPr>
          </a:p>
        </p:txBody>
      </p:sp>
      <p:pic>
        <p:nvPicPr>
          <p:cNvPr id="120" name="Google Shape;120;p7"/>
          <p:cNvPicPr preferRelativeResize="0"/>
          <p:nvPr/>
        </p:nvPicPr>
        <p:blipFill rotWithShape="1">
          <a:blip r:embed="rId3">
            <a:alphaModFix/>
          </a:blip>
          <a:srcRect b="0" l="0" r="0" t="0"/>
          <a:stretch/>
        </p:blipFill>
        <p:spPr>
          <a:xfrm>
            <a:off x="2286001" y="1295400"/>
            <a:ext cx="6400799" cy="497041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381000" y="381000"/>
            <a:ext cx="8458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Comparable Debt Issuances</a:t>
            </a:r>
            <a:endParaRPr/>
          </a:p>
        </p:txBody>
      </p:sp>
      <p:sp>
        <p:nvSpPr>
          <p:cNvPr id="127" name="Google Shape;127;p8"/>
          <p:cNvSpPr txBox="1"/>
          <p:nvPr>
            <p:ph idx="1" type="body"/>
          </p:nvPr>
        </p:nvSpPr>
        <p:spPr>
          <a:xfrm>
            <a:off x="381000" y="1295400"/>
            <a:ext cx="8229600" cy="996170"/>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Goldman Stanley examined 126 debt issuances from U.S.-based “non-investment grade speculative” companies in the software and media industries; the average coupon rate was 5.38% with a tenor of 8.3 years</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Moody’s has reported the following median Debt / EBITDA and EBITA / Interest for a broader set of BB-rated companies across all industries (note that the Moody’s “Ba” rating is equivalent to the Fitch and S&amp;P “BB” rating):</a:t>
            </a:r>
            <a:endParaRPr/>
          </a:p>
        </p:txBody>
      </p:sp>
      <p:sp>
        <p:nvSpPr>
          <p:cNvPr id="128" name="Google Shape;128;p8"/>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pic>
        <p:nvPicPr>
          <p:cNvPr id="129" name="Google Shape;129;p8"/>
          <p:cNvPicPr preferRelativeResize="0"/>
          <p:nvPr/>
        </p:nvPicPr>
        <p:blipFill rotWithShape="1">
          <a:blip r:embed="rId3">
            <a:alphaModFix/>
          </a:blip>
          <a:srcRect b="0" l="0" r="0" t="0"/>
          <a:stretch/>
        </p:blipFill>
        <p:spPr>
          <a:xfrm>
            <a:off x="381000" y="2362200"/>
            <a:ext cx="8305800" cy="3781966"/>
          </a:xfrm>
          <a:prstGeom prst="rect">
            <a:avLst/>
          </a:prstGeom>
          <a:noFill/>
          <a:ln>
            <a:noFill/>
          </a:ln>
        </p:spPr>
      </p:pic>
      <p:sp>
        <p:nvSpPr>
          <p:cNvPr id="130" name="Google Shape;130;p8"/>
          <p:cNvSpPr/>
          <p:nvPr/>
        </p:nvSpPr>
        <p:spPr>
          <a:xfrm>
            <a:off x="381000" y="3733800"/>
            <a:ext cx="7162800" cy="152400"/>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
        <p:nvSpPr>
          <p:cNvPr id="131" name="Google Shape;131;p8"/>
          <p:cNvSpPr/>
          <p:nvPr/>
        </p:nvSpPr>
        <p:spPr>
          <a:xfrm>
            <a:off x="381000" y="5432425"/>
            <a:ext cx="8305800" cy="228600"/>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381000" y="381000"/>
            <a:ext cx="8458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Pro-Forma Credit Statistics and Ratios – Base Case</a:t>
            </a:r>
            <a:endParaRPr/>
          </a:p>
        </p:txBody>
      </p:sp>
      <p:sp>
        <p:nvSpPr>
          <p:cNvPr id="138" name="Google Shape;138;p9"/>
          <p:cNvSpPr txBox="1"/>
          <p:nvPr>
            <p:ph idx="1" type="body"/>
          </p:nvPr>
        </p:nvSpPr>
        <p:spPr>
          <a:xfrm>
            <a:off x="381000" y="1295400"/>
            <a:ext cx="8229600" cy="4863896"/>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Immediately after raising $1.5 billion, Nautilus’ Debt / EBITDA would jump from 1.8x to 4.5x, putting it in-line with B or B+-rated companies:</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While the company would still have strong liquidity and interest coverage, its leverage and capital ratios would concern lenders and might trigger a credit rating downgrade</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Additionally, lenders may view the company’s EBITDA and FCF projections with skepticism, given the “hockey stick” turnaround planned for FY 18 and FY 19</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However, the real problem is that the figures look significantly worse in the Downside scenario (Debt/EBITDA rises to over 10x), which lenders focus on when assessing the company’s prospects</a:t>
            </a:r>
            <a:endParaRPr/>
          </a:p>
        </p:txBody>
      </p:sp>
      <p:sp>
        <p:nvSpPr>
          <p:cNvPr id="139" name="Google Shape;139;p9"/>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40" name="Google Shape;140;p9"/>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pic>
        <p:nvPicPr>
          <p:cNvPr id="141" name="Google Shape;141;p9"/>
          <p:cNvPicPr preferRelativeResize="0"/>
          <p:nvPr/>
        </p:nvPicPr>
        <p:blipFill rotWithShape="1">
          <a:blip r:embed="rId3">
            <a:alphaModFix/>
          </a:blip>
          <a:srcRect b="0" l="0" r="0" t="0"/>
          <a:stretch/>
        </p:blipFill>
        <p:spPr>
          <a:xfrm>
            <a:off x="381000" y="1833755"/>
            <a:ext cx="8305800" cy="26052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ph type="title"/>
          </p:nvPr>
        </p:nvSpPr>
        <p:spPr>
          <a:xfrm>
            <a:off x="381000" y="392668"/>
            <a:ext cx="83058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Unsecured Senior Note Issuance – Conclusions</a:t>
            </a:r>
            <a:endParaRPr/>
          </a:p>
        </p:txBody>
      </p:sp>
      <p:sp>
        <p:nvSpPr>
          <p:cNvPr id="148" name="Google Shape;148;p10"/>
          <p:cNvSpPr/>
          <p:nvPr/>
        </p:nvSpPr>
        <p:spPr>
          <a:xfrm>
            <a:off x="2670048" y="138742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company would likely be able to raise $1.5 billion in debt in two tranches of $750 million each, with coupon rates of 5.5% and 5.8% and tenors of 8 years; these figures are consistent with those of BB- technology companies</a:t>
            </a:r>
            <a:endParaRPr/>
          </a:p>
        </p:txBody>
      </p:sp>
      <p:sp>
        <p:nvSpPr>
          <p:cNvPr id="149" name="Google Shape;149;p10"/>
          <p:cNvSpPr/>
          <p:nvPr/>
        </p:nvSpPr>
        <p:spPr>
          <a:xfrm>
            <a:off x="381000" y="138742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#1</a:t>
            </a:r>
            <a:endParaRPr/>
          </a:p>
        </p:txBody>
      </p:sp>
      <p:sp>
        <p:nvSpPr>
          <p:cNvPr id="150" name="Google Shape;150;p10"/>
          <p:cNvSpPr/>
          <p:nvPr/>
        </p:nvSpPr>
        <p:spPr>
          <a:xfrm>
            <a:off x="2670048" y="262919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company’s pro-forma Debt / EBITDA would rise to 4.5x, putting it more in-line with B and B+-rated companies; lenders would also question its cash flow profile and margins</a:t>
            </a:r>
            <a:endParaRPr/>
          </a:p>
        </p:txBody>
      </p:sp>
      <p:sp>
        <p:nvSpPr>
          <p:cNvPr id="151" name="Google Shape;151;p10"/>
          <p:cNvSpPr/>
          <p:nvPr/>
        </p:nvSpPr>
        <p:spPr>
          <a:xfrm>
            <a:off x="381000" y="262919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#2</a:t>
            </a:r>
            <a:endParaRPr/>
          </a:p>
        </p:txBody>
      </p:sp>
      <p:sp>
        <p:nvSpPr>
          <p:cNvPr id="152" name="Google Shape;152;p10"/>
          <p:cNvSpPr/>
          <p:nvPr/>
        </p:nvSpPr>
        <p:spPr>
          <a:xfrm>
            <a:off x="2670048" y="387096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Since the company’s Cost of Equity as determined by CAPM is 9 – 14%, Unsecured Notes could offer a significantly lower cost and therefore reduce the company’s WACC</a:t>
            </a:r>
            <a:endParaRPr/>
          </a:p>
        </p:txBody>
      </p:sp>
      <p:sp>
        <p:nvSpPr>
          <p:cNvPr id="153" name="Google Shape;153;p10"/>
          <p:cNvSpPr/>
          <p:nvPr/>
        </p:nvSpPr>
        <p:spPr>
          <a:xfrm>
            <a:off x="381000" y="387096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#3</a:t>
            </a:r>
            <a:endParaRPr/>
          </a:p>
        </p:txBody>
      </p:sp>
      <p:sp>
        <p:nvSpPr>
          <p:cNvPr id="154" name="Google Shape;154;p10"/>
          <p:cNvSpPr/>
          <p:nvPr/>
        </p:nvSpPr>
        <p:spPr>
          <a:xfrm>
            <a:off x="2670048" y="511273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At a leverage ratio of 4.5x, followed by 3.5x – 4.0x, it is unlikely that Nautilus could issue additional debt on the same terms; it would have to raise equity or more expensive debt, such as Subordinated Notes or Mezzanine</a:t>
            </a:r>
            <a:endParaRPr/>
          </a:p>
        </p:txBody>
      </p:sp>
      <p:sp>
        <p:nvSpPr>
          <p:cNvPr id="155" name="Google Shape;155;p10"/>
          <p:cNvSpPr/>
          <p:nvPr/>
        </p:nvSpPr>
        <p:spPr>
          <a:xfrm>
            <a:off x="381000" y="511273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#4</a:t>
            </a:r>
            <a:endParaRPr/>
          </a:p>
        </p:txBody>
      </p:sp>
      <p:sp>
        <p:nvSpPr>
          <p:cNvPr id="156" name="Google Shape;156;p10"/>
          <p:cNvSpPr/>
          <p:nvPr/>
        </p:nvSpPr>
        <p:spPr>
          <a:xfrm>
            <a:off x="993648" y="138742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Currently, Nautilus’ Credit Stats and Ratios Are Healthy</a:t>
            </a:r>
            <a:endParaRPr/>
          </a:p>
        </p:txBody>
      </p:sp>
      <p:sp>
        <p:nvSpPr>
          <p:cNvPr id="157" name="Google Shape;157;p10"/>
          <p:cNvSpPr/>
          <p:nvPr/>
        </p:nvSpPr>
        <p:spPr>
          <a:xfrm>
            <a:off x="993648" y="262919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Nautilus’ Credit Rating Would Likely Be Downgraded Afterward</a:t>
            </a:r>
            <a:endParaRPr/>
          </a:p>
        </p:txBody>
      </p:sp>
      <p:sp>
        <p:nvSpPr>
          <p:cNvPr id="158" name="Google Shape;158;p10"/>
          <p:cNvSpPr/>
          <p:nvPr/>
        </p:nvSpPr>
        <p:spPr>
          <a:xfrm>
            <a:off x="993648" y="387096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Unsecured Senior Notes Would Reduce WACC</a:t>
            </a:r>
            <a:endParaRPr/>
          </a:p>
        </p:txBody>
      </p:sp>
      <p:sp>
        <p:nvSpPr>
          <p:cNvPr id="159" name="Google Shape;159;p10"/>
          <p:cNvSpPr/>
          <p:nvPr/>
        </p:nvSpPr>
        <p:spPr>
          <a:xfrm>
            <a:off x="993648" y="511273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A Debt Issuance Would Also Reduce Nautilus’ Financial Flexibility</a:t>
            </a:r>
            <a:endParaRPr/>
          </a:p>
        </p:txBody>
      </p:sp>
      <p:sp>
        <p:nvSpPr>
          <p:cNvPr id="160" name="Google Shape;160;p10"/>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1"/>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Rationale for a Convertible Bond Offering</a:t>
            </a:r>
            <a:endParaRPr/>
          </a:p>
        </p:txBody>
      </p:sp>
      <p:sp>
        <p:nvSpPr>
          <p:cNvPr id="167" name="Google Shape;167;p11"/>
          <p:cNvSpPr txBox="1"/>
          <p:nvPr>
            <p:ph idx="1" type="body"/>
          </p:nvPr>
        </p:nvSpPr>
        <p:spPr>
          <a:xfrm>
            <a:off x="381000" y="1295400"/>
            <a:ext cx="8229600" cy="461665"/>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A convertible bond offers many of the same advantages as plain-vanilla debt and equity offerings, but it comes without the disadvantages, or with diminished disadvantages:</a:t>
            </a:r>
            <a:endParaRPr/>
          </a:p>
        </p:txBody>
      </p:sp>
      <p:sp>
        <p:nvSpPr>
          <p:cNvPr id="168" name="Google Shape;168;p11"/>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69" name="Google Shape;169;p11"/>
          <p:cNvGraphicFramePr/>
          <p:nvPr/>
        </p:nvGraphicFramePr>
        <p:xfrm>
          <a:off x="381000" y="1828800"/>
          <a:ext cx="3000000" cy="3000000"/>
        </p:xfrm>
        <a:graphic>
          <a:graphicData uri="http://schemas.openxmlformats.org/drawingml/2006/table">
            <a:tbl>
              <a:tblPr bandRow="1" firstRow="1">
                <a:noFill/>
                <a:tableStyleId>{A9CAF1D7-BB3B-48E1-B30D-3D8150179482}</a:tableStyleId>
              </a:tblPr>
              <a:tblGrid>
                <a:gridCol w="2076450"/>
                <a:gridCol w="2076450"/>
                <a:gridCol w="2076450"/>
                <a:gridCol w="2076450"/>
              </a:tblGrid>
              <a:tr h="426725">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Criterion</a:t>
                      </a:r>
                      <a:endParaRPr/>
                    </a:p>
                  </a:txBody>
                  <a:tcPr marT="52600" marB="52600" marR="105225" marL="105225" anchor="ctr">
                    <a:solidFill>
                      <a:srgbClr val="113D63"/>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Follow-On Equity</a:t>
                      </a:r>
                      <a:endParaRPr sz="1200" u="none" cap="none" strike="noStrike">
                        <a:latin typeface="Arial"/>
                        <a:ea typeface="Arial"/>
                        <a:cs typeface="Arial"/>
                        <a:sym typeface="Arial"/>
                      </a:endParaRPr>
                    </a:p>
                  </a:txBody>
                  <a:tcPr marT="52600" marB="52600" marR="105225" marL="105225" anchor="ctr">
                    <a:solidFill>
                      <a:srgbClr val="113D63"/>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Unsecured Senior Notes</a:t>
                      </a:r>
                      <a:endParaRPr/>
                    </a:p>
                  </a:txBody>
                  <a:tcPr marT="52600" marB="52600" marR="105225" marL="105225" anchor="ctr">
                    <a:solidFill>
                      <a:srgbClr val="113D63"/>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Convertible Bond</a:t>
                      </a:r>
                      <a:endParaRPr/>
                    </a:p>
                  </a:txBody>
                  <a:tcPr marT="52600" marB="52600" marR="105225" marL="105225" anchor="ctr">
                    <a:solidFill>
                      <a:srgbClr val="113D63"/>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After-Tax Cost of Funding</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Moderate</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Highest</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Lowest</a:t>
                      </a:r>
                      <a:endParaRPr/>
                    </a:p>
                  </a:txBody>
                  <a:tcPr marT="52600" marB="52600" marR="105225" marL="105225" anchor="ctr">
                    <a:solidFill>
                      <a:srgbClr val="CCD1D7"/>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Impact on WACC</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Increase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Moderate Decrease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Substantial Decrease</a:t>
                      </a:r>
                      <a:endParaRPr/>
                    </a:p>
                  </a:txBody>
                  <a:tcPr marT="52600" marB="52600" marR="105225" marL="105225" anchor="ctr">
                    <a:solidFill>
                      <a:srgbClr val="5E7C9E"/>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Share Price Impact</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Neutral to Positive</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Neutral</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Neutral to Positive</a:t>
                      </a:r>
                      <a:endParaRPr/>
                    </a:p>
                  </a:txBody>
                  <a:tcPr marT="52600" marB="52600" marR="105225" marL="105225" anchor="ctr">
                    <a:solidFill>
                      <a:srgbClr val="CCD1D7"/>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Credit Rating Impact</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Likely Downgrade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Possible Downgrade</a:t>
                      </a:r>
                      <a:endParaRPr/>
                    </a:p>
                  </a:txBody>
                  <a:tcPr marT="52600" marB="52600" marR="105225" marL="105225" anchor="ctr">
                    <a:solidFill>
                      <a:srgbClr val="5E7C9E"/>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Share Dilution</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6-7%</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None</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4-5%, but possible to reduce</a:t>
                      </a:r>
                      <a:endParaRPr/>
                    </a:p>
                  </a:txBody>
                  <a:tcPr marT="52600" marB="52600" marR="105225" marL="105225" anchor="ctr">
                    <a:solidFill>
                      <a:srgbClr val="CCD1D7"/>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Covenants</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Incurrence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Incurrence</a:t>
                      </a:r>
                      <a:endParaRPr/>
                    </a:p>
                  </a:txBody>
                  <a:tcPr marT="52600" marB="52600" marR="105225" marL="105225" anchor="ctr">
                    <a:solidFill>
                      <a:srgbClr val="5E7C9E"/>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Ability to Raise Additional Debt</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 Impact</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Reduced</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Reduced, but less so than with Senior Notes</a:t>
                      </a:r>
                      <a:endParaRPr/>
                    </a:p>
                  </a:txBody>
                  <a:tcPr marT="52600" marB="52600" marR="105225" marL="105225" anchor="ctr">
                    <a:solidFill>
                      <a:srgbClr val="CCD1D7"/>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Speed of Issuance</a:t>
                      </a:r>
                      <a:endParaRPr b="1" sz="1200" u="none" cap="none" strike="noStrike">
                        <a:latin typeface="Arial"/>
                        <a:ea typeface="Arial"/>
                        <a:cs typeface="Arial"/>
                        <a:sym typeface="Arial"/>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Several Weeks</a:t>
                      </a:r>
                      <a:endParaRPr sz="1200" u="none" cap="none" strike="noStrike">
                        <a:latin typeface="Arial"/>
                        <a:ea typeface="Arial"/>
                        <a:cs typeface="Arial"/>
                        <a:sym typeface="Arial"/>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Several Weeks (144A)</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Several Weeks (144A)</a:t>
                      </a:r>
                      <a:endParaRPr/>
                    </a:p>
                  </a:txBody>
                  <a:tcPr marT="52600" marB="52600" marR="105225" marL="105225" anchor="ctr">
                    <a:solidFill>
                      <a:srgbClr val="5E7C9E"/>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Convertible Bond Proposed Offering Terms</a:t>
            </a:r>
            <a:endParaRPr/>
          </a:p>
        </p:txBody>
      </p:sp>
      <p:sp>
        <p:nvSpPr>
          <p:cNvPr id="176" name="Google Shape;176;p12"/>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77" name="Google Shape;177;p12"/>
          <p:cNvSpPr txBox="1"/>
          <p:nvPr/>
        </p:nvSpPr>
        <p:spPr>
          <a:xfrm>
            <a:off x="457200" y="1057050"/>
            <a:ext cx="8229600" cy="5263200"/>
          </a:xfrm>
          <a:prstGeom prst="rect">
            <a:avLst/>
          </a:prstGeom>
          <a:noFill/>
          <a:ln>
            <a:noFill/>
          </a:ln>
        </p:spPr>
        <p:txBody>
          <a:bodyPr anchorCtr="0" anchor="t" bIns="45700" lIns="0" spcFirstLastPara="1" rIns="0" wrap="square" tIns="45700">
            <a:spAutoFit/>
          </a:bodyPr>
          <a:lstStyle/>
          <a:p>
            <a:pPr indent="-173038" lvl="0" marL="173038" marR="0" rtl="0" algn="l">
              <a:spcBef>
                <a:spcPts val="0"/>
              </a:spcBef>
              <a:spcAft>
                <a:spcPts val="0"/>
              </a:spcAft>
              <a:buClr>
                <a:schemeClr val="dk1"/>
              </a:buClr>
              <a:buSzPts val="1440"/>
              <a:buFont typeface="Noto Sans Symbols"/>
              <a:buChar char="▪"/>
            </a:pPr>
            <a:r>
              <a:rPr b="0" i="0" lang="en-US" sz="1200" u="none">
                <a:solidFill>
                  <a:schemeClr val="dk1"/>
                </a:solidFill>
                <a:latin typeface="Arial"/>
                <a:ea typeface="Arial"/>
                <a:cs typeface="Arial"/>
                <a:sym typeface="Arial"/>
              </a:rPr>
              <a:t>Based on this analysis, we believe the company could issue a convertible bond in Q1 with the following terms:</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Offering Size:</a:t>
            </a:r>
            <a:r>
              <a:rPr b="0" i="0" lang="en-US" sz="1200" u="none" cap="none" strike="noStrike">
                <a:solidFill>
                  <a:schemeClr val="dk1"/>
                </a:solidFill>
                <a:latin typeface="Arial"/>
                <a:ea typeface="Arial"/>
                <a:cs typeface="Arial"/>
                <a:sym typeface="Arial"/>
              </a:rPr>
              <a:t> $1.5 billion</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Conversion Price:</a:t>
            </a:r>
            <a:r>
              <a:rPr b="0" i="0" lang="en-US" sz="1200" u="none" cap="none" strike="noStrike">
                <a:solidFill>
                  <a:schemeClr val="dk1"/>
                </a:solidFill>
                <a:latin typeface="Arial"/>
                <a:ea typeface="Arial"/>
                <a:cs typeface="Arial"/>
                <a:sym typeface="Arial"/>
              </a:rPr>
              <a:t> $641.58 (45.0% premium to current share price)</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Conversion Ratio:</a:t>
            </a:r>
            <a:r>
              <a:rPr b="0" i="0" lang="en-US" sz="1200" u="none" cap="none" strike="noStrike">
                <a:solidFill>
                  <a:schemeClr val="dk1"/>
                </a:solidFill>
                <a:latin typeface="Arial"/>
                <a:ea typeface="Arial"/>
                <a:cs typeface="Arial"/>
                <a:sym typeface="Arial"/>
              </a:rPr>
              <a:t> 1.5586 (based on par value of $1,000)</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Coupon Rate and YTM:</a:t>
            </a:r>
            <a:r>
              <a:rPr b="0" i="0" lang="en-US" sz="1200" u="none" cap="none" strike="noStrike">
                <a:solidFill>
                  <a:schemeClr val="dk1"/>
                </a:solidFill>
                <a:latin typeface="Arial"/>
                <a:ea typeface="Arial"/>
                <a:cs typeface="Arial"/>
                <a:sym typeface="Arial"/>
              </a:rPr>
              <a:t> 1.50%</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Maturity:</a:t>
            </a:r>
            <a:r>
              <a:rPr b="0" i="0" lang="en-US" sz="1200" u="none" cap="none" strike="noStrike">
                <a:solidFill>
                  <a:schemeClr val="dk1"/>
                </a:solidFill>
                <a:latin typeface="Arial"/>
                <a:ea typeface="Arial"/>
                <a:cs typeface="Arial"/>
                <a:sym typeface="Arial"/>
              </a:rPr>
              <a:t> December 31, 2020 (6-year tenor)</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Payments:</a:t>
            </a:r>
            <a:r>
              <a:rPr b="0" i="0" lang="en-US" sz="1200" u="none" cap="none" strike="noStrike">
                <a:solidFill>
                  <a:schemeClr val="dk1"/>
                </a:solidFill>
                <a:latin typeface="Arial"/>
                <a:ea typeface="Arial"/>
                <a:cs typeface="Arial"/>
                <a:sym typeface="Arial"/>
              </a:rPr>
              <a:t> Semiannual on June 30 and December 31 of each year</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Optional Redemption:</a:t>
            </a:r>
            <a:r>
              <a:rPr b="0" i="0" lang="en-US" sz="1200" u="none" cap="none" strike="noStrike">
                <a:solidFill>
                  <a:schemeClr val="dk1"/>
                </a:solidFill>
                <a:latin typeface="Arial"/>
                <a:ea typeface="Arial"/>
                <a:cs typeface="Arial"/>
                <a:sym typeface="Arial"/>
              </a:rPr>
              <a:t> Make-whole call at T+50bps any time prior to maturity</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Change of Control:</a:t>
            </a:r>
            <a:r>
              <a:rPr b="0" i="0" lang="en-US" sz="1200" u="none" cap="none" strike="noStrike">
                <a:solidFill>
                  <a:schemeClr val="dk1"/>
                </a:solidFill>
                <a:latin typeface="Arial"/>
                <a:ea typeface="Arial"/>
                <a:cs typeface="Arial"/>
                <a:sym typeface="Arial"/>
              </a:rPr>
              <a:t> Put @ 101% of principal plus accrued interest</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Settlement:</a:t>
            </a:r>
            <a:r>
              <a:rPr b="0" i="0" lang="en-US" sz="1200" u="none" cap="none" strike="noStrike">
                <a:solidFill>
                  <a:schemeClr val="dk1"/>
                </a:solidFill>
                <a:latin typeface="Arial"/>
                <a:ea typeface="Arial"/>
                <a:cs typeface="Arial"/>
                <a:sym typeface="Arial"/>
              </a:rPr>
              <a:t> Cash settlement option available</a:t>
            </a:r>
            <a:endParaRPr/>
          </a:p>
          <a:p>
            <a:pPr indent="-173038" lvl="0" marL="173038" marR="0" rtl="0" algn="l">
              <a:spcBef>
                <a:spcPts val="1240"/>
              </a:spcBef>
              <a:spcAft>
                <a:spcPts val="0"/>
              </a:spcAft>
              <a:buClr>
                <a:schemeClr val="dk1"/>
              </a:buClr>
              <a:buSzPts val="1440"/>
              <a:buFont typeface="Noto Sans Symbols"/>
              <a:buChar char="▪"/>
            </a:pPr>
            <a:r>
              <a:rPr b="0" i="0" lang="en-US" sz="1200" u="none">
                <a:solidFill>
                  <a:schemeClr val="dk1"/>
                </a:solidFill>
                <a:latin typeface="Arial"/>
                <a:ea typeface="Arial"/>
                <a:cs typeface="Arial"/>
                <a:sym typeface="Arial"/>
              </a:rPr>
              <a:t>To reduce dilution and raise the effective conversion price, it is prudent to use a call-spread with the following terms:</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Purchased Call Options:</a:t>
            </a:r>
            <a:r>
              <a:rPr b="0" i="0" lang="en-US" sz="1200" u="none" cap="none" strike="noStrike">
                <a:solidFill>
                  <a:schemeClr val="dk1"/>
                </a:solidFill>
                <a:latin typeface="Arial"/>
                <a:ea typeface="Arial"/>
                <a:cs typeface="Arial"/>
                <a:sym typeface="Arial"/>
              </a:rPr>
              <a:t> 2.3380 million (100% offset of convertible bond dilution) at a $641.58 exercise price</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Sold Warrants:</a:t>
            </a:r>
            <a:r>
              <a:rPr b="0" i="0" lang="en-US" sz="1200" u="none" cap="none" strike="noStrike">
                <a:solidFill>
                  <a:schemeClr val="dk1"/>
                </a:solidFill>
                <a:latin typeface="Arial"/>
                <a:ea typeface="Arial"/>
                <a:cs typeface="Arial"/>
                <a:sym typeface="Arial"/>
              </a:rPr>
              <a:t> 1.7535 million (75% of call options) at a $774.32 exercise price</a:t>
            </a:r>
            <a:endParaRPr b="1" i="0" sz="1200" u="none" cap="none" strike="noStrike">
              <a:solidFill>
                <a:schemeClr val="dk1"/>
              </a:solidFill>
              <a:latin typeface="Arial"/>
              <a:ea typeface="Arial"/>
              <a:cs typeface="Arial"/>
              <a:sym typeface="Arial"/>
            </a:endParaRPr>
          </a:p>
          <a:p>
            <a:pPr indent="-173038" lvl="0" marL="173038" marR="0" rtl="0" algn="l">
              <a:spcBef>
                <a:spcPts val="1240"/>
              </a:spcBef>
              <a:spcAft>
                <a:spcPts val="0"/>
              </a:spcAft>
              <a:buClr>
                <a:schemeClr val="dk1"/>
              </a:buClr>
              <a:buSzPts val="1440"/>
              <a:buFont typeface="Noto Sans Symbols"/>
              <a:buChar char="▪"/>
            </a:pPr>
            <a:r>
              <a:rPr b="0" i="0" lang="en-US" sz="1200" u="none">
                <a:solidFill>
                  <a:schemeClr val="dk1"/>
                </a:solidFill>
                <a:latin typeface="Arial"/>
                <a:ea typeface="Arial"/>
                <a:cs typeface="Arial"/>
                <a:sym typeface="Arial"/>
              </a:rPr>
              <a:t>Such a strategy might increase pre-tax cost of funding to ~2.6% and raise the effective conversion premium to 75%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ph type="title"/>
          </p:nvPr>
        </p:nvSpPr>
        <p:spPr>
          <a:xfrm>
            <a:off x="381000" y="381000"/>
            <a:ext cx="8458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Pro-Forma Credit Statistics and Ratios – Base Case</a:t>
            </a:r>
            <a:endParaRPr/>
          </a:p>
        </p:txBody>
      </p:sp>
      <p:sp>
        <p:nvSpPr>
          <p:cNvPr id="184" name="Google Shape;184;p13"/>
          <p:cNvSpPr txBox="1"/>
          <p:nvPr>
            <p:ph idx="1" type="body"/>
          </p:nvPr>
        </p:nvSpPr>
        <p:spPr>
          <a:xfrm>
            <a:off x="381000" y="1295400"/>
            <a:ext cx="8229600" cy="5029069"/>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Because this convertible bond would have a cash settlement option, Nautilus would record its liability and equity components separately, thereby improving its credit stats and ratios:</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In the Downside Case, Debt / EBITDA would still rise to 9.5x, but the company’s capital ratios would be in a range more consistent with BB-rated companies</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The company’s credit rating might still be downgraded following a convertible bond issuance, but we believe it is less likely than with a traditional Unsecured Senior Note issuance</a:t>
            </a:r>
            <a:endParaRPr/>
          </a:p>
        </p:txBody>
      </p:sp>
      <p:sp>
        <p:nvSpPr>
          <p:cNvPr id="185" name="Google Shape;185;p13"/>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86" name="Google Shape;186;p13"/>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pic>
        <p:nvPicPr>
          <p:cNvPr id="187" name="Google Shape;187;p13"/>
          <p:cNvPicPr preferRelativeResize="0"/>
          <p:nvPr/>
        </p:nvPicPr>
        <p:blipFill rotWithShape="1">
          <a:blip r:embed="rId3">
            <a:alphaModFix/>
          </a:blip>
          <a:srcRect b="0" l="0" r="0" t="0"/>
          <a:stretch/>
        </p:blipFill>
        <p:spPr>
          <a:xfrm>
            <a:off x="1066800" y="1752600"/>
            <a:ext cx="6858000" cy="343251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ph type="title"/>
          </p:nvPr>
        </p:nvSpPr>
        <p:spPr>
          <a:xfrm>
            <a:off x="381000" y="381000"/>
            <a:ext cx="8458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Convertible Bond Funding Costs</a:t>
            </a:r>
            <a:endParaRPr/>
          </a:p>
        </p:txBody>
      </p:sp>
      <p:sp>
        <p:nvSpPr>
          <p:cNvPr id="194" name="Google Shape;194;p14"/>
          <p:cNvSpPr txBox="1"/>
          <p:nvPr>
            <p:ph idx="1" type="body"/>
          </p:nvPr>
        </p:nvSpPr>
        <p:spPr>
          <a:xfrm>
            <a:off x="381000" y="1295400"/>
            <a:ext cx="8229600" cy="4329390"/>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The convertible bond would also provide a funding cost advantage, whether funding costs are measured by EPS impact or impact on WACC:</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In the WACC calculation, the convertible bond’s after-tax cost of funding is 0.99%, compared with 3.73% for debt or 8.63% – 14.05% for equity</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While this cost would increase if the company’s stock price exceeded its conversion price, the company could boost the effective conversion premium to 75% using the call-spread strategy we recommended</a:t>
            </a:r>
            <a:endParaRPr/>
          </a:p>
        </p:txBody>
      </p:sp>
      <p:sp>
        <p:nvSpPr>
          <p:cNvPr id="195" name="Google Shape;195;p14"/>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p14"/>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pic>
        <p:nvPicPr>
          <p:cNvPr id="197" name="Google Shape;197;p14"/>
          <p:cNvPicPr preferRelativeResize="0"/>
          <p:nvPr/>
        </p:nvPicPr>
        <p:blipFill rotWithShape="1">
          <a:blip r:embed="rId3">
            <a:alphaModFix/>
          </a:blip>
          <a:srcRect b="0" l="0" r="0" t="0"/>
          <a:stretch/>
        </p:blipFill>
        <p:spPr>
          <a:xfrm>
            <a:off x="381000" y="1905000"/>
            <a:ext cx="8305800" cy="226789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type="title"/>
          </p:nvPr>
        </p:nvSpPr>
        <p:spPr>
          <a:xfrm>
            <a:off x="381000" y="392668"/>
            <a:ext cx="9220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Convertible Bond Offering – Conclusions</a:t>
            </a:r>
            <a:endParaRPr/>
          </a:p>
        </p:txBody>
      </p:sp>
      <p:sp>
        <p:nvSpPr>
          <p:cNvPr id="204" name="Google Shape;204;p15"/>
          <p:cNvSpPr/>
          <p:nvPr/>
        </p:nvSpPr>
        <p:spPr>
          <a:xfrm>
            <a:off x="2670048" y="138742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after-tax cost would range from 0.99% to 1.74%, compared with 3.50% to 4.00% for traditional debt or 1.24% to 1.38% for equity; a convertible bond would also reduce WACC more than either of those</a:t>
            </a:r>
            <a:endParaRPr/>
          </a:p>
        </p:txBody>
      </p:sp>
      <p:sp>
        <p:nvSpPr>
          <p:cNvPr id="205" name="Google Shape;205;p15"/>
          <p:cNvSpPr/>
          <p:nvPr/>
        </p:nvSpPr>
        <p:spPr>
          <a:xfrm>
            <a:off x="381000" y="138742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#1</a:t>
            </a:r>
            <a:endParaRPr/>
          </a:p>
        </p:txBody>
      </p:sp>
      <p:sp>
        <p:nvSpPr>
          <p:cNvPr id="206" name="Google Shape;206;p15"/>
          <p:cNvSpPr/>
          <p:nvPr/>
        </p:nvSpPr>
        <p:spPr>
          <a:xfrm>
            <a:off x="2670048" y="262919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It would have less restrictive covenants than Unsecured Senior Notes, the company’s leverage ratio and capital ratios would remain lower, and the company would be able to raise debt at lower rates in the future</a:t>
            </a:r>
            <a:endParaRPr/>
          </a:p>
        </p:txBody>
      </p:sp>
      <p:sp>
        <p:nvSpPr>
          <p:cNvPr id="207" name="Google Shape;207;p15"/>
          <p:cNvSpPr/>
          <p:nvPr/>
        </p:nvSpPr>
        <p:spPr>
          <a:xfrm>
            <a:off x="381000" y="262919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#2</a:t>
            </a:r>
            <a:endParaRPr/>
          </a:p>
        </p:txBody>
      </p:sp>
      <p:sp>
        <p:nvSpPr>
          <p:cNvPr id="208" name="Google Shape;208;p15"/>
          <p:cNvSpPr/>
          <p:nvPr/>
        </p:nvSpPr>
        <p:spPr>
          <a:xfrm>
            <a:off x="2670048" y="387096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Assuming that stock-price volatility stays about the same, the convertible bond would likely trade within ~10% of its $1.5 billion book value, reducing risk from short sellers</a:t>
            </a:r>
            <a:endParaRPr/>
          </a:p>
        </p:txBody>
      </p:sp>
      <p:sp>
        <p:nvSpPr>
          <p:cNvPr id="209" name="Google Shape;209;p15"/>
          <p:cNvSpPr/>
          <p:nvPr/>
        </p:nvSpPr>
        <p:spPr>
          <a:xfrm>
            <a:off x="381000" y="387096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#3</a:t>
            </a:r>
            <a:endParaRPr/>
          </a:p>
        </p:txBody>
      </p:sp>
      <p:sp>
        <p:nvSpPr>
          <p:cNvPr id="210" name="Google Shape;210;p15"/>
          <p:cNvSpPr/>
          <p:nvPr/>
        </p:nvSpPr>
        <p:spPr>
          <a:xfrm>
            <a:off x="2670048" y="511273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While a 45% conversion premium is in-line with recent offerings, the company could boost the effective conversion premium to 75% with purchased call options and sold warrants, reducing economic dilution</a:t>
            </a:r>
            <a:endParaRPr/>
          </a:p>
        </p:txBody>
      </p:sp>
      <p:sp>
        <p:nvSpPr>
          <p:cNvPr id="211" name="Google Shape;211;p15"/>
          <p:cNvSpPr/>
          <p:nvPr/>
        </p:nvSpPr>
        <p:spPr>
          <a:xfrm>
            <a:off x="381000" y="511273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#4</a:t>
            </a:r>
            <a:endParaRPr/>
          </a:p>
        </p:txBody>
      </p:sp>
      <p:sp>
        <p:nvSpPr>
          <p:cNvPr id="212" name="Google Shape;212;p15"/>
          <p:cNvSpPr/>
          <p:nvPr/>
        </p:nvSpPr>
        <p:spPr>
          <a:xfrm>
            <a:off x="993648" y="138742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A Convertible Bond Would Offer the Lowest Cost of Funding</a:t>
            </a:r>
            <a:endParaRPr/>
          </a:p>
        </p:txBody>
      </p:sp>
      <p:sp>
        <p:nvSpPr>
          <p:cNvPr id="213" name="Google Shape;213;p15"/>
          <p:cNvSpPr/>
          <p:nvPr/>
        </p:nvSpPr>
        <p:spPr>
          <a:xfrm>
            <a:off x="993648" y="262919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A Convertible Would Let Nautilus Maintain Financial Flexibility</a:t>
            </a:r>
            <a:endParaRPr/>
          </a:p>
        </p:txBody>
      </p:sp>
      <p:sp>
        <p:nvSpPr>
          <p:cNvPr id="214" name="Google Shape;214;p15"/>
          <p:cNvSpPr/>
          <p:nvPr/>
        </p:nvSpPr>
        <p:spPr>
          <a:xfrm>
            <a:off x="993648" y="387096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The Convertible’s Market Price Would Be Close to Its Book Value</a:t>
            </a:r>
            <a:endParaRPr/>
          </a:p>
        </p:txBody>
      </p:sp>
      <p:sp>
        <p:nvSpPr>
          <p:cNvPr id="215" name="Google Shape;215;p15"/>
          <p:cNvSpPr/>
          <p:nvPr/>
        </p:nvSpPr>
        <p:spPr>
          <a:xfrm>
            <a:off x="993648" y="511273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The Company Could Reduce Dilution with a Call-Spread Structure</a:t>
            </a:r>
            <a:endParaRPr/>
          </a:p>
        </p:txBody>
      </p:sp>
      <p:sp>
        <p:nvSpPr>
          <p:cNvPr id="216" name="Google Shape;216;p15"/>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a38b68570a_1_0"/>
          <p:cNvSpPr txBox="1"/>
          <p:nvPr>
            <p:ph type="title"/>
          </p:nvPr>
        </p:nvSpPr>
        <p:spPr>
          <a:xfrm>
            <a:off x="381000" y="392668"/>
            <a:ext cx="9220200" cy="369300"/>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t>Disclaimer</a:t>
            </a:r>
            <a:endParaRPr/>
          </a:p>
        </p:txBody>
      </p:sp>
      <p:sp>
        <p:nvSpPr>
          <p:cNvPr id="223" name="Google Shape;223;g3a38b68570a_1_0"/>
          <p:cNvSpPr txBox="1"/>
          <p:nvPr>
            <p:ph idx="12" type="sldNum"/>
          </p:nvPr>
        </p:nvSpPr>
        <p:spPr>
          <a:xfrm>
            <a:off x="6553200" y="6567587"/>
            <a:ext cx="2133600" cy="1539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224" name="Google Shape;224;g3a38b68570a_1_0"/>
          <p:cNvSpPr txBox="1"/>
          <p:nvPr/>
        </p:nvSpPr>
        <p:spPr>
          <a:xfrm>
            <a:off x="501975" y="1361500"/>
            <a:ext cx="8125500" cy="474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This presentation (the "Presentation") is provided for informational purposes only and does not constitute an offer to sell, or a solicitation of an offer to buy, any securities, nor should it be relied upon in connection with any investment decision. The information contained herein is confidential and intended solely for the use of the recipient(s) to whom it has been directly delivered. It may not be reproduced, distributed, or disclosed to any third party without prior written consent.</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This Presentation includes forward-looking statements that involve risks, uncertainties, and assumptions. Actual results may differ materially from those expressed or implied due to various factors, including but not limited to market conditions, economic trends, regulatory changes, and competitive developments. Past performance is not indicative of future results.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The information in this Presentation has been obtained from sources believed to be reliable but is not guaranteed as to accuracy or completeness. Goldman Stanley makes no representations or warranties, express or implied, regarding the information and assumes no liability for any errors, omissions, or reliance thereon. This Presentation does not constitute investment, legal, tax, accounting, or other advice, and recipients should consult their own advisors.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This Presentation is not intended for distribution in any jurisdiction where it would be unlawful.</a:t>
            </a:r>
            <a:endParaRPr sz="1000">
              <a:solidFill>
                <a:schemeClr val="dk1"/>
              </a:solidFill>
            </a:endParaRPr>
          </a:p>
          <a:p>
            <a:pPr indent="0" lvl="0" marL="0" rtl="0" algn="l">
              <a:spcBef>
                <a:spcPts val="1200"/>
              </a:spcBef>
              <a:spcAft>
                <a:spcPts val="0"/>
              </a:spcAft>
              <a:buNone/>
            </a:pPr>
            <a:r>
              <a:t/>
            </a:r>
            <a:endParaRPr sz="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2010-05-26T09:54:24Z</dcterms:created>
  <dc:creator/>
  <cp:lastModifiedBy/>
  <dc:title/>
  <dc:subject/>
  <cp:keywords/>
  <dc:description/>
  <cp:category/>
  <cp:contentStatus/>
  <dc:identifier/>
  <cp:revision>1</cp:revision>
  <cp:version>None</cp:version>
</cp:coreProperties>
</file>
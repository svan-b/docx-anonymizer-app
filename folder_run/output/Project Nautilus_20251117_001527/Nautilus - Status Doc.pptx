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Arimo"/>
      <p:regular r:id="rId15"/>
      <p:bold r:id="rId16"/>
      <p:italic r:id="rId17"/>
      <p:boldItalic r:id="rId18"/>
    </p:embeddedFont>
    <p:embeddedFont>
      <p:font typeface="Arimo SemiBold"/>
      <p:regular r:id="rId19"/>
      <p:bold r:id="rId20"/>
      <p:italic r:id="rId21"/>
      <p:boldItalic r:id="rId22"/>
    </p:embeddedFont>
    <p:embeddedFont>
      <p:font typeface="Arimo Medium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0084931-11FB-4FBF-A312-EDAA522CAAB5}">
  <a:tblStyle styleId="{30084931-11FB-4FBF-A312-EDAA522CAAB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font" Target="fonts/Arimo-regular.fntdata"/><Relationship Id="rId16" Type="http://schemas.openxmlformats.org/officeDocument/2006/relationships/font" Target="fonts/Arimo-bold.fntdata"/><Relationship Id="rId17" Type="http://schemas.openxmlformats.org/officeDocument/2006/relationships/font" Target="fonts/Arimo-italic.fntdata"/><Relationship Id="rId18" Type="http://schemas.openxmlformats.org/officeDocument/2006/relationships/font" Target="fonts/Arimo-boldItalic.fntdata"/><Relationship Id="rId19" Type="http://schemas.openxmlformats.org/officeDocument/2006/relationships/font" Target="fonts/ArimoSemiBold-regular.fntdata"/><Relationship Id="rId20" Type="http://schemas.openxmlformats.org/officeDocument/2006/relationships/font" Target="fonts/ArimoSemiBold-bold.fntdata"/><Relationship Id="rId21" Type="http://schemas.openxmlformats.org/officeDocument/2006/relationships/font" Target="fonts/ArimoSemiBold-italic.fntdata"/><Relationship Id="rId22" Type="http://schemas.openxmlformats.org/officeDocument/2006/relationships/font" Target="fonts/ArimoSemiBold-boldItalic.fntdata"/><Relationship Id="rId23" Type="http://schemas.openxmlformats.org/officeDocument/2006/relationships/font" Target="fonts/ArimoMedium-regular.fntdata"/><Relationship Id="rId24" Type="http://schemas.openxmlformats.org/officeDocument/2006/relationships/font" Target="fonts/ArimoMedium-bold.fntdata"/><Relationship Id="rId25" Type="http://schemas.openxmlformats.org/officeDocument/2006/relationships/font" Target="fonts/ArimoMedium-italic.fntdata"/><Relationship Id="rId26" Type="http://schemas.openxmlformats.org/officeDocument/2006/relationships/font" Target="fonts/ArimoMedium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a21748b28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a21748b28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a21748b28e_0_3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a21748b28e_0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a21748b28e_0_5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a21748b28e_0_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a21748b28e_0_5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a21748b28e_0_5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a25250c24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3a25250c24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a25250c24e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a25250c24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a25250c24e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3a25250c24e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a25250c24e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a25250c24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1_3">
    <p:bg>
      <p:bgPr>
        <a:solidFill>
          <a:schemeClr val="accent5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 amt="60000"/>
          </a:blip>
          <a:srcRect b="4816" l="0" r="0" t="0"/>
          <a:stretch/>
        </p:blipFill>
        <p:spPr>
          <a:xfrm>
            <a:off x="277500" y="277500"/>
            <a:ext cx="8589000" cy="4599000"/>
          </a:xfrm>
          <a:prstGeom prst="roundRect">
            <a:avLst>
              <a:gd fmla="val 13515" name="adj"/>
            </a:avLst>
          </a:prstGeom>
          <a:noFill/>
          <a:ln>
            <a:noFill/>
          </a:ln>
        </p:spPr>
      </p:pic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821004" y="4044275"/>
            <a:ext cx="58593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cxnSp>
        <p:nvCxnSpPr>
          <p:cNvPr id="11" name="Google Shape;11;p2"/>
          <p:cNvCxnSpPr/>
          <p:nvPr/>
        </p:nvCxnSpPr>
        <p:spPr>
          <a:xfrm>
            <a:off x="805650" y="792575"/>
            <a:ext cx="7547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805650" y="4521775"/>
            <a:ext cx="7547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" name="Google Shape;13;p2"/>
          <p:cNvSpPr txBox="1"/>
          <p:nvPr>
            <p:ph idx="2" type="subTitle"/>
          </p:nvPr>
        </p:nvSpPr>
        <p:spPr>
          <a:xfrm>
            <a:off x="805651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3" type="subTitle"/>
          </p:nvPr>
        </p:nvSpPr>
        <p:spPr>
          <a:xfrm>
            <a:off x="2679901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4" type="subTitle"/>
          </p:nvPr>
        </p:nvSpPr>
        <p:spPr>
          <a:xfrm>
            <a:off x="7677976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type="title"/>
          </p:nvPr>
        </p:nvSpPr>
        <p:spPr>
          <a:xfrm>
            <a:off x="795525" y="2323100"/>
            <a:ext cx="4838100" cy="145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 2">
  <p:cSld name="BLANK_1_1_1">
    <p:bg>
      <p:bgPr>
        <a:solidFill>
          <a:schemeClr val="accent5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277515" y="277501"/>
            <a:ext cx="8589075" cy="4593888"/>
            <a:chOff x="277500" y="277500"/>
            <a:chExt cx="8589075" cy="4593888"/>
          </a:xfrm>
        </p:grpSpPr>
        <p:pic>
          <p:nvPicPr>
            <p:cNvPr id="19" name="Google Shape;19;p3"/>
            <p:cNvPicPr preferRelativeResize="0"/>
            <p:nvPr/>
          </p:nvPicPr>
          <p:blipFill>
            <a:blip r:embed="rId2">
              <a:alphaModFix amt="10000"/>
            </a:blip>
            <a:stretch>
              <a:fillRect/>
            </a:stretch>
          </p:blipFill>
          <p:spPr>
            <a:xfrm>
              <a:off x="277575" y="277500"/>
              <a:ext cx="8589000" cy="45938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" name="Google Shape;20;p3"/>
            <p:cNvSpPr/>
            <p:nvPr/>
          </p:nvSpPr>
          <p:spPr>
            <a:xfrm>
              <a:off x="277500" y="277500"/>
              <a:ext cx="8589000" cy="4582500"/>
            </a:xfrm>
            <a:prstGeom prst="roundRect">
              <a:avLst>
                <a:gd fmla="val 6093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sp>
        <p:nvSpPr>
          <p:cNvPr id="21" name="Google Shape;21;p3"/>
          <p:cNvSpPr/>
          <p:nvPr/>
        </p:nvSpPr>
        <p:spPr>
          <a:xfrm>
            <a:off x="601356" y="3751056"/>
            <a:ext cx="576000" cy="5760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651558" y="3801258"/>
            <a:ext cx="475500" cy="475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3" name="Google Shape;23;p3"/>
          <p:cNvSpPr txBox="1"/>
          <p:nvPr>
            <p:ph idx="1" type="subTitle"/>
          </p:nvPr>
        </p:nvSpPr>
        <p:spPr>
          <a:xfrm>
            <a:off x="601325" y="3751025"/>
            <a:ext cx="576000" cy="576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mo"/>
              <a:buNone/>
              <a:defRPr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cxnSp>
        <p:nvCxnSpPr>
          <p:cNvPr id="24" name="Google Shape;24;p3"/>
          <p:cNvCxnSpPr/>
          <p:nvPr/>
        </p:nvCxnSpPr>
        <p:spPr>
          <a:xfrm rot="10800000">
            <a:off x="1341900" y="4039025"/>
            <a:ext cx="10146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3"/>
          <p:cNvSpPr txBox="1"/>
          <p:nvPr>
            <p:ph type="title"/>
          </p:nvPr>
        </p:nvSpPr>
        <p:spPr>
          <a:xfrm>
            <a:off x="2598475" y="3493075"/>
            <a:ext cx="5985300" cy="99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akers">
  <p:cSld name="CUSTOM_23">
    <p:bg>
      <p:bgPr>
        <a:solidFill>
          <a:schemeClr val="accent5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>
            <p:ph idx="2" type="pic"/>
          </p:nvPr>
        </p:nvSpPr>
        <p:spPr>
          <a:xfrm>
            <a:off x="277500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29" name="Google Shape;29;p4"/>
          <p:cNvSpPr/>
          <p:nvPr>
            <p:ph idx="3" type="pic"/>
          </p:nvPr>
        </p:nvSpPr>
        <p:spPr>
          <a:xfrm>
            <a:off x="17282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0" name="Google Shape;30;p4"/>
          <p:cNvSpPr/>
          <p:nvPr>
            <p:ph idx="4" type="pic"/>
          </p:nvPr>
        </p:nvSpPr>
        <p:spPr>
          <a:xfrm>
            <a:off x="31790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1" name="Google Shape;31;p4"/>
          <p:cNvSpPr/>
          <p:nvPr>
            <p:ph idx="5" type="pic"/>
          </p:nvPr>
        </p:nvSpPr>
        <p:spPr>
          <a:xfrm>
            <a:off x="46298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2" name="Google Shape;32;p4"/>
          <p:cNvSpPr/>
          <p:nvPr>
            <p:ph idx="6" type="pic"/>
          </p:nvPr>
        </p:nvSpPr>
        <p:spPr>
          <a:xfrm>
            <a:off x="60806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3" name="Google Shape;33;p4"/>
          <p:cNvSpPr/>
          <p:nvPr>
            <p:ph idx="7" type="pic"/>
          </p:nvPr>
        </p:nvSpPr>
        <p:spPr>
          <a:xfrm>
            <a:off x="75314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4"/>
          <p:cNvSpPr txBox="1"/>
          <p:nvPr>
            <p:ph type="title"/>
          </p:nvPr>
        </p:nvSpPr>
        <p:spPr>
          <a:xfrm>
            <a:off x="277500" y="577275"/>
            <a:ext cx="7137000" cy="99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7064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37" name="Google Shape;37;p4"/>
          <p:cNvSpPr txBox="1"/>
          <p:nvPr>
            <p:ph idx="8" type="body"/>
          </p:nvPr>
        </p:nvSpPr>
        <p:spPr>
          <a:xfrm>
            <a:off x="182162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38" name="Google Shape;38;p4"/>
          <p:cNvSpPr txBox="1"/>
          <p:nvPr>
            <p:ph idx="9" type="body"/>
          </p:nvPr>
        </p:nvSpPr>
        <p:spPr>
          <a:xfrm>
            <a:off x="327260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39" name="Google Shape;39;p4"/>
          <p:cNvSpPr txBox="1"/>
          <p:nvPr>
            <p:ph idx="13" type="body"/>
          </p:nvPr>
        </p:nvSpPr>
        <p:spPr>
          <a:xfrm>
            <a:off x="472358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40" name="Google Shape;40;p4"/>
          <p:cNvSpPr txBox="1"/>
          <p:nvPr>
            <p:ph idx="14" type="body"/>
          </p:nvPr>
        </p:nvSpPr>
        <p:spPr>
          <a:xfrm>
            <a:off x="617456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41" name="Google Shape;41;p4"/>
          <p:cNvSpPr txBox="1"/>
          <p:nvPr>
            <p:ph idx="15" type="body"/>
          </p:nvPr>
        </p:nvSpPr>
        <p:spPr>
          <a:xfrm>
            <a:off x="762554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42" name="Google Shape;42;p4"/>
          <p:cNvSpPr txBox="1"/>
          <p:nvPr>
            <p:ph idx="16" type="subTitle"/>
          </p:nvPr>
        </p:nvSpPr>
        <p:spPr>
          <a:xfrm>
            <a:off x="370650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3" name="Google Shape;43;p4"/>
          <p:cNvSpPr txBox="1"/>
          <p:nvPr>
            <p:ph idx="17" type="subTitle"/>
          </p:nvPr>
        </p:nvSpPr>
        <p:spPr>
          <a:xfrm>
            <a:off x="182149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4" name="Google Shape;44;p4"/>
          <p:cNvSpPr txBox="1"/>
          <p:nvPr>
            <p:ph idx="18" type="subTitle"/>
          </p:nvPr>
        </p:nvSpPr>
        <p:spPr>
          <a:xfrm>
            <a:off x="327234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5" name="Google Shape;45;p4"/>
          <p:cNvSpPr txBox="1"/>
          <p:nvPr>
            <p:ph idx="19" type="subTitle"/>
          </p:nvPr>
        </p:nvSpPr>
        <p:spPr>
          <a:xfrm>
            <a:off x="472319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6" name="Google Shape;46;p4"/>
          <p:cNvSpPr txBox="1"/>
          <p:nvPr>
            <p:ph idx="20" type="subTitle"/>
          </p:nvPr>
        </p:nvSpPr>
        <p:spPr>
          <a:xfrm>
            <a:off x="6174375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7" name="Google Shape;47;p4"/>
          <p:cNvSpPr txBox="1"/>
          <p:nvPr>
            <p:ph idx="21" type="subTitle"/>
          </p:nvPr>
        </p:nvSpPr>
        <p:spPr>
          <a:xfrm>
            <a:off x="7625550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8" name="Google Shape;48;p4"/>
          <p:cNvSpPr txBox="1"/>
          <p:nvPr>
            <p:ph idx="22" type="subTitle"/>
          </p:nvPr>
        </p:nvSpPr>
        <p:spPr>
          <a:xfrm>
            <a:off x="277500" y="291038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9" name="Google Shape;49;p4"/>
          <p:cNvSpPr txBox="1"/>
          <p:nvPr>
            <p:ph idx="23" type="subTitle"/>
          </p:nvPr>
        </p:nvSpPr>
        <p:spPr>
          <a:xfrm>
            <a:off x="7151050" y="290218"/>
            <a:ext cx="17154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cards">
  <p:cSld name="CUSTOM_24">
    <p:bg>
      <p:bgPr>
        <a:solidFill>
          <a:schemeClr val="accent5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"/>
          <p:cNvSpPr txBox="1"/>
          <p:nvPr>
            <p:ph idx="1" type="subTitle"/>
          </p:nvPr>
        </p:nvSpPr>
        <p:spPr>
          <a:xfrm>
            <a:off x="417936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2" name="Google Shape;52;p5"/>
          <p:cNvSpPr txBox="1"/>
          <p:nvPr>
            <p:ph idx="2" type="subTitle"/>
          </p:nvPr>
        </p:nvSpPr>
        <p:spPr>
          <a:xfrm>
            <a:off x="2167325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3" name="Google Shape;53;p5"/>
          <p:cNvSpPr txBox="1"/>
          <p:nvPr>
            <p:ph idx="3" type="subTitle"/>
          </p:nvPr>
        </p:nvSpPr>
        <p:spPr>
          <a:xfrm>
            <a:off x="3905470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4" name="Google Shape;54;p5"/>
          <p:cNvSpPr txBox="1"/>
          <p:nvPr>
            <p:ph idx="4" type="subTitle"/>
          </p:nvPr>
        </p:nvSpPr>
        <p:spPr>
          <a:xfrm>
            <a:off x="5652384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5" type="subTitle"/>
          </p:nvPr>
        </p:nvSpPr>
        <p:spPr>
          <a:xfrm>
            <a:off x="7392630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6" name="Google Shape;56;p5"/>
          <p:cNvSpPr txBox="1"/>
          <p:nvPr>
            <p:ph idx="6" type="body"/>
          </p:nvPr>
        </p:nvSpPr>
        <p:spPr>
          <a:xfrm>
            <a:off x="417811" y="3433000"/>
            <a:ext cx="1337400" cy="117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57" name="Google Shape;57;p5"/>
          <p:cNvSpPr txBox="1"/>
          <p:nvPr>
            <p:ph idx="7" type="body"/>
          </p:nvPr>
        </p:nvSpPr>
        <p:spPr>
          <a:xfrm>
            <a:off x="2167325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58" name="Google Shape;58;p5"/>
          <p:cNvSpPr txBox="1"/>
          <p:nvPr>
            <p:ph idx="8" type="body"/>
          </p:nvPr>
        </p:nvSpPr>
        <p:spPr>
          <a:xfrm>
            <a:off x="3903300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59" name="Google Shape;59;p5"/>
          <p:cNvSpPr txBox="1"/>
          <p:nvPr>
            <p:ph idx="9" type="body"/>
          </p:nvPr>
        </p:nvSpPr>
        <p:spPr>
          <a:xfrm>
            <a:off x="5648625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60" name="Google Shape;60;p5"/>
          <p:cNvSpPr txBox="1"/>
          <p:nvPr>
            <p:ph idx="13" type="body"/>
          </p:nvPr>
        </p:nvSpPr>
        <p:spPr>
          <a:xfrm>
            <a:off x="7385291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61" name="Google Shape;61;p5"/>
          <p:cNvSpPr txBox="1"/>
          <p:nvPr>
            <p:ph idx="14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2" name="Google Shape;62;p5"/>
          <p:cNvSpPr txBox="1"/>
          <p:nvPr>
            <p:ph idx="1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3" name="Google Shape;63;p5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64" name="Google Shape;64;p5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- Alt 1">
  <p:cSld name="CUSTOM_25">
    <p:bg>
      <p:bgPr>
        <a:solidFill>
          <a:schemeClr val="accent5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6"/>
          <p:cNvSpPr txBox="1"/>
          <p:nvPr/>
        </p:nvSpPr>
        <p:spPr>
          <a:xfrm>
            <a:off x="277500" y="277500"/>
            <a:ext cx="8589000" cy="10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69" name="Google Shape;69;p6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0" name="Google Shape;70;p6"/>
          <p:cNvSpPr txBox="1"/>
          <p:nvPr>
            <p:ph idx="3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1" name="Google Shape;71;p6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+ 4 steps - Alt 1">
  <p:cSld name="CUSTOM_25_1_1">
    <p:bg>
      <p:bgPr>
        <a:solidFill>
          <a:schemeClr val="accent5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"/>
          <p:cNvSpPr txBox="1"/>
          <p:nvPr>
            <p:ph type="title"/>
          </p:nvPr>
        </p:nvSpPr>
        <p:spPr>
          <a:xfrm>
            <a:off x="1969400" y="138075"/>
            <a:ext cx="5217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74" name="Google Shape;74;p7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5" name="Google Shape;75;p7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" name="Google Shape;77;p7"/>
          <p:cNvSpPr/>
          <p:nvPr>
            <p:ph idx="3" type="pic"/>
          </p:nvPr>
        </p:nvSpPr>
        <p:spPr>
          <a:xfrm>
            <a:off x="3766700" y="873150"/>
            <a:ext cx="1621800" cy="3549600"/>
          </a:xfrm>
          <a:prstGeom prst="roundRect">
            <a:avLst>
              <a:gd fmla="val 10482" name="adj"/>
            </a:avLst>
          </a:prstGeom>
          <a:noFill/>
          <a:ln>
            <a:noFill/>
          </a:ln>
        </p:spPr>
      </p:sp>
      <p:sp>
        <p:nvSpPr>
          <p:cNvPr id="78" name="Google Shape;78;p7"/>
          <p:cNvSpPr/>
          <p:nvPr>
            <p:ph idx="4" type="pic"/>
          </p:nvPr>
        </p:nvSpPr>
        <p:spPr>
          <a:xfrm>
            <a:off x="289100" y="1324475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79" name="Google Shape;79;p7"/>
          <p:cNvSpPr/>
          <p:nvPr>
            <p:ph idx="5" type="pic"/>
          </p:nvPr>
        </p:nvSpPr>
        <p:spPr>
          <a:xfrm>
            <a:off x="1969400" y="1142650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80" name="Google Shape;80;p7"/>
          <p:cNvSpPr/>
          <p:nvPr>
            <p:ph idx="6" type="pic"/>
          </p:nvPr>
        </p:nvSpPr>
        <p:spPr>
          <a:xfrm>
            <a:off x="5623125" y="1142650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81" name="Google Shape;81;p7"/>
          <p:cNvSpPr/>
          <p:nvPr>
            <p:ph idx="7" type="pic"/>
          </p:nvPr>
        </p:nvSpPr>
        <p:spPr>
          <a:xfrm>
            <a:off x="7304050" y="1324475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82" name="Google Shape;82;p7"/>
          <p:cNvSpPr txBox="1"/>
          <p:nvPr>
            <p:ph idx="8" type="subTitle"/>
          </p:nvPr>
        </p:nvSpPr>
        <p:spPr>
          <a:xfrm>
            <a:off x="378475" y="4261299"/>
            <a:ext cx="1563300" cy="20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3" name="Google Shape;83;p7"/>
          <p:cNvSpPr txBox="1"/>
          <p:nvPr>
            <p:ph idx="9" type="subTitle"/>
          </p:nvPr>
        </p:nvSpPr>
        <p:spPr>
          <a:xfrm>
            <a:off x="378476" y="4562900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4" name="Google Shape;84;p7"/>
          <p:cNvSpPr txBox="1"/>
          <p:nvPr>
            <p:ph idx="13" type="subTitle"/>
          </p:nvPr>
        </p:nvSpPr>
        <p:spPr>
          <a:xfrm>
            <a:off x="2057625" y="4074126"/>
            <a:ext cx="1563300" cy="20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5" name="Google Shape;85;p7"/>
          <p:cNvSpPr txBox="1"/>
          <p:nvPr>
            <p:ph idx="14" type="subTitle"/>
          </p:nvPr>
        </p:nvSpPr>
        <p:spPr>
          <a:xfrm>
            <a:off x="2057625" y="4375725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6" name="Google Shape;86;p7"/>
          <p:cNvSpPr txBox="1"/>
          <p:nvPr>
            <p:ph idx="15" type="subTitle"/>
          </p:nvPr>
        </p:nvSpPr>
        <p:spPr>
          <a:xfrm>
            <a:off x="5712200" y="4074126"/>
            <a:ext cx="15633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7" name="Google Shape;87;p7"/>
          <p:cNvSpPr txBox="1"/>
          <p:nvPr>
            <p:ph idx="16" type="subTitle"/>
          </p:nvPr>
        </p:nvSpPr>
        <p:spPr>
          <a:xfrm>
            <a:off x="5712200" y="4375725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8" name="Google Shape;88;p7"/>
          <p:cNvSpPr txBox="1"/>
          <p:nvPr>
            <p:ph idx="17" type="subTitle"/>
          </p:nvPr>
        </p:nvSpPr>
        <p:spPr>
          <a:xfrm>
            <a:off x="7395575" y="4261301"/>
            <a:ext cx="15633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9" name="Google Shape;89;p7"/>
          <p:cNvSpPr txBox="1"/>
          <p:nvPr>
            <p:ph idx="18" type="subTitle"/>
          </p:nvPr>
        </p:nvSpPr>
        <p:spPr>
          <a:xfrm>
            <a:off x="7395575" y="4562900"/>
            <a:ext cx="15042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CUSTOM_21_1_1">
    <p:bg>
      <p:bgPr>
        <a:solidFill>
          <a:schemeClr val="accent5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92" name="Google Shape;92;p8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3" name="Google Shape;93;p8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main point">
  <p:cSld name="BLANK_1_1_1_1_1_1">
    <p:bg>
      <p:bgPr>
        <a:solidFill>
          <a:schemeClr val="accent5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9"/>
          <p:cNvPicPr preferRelativeResize="0"/>
          <p:nvPr/>
        </p:nvPicPr>
        <p:blipFill rotWithShape="1">
          <a:blip r:embed="rId2">
            <a:alphaModFix amt="10000"/>
          </a:blip>
          <a:srcRect b="720" l="1068" r="19" t="592"/>
          <a:stretch/>
        </p:blipFill>
        <p:spPr>
          <a:xfrm>
            <a:off x="277425" y="277650"/>
            <a:ext cx="8588100" cy="4582500"/>
          </a:xfrm>
          <a:prstGeom prst="roundRect">
            <a:avLst>
              <a:gd fmla="val 13460" name="adj"/>
            </a:avLst>
          </a:prstGeom>
          <a:noFill/>
          <a:ln>
            <a:noFill/>
          </a:ln>
        </p:spPr>
      </p:pic>
      <p:sp>
        <p:nvSpPr>
          <p:cNvPr id="97" name="Google Shape;97;p9"/>
          <p:cNvSpPr txBox="1"/>
          <p:nvPr>
            <p:ph type="title"/>
          </p:nvPr>
        </p:nvSpPr>
        <p:spPr>
          <a:xfrm>
            <a:off x="625375" y="2731850"/>
            <a:ext cx="40344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bg>
      <p:bgPr>
        <a:solidFill>
          <a:schemeClr val="accent5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0"/>
          <p:cNvSpPr txBox="1"/>
          <p:nvPr>
            <p:ph idx="1" type="subTitle"/>
          </p:nvPr>
        </p:nvSpPr>
        <p:spPr>
          <a:xfrm>
            <a:off x="4539825" y="3178291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1" name="Google Shape;101;p10"/>
          <p:cNvSpPr txBox="1"/>
          <p:nvPr>
            <p:ph idx="2" type="subTitle"/>
          </p:nvPr>
        </p:nvSpPr>
        <p:spPr>
          <a:xfrm>
            <a:off x="4539825" y="3792808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2" name="Google Shape;102;p10"/>
          <p:cNvSpPr txBox="1"/>
          <p:nvPr>
            <p:ph idx="3" type="subTitle"/>
          </p:nvPr>
        </p:nvSpPr>
        <p:spPr>
          <a:xfrm>
            <a:off x="4539825" y="4407325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3" name="Google Shape;103;p10"/>
          <p:cNvSpPr txBox="1"/>
          <p:nvPr>
            <p:ph type="title"/>
          </p:nvPr>
        </p:nvSpPr>
        <p:spPr>
          <a:xfrm>
            <a:off x="277425" y="2056225"/>
            <a:ext cx="3541500" cy="280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5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04" name="Google Shape;104;p10"/>
          <p:cNvSpPr txBox="1"/>
          <p:nvPr>
            <p:ph idx="4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5" name="Google Shape;105;p10"/>
          <p:cNvSpPr txBox="1"/>
          <p:nvPr>
            <p:ph idx="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6" name="Google Shape;106;p10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1">
  <p:cSld name="CUSTOM_11">
    <p:bg>
      <p:bgPr>
        <a:solidFill>
          <a:schemeClr val="accent5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"/>
          <p:cNvSpPr/>
          <p:nvPr>
            <p:ph idx="2" type="pic"/>
          </p:nvPr>
        </p:nvSpPr>
        <p:spPr>
          <a:xfrm>
            <a:off x="7480825" y="734600"/>
            <a:ext cx="1383900" cy="1660200"/>
          </a:xfrm>
          <a:prstGeom prst="roundRect">
            <a:avLst>
              <a:gd fmla="val 11646" name="adj"/>
            </a:avLst>
          </a:prstGeom>
          <a:noFill/>
          <a:ln>
            <a:noFill/>
          </a:ln>
        </p:spPr>
      </p:sp>
      <p:sp>
        <p:nvSpPr>
          <p:cNvPr id="109" name="Google Shape;109;p11"/>
          <p:cNvSpPr/>
          <p:nvPr>
            <p:ph idx="3" type="pic"/>
          </p:nvPr>
        </p:nvSpPr>
        <p:spPr>
          <a:xfrm>
            <a:off x="7480825" y="2521175"/>
            <a:ext cx="1383900" cy="1879200"/>
          </a:xfrm>
          <a:prstGeom prst="roundRect">
            <a:avLst>
              <a:gd fmla="val 11646" name="adj"/>
            </a:avLst>
          </a:prstGeom>
          <a:noFill/>
          <a:ln>
            <a:noFill/>
          </a:ln>
        </p:spPr>
      </p:sp>
      <p:sp>
        <p:nvSpPr>
          <p:cNvPr id="110" name="Google Shape;110;p11"/>
          <p:cNvSpPr/>
          <p:nvPr>
            <p:ph idx="4" type="pic"/>
          </p:nvPr>
        </p:nvSpPr>
        <p:spPr>
          <a:xfrm>
            <a:off x="4665550" y="850900"/>
            <a:ext cx="2589300" cy="3433200"/>
          </a:xfrm>
          <a:prstGeom prst="roundRect">
            <a:avLst>
              <a:gd fmla="val 6330" name="adj"/>
            </a:avLst>
          </a:prstGeom>
          <a:noFill/>
          <a:ln>
            <a:noFill/>
          </a:ln>
        </p:spPr>
      </p:sp>
      <p:sp>
        <p:nvSpPr>
          <p:cNvPr id="111" name="Google Shape;111;p11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12" name="Google Shape;112;p11"/>
          <p:cNvSpPr txBox="1"/>
          <p:nvPr>
            <p:ph idx="5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13" name="Google Shape;113;p11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14" name="Google Shape;114;p11"/>
          <p:cNvSpPr txBox="1"/>
          <p:nvPr>
            <p:ph idx="6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15" name="Google Shape;115;p11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CUSTOM_11_1">
    <p:bg>
      <p:bgPr>
        <a:solidFill>
          <a:schemeClr val="accent5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2"/>
          <p:cNvSpPr/>
          <p:nvPr/>
        </p:nvSpPr>
        <p:spPr>
          <a:xfrm>
            <a:off x="6107109" y="582300"/>
            <a:ext cx="2759400" cy="3586200"/>
          </a:xfrm>
          <a:prstGeom prst="roundRect">
            <a:avLst>
              <a:gd fmla="val 867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18" name="Google Shape;118;p12"/>
          <p:cNvSpPr/>
          <p:nvPr>
            <p:ph idx="2" type="pic"/>
          </p:nvPr>
        </p:nvSpPr>
        <p:spPr>
          <a:xfrm>
            <a:off x="6220309" y="696000"/>
            <a:ext cx="2532900" cy="3358800"/>
          </a:xfrm>
          <a:prstGeom prst="roundRect">
            <a:avLst>
              <a:gd fmla="val 7223" name="adj"/>
            </a:avLst>
          </a:prstGeom>
          <a:noFill/>
          <a:ln>
            <a:noFill/>
          </a:ln>
        </p:spPr>
      </p:sp>
      <p:sp>
        <p:nvSpPr>
          <p:cNvPr id="119" name="Google Shape;119;p12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20" name="Google Shape;120;p12"/>
          <p:cNvSpPr txBox="1"/>
          <p:nvPr>
            <p:ph idx="3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21" name="Google Shape;121;p12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2" name="Google Shape;122;p12"/>
          <p:cNvSpPr txBox="1"/>
          <p:nvPr>
            <p:ph idx="4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">
  <p:cSld name="CUSTOM_11_1_1">
    <p:bg>
      <p:bgPr>
        <a:solidFill>
          <a:schemeClr val="accent5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3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26" name="Google Shape;126;p13"/>
          <p:cNvSpPr txBox="1"/>
          <p:nvPr>
            <p:ph idx="2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27" name="Google Shape;127;p13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8" name="Google Shape;128;p13"/>
          <p:cNvSpPr txBox="1"/>
          <p:nvPr>
            <p:ph idx="3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9" name="Google Shape;129;p13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 - Alt 1">
  <p:cSld name="CUSTOM_12">
    <p:bg>
      <p:bgPr>
        <a:solidFill>
          <a:schemeClr val="accent5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4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32" name="Google Shape;132;p14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3" name="Google Shape;133;p14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4" name="Google Shape;134;p14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14"/>
          <p:cNvSpPr txBox="1"/>
          <p:nvPr>
            <p:ph idx="3" type="body"/>
          </p:nvPr>
        </p:nvSpPr>
        <p:spPr>
          <a:xfrm>
            <a:off x="4956525" y="3571875"/>
            <a:ext cx="35850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36" name="Google Shape;136;p14"/>
          <p:cNvSpPr txBox="1"/>
          <p:nvPr>
            <p:ph idx="4" type="body"/>
          </p:nvPr>
        </p:nvSpPr>
        <p:spPr>
          <a:xfrm>
            <a:off x="389475" y="3571875"/>
            <a:ext cx="35850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37" name="Google Shape;137;p14"/>
          <p:cNvSpPr txBox="1"/>
          <p:nvPr>
            <p:ph idx="5" type="subTitle"/>
          </p:nvPr>
        </p:nvSpPr>
        <p:spPr>
          <a:xfrm>
            <a:off x="479925" y="2730150"/>
            <a:ext cx="3220500" cy="50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8" name="Google Shape;138;p14"/>
          <p:cNvSpPr txBox="1"/>
          <p:nvPr>
            <p:ph idx="6" type="subTitle"/>
          </p:nvPr>
        </p:nvSpPr>
        <p:spPr>
          <a:xfrm>
            <a:off x="4868275" y="2730150"/>
            <a:ext cx="3220500" cy="50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CUSTOM_13">
    <p:bg>
      <p:bgPr>
        <a:solidFill>
          <a:schemeClr val="accent5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/>
          <p:nvPr>
            <p:ph idx="2" type="pic"/>
          </p:nvPr>
        </p:nvSpPr>
        <p:spPr>
          <a:xfrm>
            <a:off x="502800" y="2080575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1" name="Google Shape;141;p15"/>
          <p:cNvSpPr/>
          <p:nvPr>
            <p:ph idx="3" type="pic"/>
          </p:nvPr>
        </p:nvSpPr>
        <p:spPr>
          <a:xfrm>
            <a:off x="6334750" y="2080575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2" name="Google Shape;142;p15"/>
          <p:cNvSpPr/>
          <p:nvPr>
            <p:ph idx="4" type="pic"/>
          </p:nvPr>
        </p:nvSpPr>
        <p:spPr>
          <a:xfrm>
            <a:off x="3418775" y="2080550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3" name="Google Shape;143;p15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44" name="Google Shape;144;p15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45" name="Google Shape;145;p15"/>
          <p:cNvSpPr txBox="1"/>
          <p:nvPr>
            <p:ph idx="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46" name="Google Shape;146;p15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7" name="Google Shape;147;p15"/>
          <p:cNvSpPr txBox="1"/>
          <p:nvPr>
            <p:ph idx="6" type="body"/>
          </p:nvPr>
        </p:nvSpPr>
        <p:spPr>
          <a:xfrm>
            <a:off x="480250" y="3608000"/>
            <a:ext cx="23865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48" name="Google Shape;148;p15"/>
          <p:cNvSpPr txBox="1"/>
          <p:nvPr>
            <p:ph idx="7" type="body"/>
          </p:nvPr>
        </p:nvSpPr>
        <p:spPr>
          <a:xfrm>
            <a:off x="3422476" y="3608000"/>
            <a:ext cx="23865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49" name="Google Shape;149;p15"/>
          <p:cNvSpPr txBox="1"/>
          <p:nvPr>
            <p:ph idx="8" type="body"/>
          </p:nvPr>
        </p:nvSpPr>
        <p:spPr>
          <a:xfrm>
            <a:off x="6326625" y="3608000"/>
            <a:ext cx="23172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50" name="Google Shape;150;p15"/>
          <p:cNvSpPr txBox="1"/>
          <p:nvPr>
            <p:ph idx="9" type="subTitle"/>
          </p:nvPr>
        </p:nvSpPr>
        <p:spPr>
          <a:xfrm>
            <a:off x="480251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51" name="Google Shape;151;p15"/>
          <p:cNvSpPr txBox="1"/>
          <p:nvPr>
            <p:ph idx="13" type="subTitle"/>
          </p:nvPr>
        </p:nvSpPr>
        <p:spPr>
          <a:xfrm>
            <a:off x="3422476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52" name="Google Shape;152;p15"/>
          <p:cNvSpPr txBox="1"/>
          <p:nvPr>
            <p:ph idx="14" type="subTitle"/>
          </p:nvPr>
        </p:nvSpPr>
        <p:spPr>
          <a:xfrm>
            <a:off x="6328801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CUSTOM_13_1">
    <p:bg>
      <p:bgPr>
        <a:solidFill>
          <a:schemeClr val="accent5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/>
          <p:nvPr>
            <p:ph idx="2" type="pic"/>
          </p:nvPr>
        </p:nvSpPr>
        <p:spPr>
          <a:xfrm>
            <a:off x="4644850" y="12992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155" name="Google Shape;155;p16"/>
          <p:cNvSpPr/>
          <p:nvPr>
            <p:ph idx="3" type="pic"/>
          </p:nvPr>
        </p:nvSpPr>
        <p:spPr>
          <a:xfrm>
            <a:off x="4644850" y="36428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156" name="Google Shape;156;p16"/>
          <p:cNvSpPr/>
          <p:nvPr>
            <p:ph idx="4" type="pic"/>
          </p:nvPr>
        </p:nvSpPr>
        <p:spPr>
          <a:xfrm>
            <a:off x="7828875" y="24710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157" name="Google Shape;157;p16"/>
          <p:cNvSpPr/>
          <p:nvPr>
            <p:ph idx="5" type="pic"/>
          </p:nvPr>
        </p:nvSpPr>
        <p:spPr>
          <a:xfrm>
            <a:off x="373175" y="1147525"/>
            <a:ext cx="3579900" cy="3607500"/>
          </a:xfrm>
          <a:prstGeom prst="roundRect">
            <a:avLst>
              <a:gd fmla="val 11548" name="adj"/>
            </a:avLst>
          </a:prstGeom>
          <a:noFill/>
          <a:ln>
            <a:noFill/>
          </a:ln>
        </p:spPr>
      </p:sp>
      <p:sp>
        <p:nvSpPr>
          <p:cNvPr id="158" name="Google Shape;158;p16"/>
          <p:cNvSpPr txBox="1"/>
          <p:nvPr>
            <p:ph type="title"/>
          </p:nvPr>
        </p:nvSpPr>
        <p:spPr>
          <a:xfrm>
            <a:off x="277500" y="416250"/>
            <a:ext cx="8589000" cy="6267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59" name="Google Shape;159;p16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60" name="Google Shape;160;p16"/>
          <p:cNvSpPr txBox="1"/>
          <p:nvPr>
            <p:ph idx="6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61" name="Google Shape;161;p16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" name="Google Shape;162;p16"/>
          <p:cNvSpPr txBox="1"/>
          <p:nvPr>
            <p:ph idx="7" type="title"/>
          </p:nvPr>
        </p:nvSpPr>
        <p:spPr>
          <a:xfrm>
            <a:off x="6033800" y="15393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3" name="Google Shape;163;p16"/>
          <p:cNvSpPr txBox="1"/>
          <p:nvPr>
            <p:ph idx="8" type="title"/>
          </p:nvPr>
        </p:nvSpPr>
        <p:spPr>
          <a:xfrm>
            <a:off x="6033800" y="18086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4" name="Google Shape;164;p16"/>
          <p:cNvSpPr txBox="1"/>
          <p:nvPr>
            <p:ph idx="9" type="title"/>
          </p:nvPr>
        </p:nvSpPr>
        <p:spPr>
          <a:xfrm>
            <a:off x="4869750" y="27111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5" name="Google Shape;165;p16"/>
          <p:cNvSpPr txBox="1"/>
          <p:nvPr>
            <p:ph idx="13" type="title"/>
          </p:nvPr>
        </p:nvSpPr>
        <p:spPr>
          <a:xfrm>
            <a:off x="4869750" y="29804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6" name="Google Shape;166;p16"/>
          <p:cNvSpPr txBox="1"/>
          <p:nvPr>
            <p:ph idx="14" type="title"/>
          </p:nvPr>
        </p:nvSpPr>
        <p:spPr>
          <a:xfrm>
            <a:off x="6033800" y="38829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7" name="Google Shape;167;p16"/>
          <p:cNvSpPr txBox="1"/>
          <p:nvPr>
            <p:ph idx="15" type="title"/>
          </p:nvPr>
        </p:nvSpPr>
        <p:spPr>
          <a:xfrm>
            <a:off x="6033800" y="41522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CUSTOM_14">
    <p:bg>
      <p:bgPr>
        <a:solidFill>
          <a:schemeClr val="accent5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70" name="Google Shape;170;p17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1" name="Google Shape;171;p17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2" name="Google Shape;172;p17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3" name="Google Shape;173;p17"/>
          <p:cNvSpPr txBox="1"/>
          <p:nvPr>
            <p:ph idx="3" type="body"/>
          </p:nvPr>
        </p:nvSpPr>
        <p:spPr>
          <a:xfrm>
            <a:off x="226690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74" name="Google Shape;174;p17"/>
          <p:cNvSpPr txBox="1"/>
          <p:nvPr>
            <p:ph idx="4" type="body"/>
          </p:nvPr>
        </p:nvSpPr>
        <p:spPr>
          <a:xfrm>
            <a:off x="400685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75" name="Google Shape;175;p17"/>
          <p:cNvSpPr txBox="1"/>
          <p:nvPr>
            <p:ph idx="5" type="body"/>
          </p:nvPr>
        </p:nvSpPr>
        <p:spPr>
          <a:xfrm>
            <a:off x="574820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76" name="Google Shape;176;p17"/>
          <p:cNvSpPr txBox="1"/>
          <p:nvPr>
            <p:ph idx="6" type="body"/>
          </p:nvPr>
        </p:nvSpPr>
        <p:spPr>
          <a:xfrm>
            <a:off x="745075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77" name="Google Shape;177;p17"/>
          <p:cNvSpPr txBox="1"/>
          <p:nvPr>
            <p:ph idx="7" type="subTitle"/>
          </p:nvPr>
        </p:nvSpPr>
        <p:spPr>
          <a:xfrm>
            <a:off x="226700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8" name="Google Shape;178;p17"/>
          <p:cNvSpPr txBox="1"/>
          <p:nvPr>
            <p:ph idx="8" type="subTitle"/>
          </p:nvPr>
        </p:nvSpPr>
        <p:spPr>
          <a:xfrm>
            <a:off x="400685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9" name="Google Shape;179;p17"/>
          <p:cNvSpPr txBox="1"/>
          <p:nvPr>
            <p:ph idx="9" type="subTitle"/>
          </p:nvPr>
        </p:nvSpPr>
        <p:spPr>
          <a:xfrm>
            <a:off x="574750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80" name="Google Shape;180;p17"/>
          <p:cNvSpPr txBox="1"/>
          <p:nvPr>
            <p:ph idx="13" type="subTitle"/>
          </p:nvPr>
        </p:nvSpPr>
        <p:spPr>
          <a:xfrm>
            <a:off x="748885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and image">
  <p:cSld name="CUSTOM_15">
    <p:bg>
      <p:bgPr>
        <a:solidFill>
          <a:schemeClr val="accent5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"/>
          <p:cNvSpPr txBox="1"/>
          <p:nvPr>
            <p:ph type="title"/>
          </p:nvPr>
        </p:nvSpPr>
        <p:spPr>
          <a:xfrm>
            <a:off x="5321925" y="506100"/>
            <a:ext cx="3544500" cy="5793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83" name="Google Shape;183;p18"/>
          <p:cNvSpPr/>
          <p:nvPr>
            <p:ph idx="2" type="pic"/>
          </p:nvPr>
        </p:nvSpPr>
        <p:spPr>
          <a:xfrm>
            <a:off x="392100" y="411300"/>
            <a:ext cx="4297500" cy="4333200"/>
          </a:xfrm>
          <a:prstGeom prst="roundRect">
            <a:avLst>
              <a:gd fmla="val 12298" name="adj"/>
            </a:avLst>
          </a:prstGeom>
          <a:noFill/>
          <a:ln>
            <a:noFill/>
          </a:ln>
        </p:spPr>
      </p:sp>
      <p:sp>
        <p:nvSpPr>
          <p:cNvPr id="184" name="Google Shape;184;p18"/>
          <p:cNvSpPr txBox="1"/>
          <p:nvPr>
            <p:ph idx="1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85" name="Google Shape;185;p18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storyboards ">
  <p:cSld name="CUSTOM_17_1">
    <p:bg>
      <p:bgPr>
        <a:solidFill>
          <a:schemeClr val="accent5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9"/>
          <p:cNvSpPr txBox="1"/>
          <p:nvPr>
            <p:ph idx="1" type="subTitle"/>
          </p:nvPr>
        </p:nvSpPr>
        <p:spPr>
          <a:xfrm>
            <a:off x="27750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88" name="Google Shape;188;p19"/>
          <p:cNvSpPr/>
          <p:nvPr>
            <p:ph idx="2" type="pic"/>
          </p:nvPr>
        </p:nvSpPr>
        <p:spPr>
          <a:xfrm>
            <a:off x="2891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189" name="Google Shape;189;p19"/>
          <p:cNvSpPr/>
          <p:nvPr>
            <p:ph idx="3" type="pic"/>
          </p:nvPr>
        </p:nvSpPr>
        <p:spPr>
          <a:xfrm>
            <a:off x="21522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190" name="Google Shape;190;p19"/>
          <p:cNvSpPr/>
          <p:nvPr>
            <p:ph idx="4" type="pic"/>
          </p:nvPr>
        </p:nvSpPr>
        <p:spPr>
          <a:xfrm>
            <a:off x="40153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191" name="Google Shape;191;p19"/>
          <p:cNvSpPr/>
          <p:nvPr>
            <p:ph idx="5" type="pic"/>
          </p:nvPr>
        </p:nvSpPr>
        <p:spPr>
          <a:xfrm>
            <a:off x="586625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192" name="Google Shape;192;p19"/>
          <p:cNvSpPr txBox="1"/>
          <p:nvPr>
            <p:ph idx="6" type="body"/>
          </p:nvPr>
        </p:nvSpPr>
        <p:spPr>
          <a:xfrm>
            <a:off x="27750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93" name="Google Shape;193;p19"/>
          <p:cNvSpPr txBox="1"/>
          <p:nvPr>
            <p:ph idx="7" type="subTitle"/>
          </p:nvPr>
        </p:nvSpPr>
        <p:spPr>
          <a:xfrm>
            <a:off x="214815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4" name="Google Shape;194;p19"/>
          <p:cNvSpPr txBox="1"/>
          <p:nvPr>
            <p:ph idx="8" type="body"/>
          </p:nvPr>
        </p:nvSpPr>
        <p:spPr>
          <a:xfrm>
            <a:off x="214815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195" name="Google Shape;195;p19"/>
          <p:cNvSpPr txBox="1"/>
          <p:nvPr>
            <p:ph idx="9" type="subTitle"/>
          </p:nvPr>
        </p:nvSpPr>
        <p:spPr>
          <a:xfrm>
            <a:off x="401880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6" name="Google Shape;196;p19"/>
          <p:cNvSpPr txBox="1"/>
          <p:nvPr>
            <p:ph idx="13" type="body"/>
          </p:nvPr>
        </p:nvSpPr>
        <p:spPr>
          <a:xfrm>
            <a:off x="401880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197" name="Google Shape;197;p19"/>
          <p:cNvSpPr txBox="1"/>
          <p:nvPr>
            <p:ph idx="14" type="subTitle"/>
          </p:nvPr>
        </p:nvSpPr>
        <p:spPr>
          <a:xfrm>
            <a:off x="585365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8" name="Google Shape;198;p19"/>
          <p:cNvSpPr txBox="1"/>
          <p:nvPr>
            <p:ph idx="15" type="body"/>
          </p:nvPr>
        </p:nvSpPr>
        <p:spPr>
          <a:xfrm>
            <a:off x="585365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199" name="Google Shape;199;p19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00" name="Google Shape;200;p19"/>
          <p:cNvSpPr txBox="1"/>
          <p:nvPr>
            <p:ph idx="16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01" name="Google Shape;201;p19"/>
          <p:cNvSpPr txBox="1"/>
          <p:nvPr>
            <p:ph idx="17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02" name="Google Shape;202;p19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- Alt 1">
  <p:cSld name="BLANK_1_1_1_1_1_1_1_1_1_1_1_1_1_1_1_1">
    <p:bg>
      <p:bgPr>
        <a:solidFill>
          <a:schemeClr val="accent5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0"/>
          <p:cNvSpPr/>
          <p:nvPr>
            <p:ph idx="2" type="pic"/>
          </p:nvPr>
        </p:nvSpPr>
        <p:spPr>
          <a:xfrm>
            <a:off x="392100" y="411300"/>
            <a:ext cx="4915800" cy="4333200"/>
          </a:xfrm>
          <a:prstGeom prst="roundRect">
            <a:avLst>
              <a:gd fmla="val 11160" name="adj"/>
            </a:avLst>
          </a:prstGeom>
          <a:noFill/>
          <a:ln>
            <a:noFill/>
          </a:ln>
        </p:spPr>
      </p:sp>
      <p:sp>
        <p:nvSpPr>
          <p:cNvPr id="205" name="Google Shape;205;p20"/>
          <p:cNvSpPr txBox="1"/>
          <p:nvPr>
            <p:ph type="title"/>
          </p:nvPr>
        </p:nvSpPr>
        <p:spPr>
          <a:xfrm>
            <a:off x="60451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06" name="Google Shape;206;p20"/>
          <p:cNvSpPr txBox="1"/>
          <p:nvPr>
            <p:ph idx="3" type="title"/>
          </p:nvPr>
        </p:nvSpPr>
        <p:spPr>
          <a:xfrm>
            <a:off x="60451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07" name="Google Shape;207;p20"/>
          <p:cNvSpPr txBox="1"/>
          <p:nvPr>
            <p:ph idx="1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08" name="Google Shape;208;p20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653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etitor characteristics">
  <p:cSld name="CUSTOM_19_2">
    <p:bg>
      <p:bgPr>
        <a:solidFill>
          <a:schemeClr val="accent5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1"/>
          <p:cNvSpPr/>
          <p:nvPr/>
        </p:nvSpPr>
        <p:spPr>
          <a:xfrm>
            <a:off x="6766675" y="282250"/>
            <a:ext cx="2099700" cy="3008100"/>
          </a:xfrm>
          <a:prstGeom prst="roundRect">
            <a:avLst>
              <a:gd fmla="val 11954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277425" y="3414025"/>
            <a:ext cx="3513600" cy="1447800"/>
          </a:xfrm>
          <a:prstGeom prst="roundRect">
            <a:avLst>
              <a:gd fmla="val 1567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5298000" y="1843500"/>
            <a:ext cx="1350600" cy="1447800"/>
          </a:xfrm>
          <a:prstGeom prst="roundRect">
            <a:avLst>
              <a:gd fmla="val 20704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1700"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3" name="Google Shape;213;p21"/>
          <p:cNvSpPr/>
          <p:nvPr/>
        </p:nvSpPr>
        <p:spPr>
          <a:xfrm rot="-5400000">
            <a:off x="5577475" y="2049100"/>
            <a:ext cx="566700" cy="867300"/>
          </a:xfrm>
          <a:prstGeom prst="round2SameRect">
            <a:avLst>
              <a:gd fmla="val 49749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5426850" y="2194075"/>
            <a:ext cx="1092900" cy="573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5" name="Google Shape;215;p21"/>
          <p:cNvSpPr/>
          <p:nvPr>
            <p:ph idx="2" type="pic"/>
          </p:nvPr>
        </p:nvSpPr>
        <p:spPr>
          <a:xfrm>
            <a:off x="3910200" y="3408075"/>
            <a:ext cx="3486300" cy="1447800"/>
          </a:xfrm>
          <a:prstGeom prst="roundRect">
            <a:avLst>
              <a:gd fmla="val 16397" name="adj"/>
            </a:avLst>
          </a:prstGeom>
          <a:noFill/>
          <a:ln>
            <a:noFill/>
          </a:ln>
        </p:spPr>
      </p:sp>
      <p:sp>
        <p:nvSpPr>
          <p:cNvPr id="216" name="Google Shape;216;p21"/>
          <p:cNvSpPr/>
          <p:nvPr>
            <p:ph idx="3" type="pic"/>
          </p:nvPr>
        </p:nvSpPr>
        <p:spPr>
          <a:xfrm>
            <a:off x="277500" y="277500"/>
            <a:ext cx="2765700" cy="3013800"/>
          </a:xfrm>
          <a:prstGeom prst="roundRect">
            <a:avLst>
              <a:gd fmla="val 8721" name="adj"/>
            </a:avLst>
          </a:prstGeom>
          <a:noFill/>
          <a:ln>
            <a:noFill/>
          </a:ln>
        </p:spPr>
      </p:sp>
      <p:sp>
        <p:nvSpPr>
          <p:cNvPr id="217" name="Google Shape;217;p21"/>
          <p:cNvSpPr/>
          <p:nvPr>
            <p:ph idx="4" type="pic"/>
          </p:nvPr>
        </p:nvSpPr>
        <p:spPr>
          <a:xfrm>
            <a:off x="3161225" y="277500"/>
            <a:ext cx="1350600" cy="1447800"/>
          </a:xfrm>
          <a:prstGeom prst="roundRect">
            <a:avLst>
              <a:gd fmla="val 15267" name="adj"/>
            </a:avLst>
          </a:prstGeom>
          <a:noFill/>
          <a:ln>
            <a:noFill/>
          </a:ln>
        </p:spPr>
      </p:sp>
      <p:sp>
        <p:nvSpPr>
          <p:cNvPr id="218" name="Google Shape;218;p21"/>
          <p:cNvSpPr/>
          <p:nvPr>
            <p:ph idx="5" type="pic"/>
          </p:nvPr>
        </p:nvSpPr>
        <p:spPr>
          <a:xfrm>
            <a:off x="6883575" y="399550"/>
            <a:ext cx="1866000" cy="2775000"/>
          </a:xfrm>
          <a:prstGeom prst="roundRect">
            <a:avLst>
              <a:gd fmla="val 9097" name="adj"/>
            </a:avLst>
          </a:prstGeom>
          <a:noFill/>
          <a:ln>
            <a:noFill/>
          </a:ln>
        </p:spPr>
      </p:sp>
      <p:sp>
        <p:nvSpPr>
          <p:cNvPr id="219" name="Google Shape;219;p21"/>
          <p:cNvSpPr/>
          <p:nvPr>
            <p:ph idx="6" type="pic"/>
          </p:nvPr>
        </p:nvSpPr>
        <p:spPr>
          <a:xfrm>
            <a:off x="7516025" y="3407700"/>
            <a:ext cx="1350600" cy="1447800"/>
          </a:xfrm>
          <a:prstGeom prst="roundRect">
            <a:avLst>
              <a:gd fmla="val 16397" name="adj"/>
            </a:avLst>
          </a:prstGeom>
          <a:noFill/>
          <a:ln>
            <a:noFill/>
          </a:ln>
        </p:spPr>
      </p:sp>
      <p:sp>
        <p:nvSpPr>
          <p:cNvPr id="220" name="Google Shape;220;p21"/>
          <p:cNvSpPr/>
          <p:nvPr>
            <p:ph idx="7" type="pic"/>
          </p:nvPr>
        </p:nvSpPr>
        <p:spPr>
          <a:xfrm>
            <a:off x="394425" y="3528475"/>
            <a:ext cx="3279600" cy="1218900"/>
          </a:xfrm>
          <a:prstGeom prst="roundRect">
            <a:avLst>
              <a:gd fmla="val 11412" name="adj"/>
            </a:avLst>
          </a:prstGeom>
          <a:noFill/>
          <a:ln>
            <a:noFill/>
          </a:ln>
        </p:spPr>
      </p:sp>
      <p:sp>
        <p:nvSpPr>
          <p:cNvPr id="221" name="Google Shape;221;p21"/>
          <p:cNvSpPr/>
          <p:nvPr/>
        </p:nvSpPr>
        <p:spPr>
          <a:xfrm>
            <a:off x="3161225" y="1842600"/>
            <a:ext cx="2018700" cy="1447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4629850" y="279301"/>
            <a:ext cx="2018700" cy="144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id="223" name="Google Shape;223;p21"/>
          <p:cNvCxnSpPr>
            <a:stCxn id="221" idx="1"/>
            <a:endCxn id="221" idx="3"/>
          </p:cNvCxnSpPr>
          <p:nvPr/>
        </p:nvCxnSpPr>
        <p:spPr>
          <a:xfrm>
            <a:off x="3161225" y="2566500"/>
            <a:ext cx="20187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4" name="Google Shape;224;p21"/>
          <p:cNvSpPr txBox="1"/>
          <p:nvPr>
            <p:ph idx="1" type="subTitle"/>
          </p:nvPr>
        </p:nvSpPr>
        <p:spPr>
          <a:xfrm>
            <a:off x="394425" y="4055150"/>
            <a:ext cx="3279600" cy="57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5" name="Google Shape;225;p21"/>
          <p:cNvSpPr txBox="1"/>
          <p:nvPr>
            <p:ph idx="8" type="subTitle"/>
          </p:nvPr>
        </p:nvSpPr>
        <p:spPr>
          <a:xfrm>
            <a:off x="6883575" y="605875"/>
            <a:ext cx="1866000" cy="573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6" name="Google Shape;226;p21"/>
          <p:cNvSpPr txBox="1"/>
          <p:nvPr>
            <p:ph idx="9" type="subTitle"/>
          </p:nvPr>
        </p:nvSpPr>
        <p:spPr>
          <a:xfrm>
            <a:off x="3910200" y="3779175"/>
            <a:ext cx="3486300" cy="705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7" name="Google Shape;227;p21"/>
          <p:cNvSpPr txBox="1"/>
          <p:nvPr>
            <p:ph idx="13" type="subTitle"/>
          </p:nvPr>
        </p:nvSpPr>
        <p:spPr>
          <a:xfrm>
            <a:off x="291075" y="2571750"/>
            <a:ext cx="2765700" cy="705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8" name="Google Shape;228;p21"/>
          <p:cNvSpPr txBox="1"/>
          <p:nvPr>
            <p:ph idx="14" type="subTitle"/>
          </p:nvPr>
        </p:nvSpPr>
        <p:spPr>
          <a:xfrm>
            <a:off x="4629850" y="694401"/>
            <a:ext cx="2018700" cy="5667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9" name="Google Shape;229;p21"/>
          <p:cNvSpPr txBox="1"/>
          <p:nvPr>
            <p:ph idx="15" type="subTitle"/>
          </p:nvPr>
        </p:nvSpPr>
        <p:spPr>
          <a:xfrm>
            <a:off x="4629900" y="1390480"/>
            <a:ext cx="20187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 u="sng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0" name="Google Shape;230;p21"/>
          <p:cNvSpPr txBox="1"/>
          <p:nvPr>
            <p:ph idx="16" type="subTitle"/>
          </p:nvPr>
        </p:nvSpPr>
        <p:spPr>
          <a:xfrm>
            <a:off x="3596775" y="2292000"/>
            <a:ext cx="15075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1" name="Google Shape;231;p21"/>
          <p:cNvSpPr txBox="1"/>
          <p:nvPr>
            <p:ph idx="17" type="subTitle"/>
          </p:nvPr>
        </p:nvSpPr>
        <p:spPr>
          <a:xfrm>
            <a:off x="3596775" y="2997350"/>
            <a:ext cx="15075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2" name="Google Shape;232;p21"/>
          <p:cNvSpPr txBox="1"/>
          <p:nvPr>
            <p:ph idx="18" type="subTitle"/>
          </p:nvPr>
        </p:nvSpPr>
        <p:spPr>
          <a:xfrm>
            <a:off x="3596675" y="1934500"/>
            <a:ext cx="1507500" cy="357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3" name="Google Shape;233;p21"/>
          <p:cNvSpPr txBox="1"/>
          <p:nvPr>
            <p:ph idx="19" type="subTitle"/>
          </p:nvPr>
        </p:nvSpPr>
        <p:spPr>
          <a:xfrm>
            <a:off x="3596775" y="2618213"/>
            <a:ext cx="1507500" cy="357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4" name="Google Shape;234;p21"/>
          <p:cNvSpPr txBox="1"/>
          <p:nvPr>
            <p:ph idx="20" type="subTitle"/>
          </p:nvPr>
        </p:nvSpPr>
        <p:spPr>
          <a:xfrm>
            <a:off x="5297950" y="2885600"/>
            <a:ext cx="1350600" cy="288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 u="sng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5" name="Google Shape;235;p21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6" name="Google Shape;236;p21"/>
          <p:cNvSpPr txBox="1"/>
          <p:nvPr>
            <p:ph idx="21" type="subTitle"/>
          </p:nvPr>
        </p:nvSpPr>
        <p:spPr>
          <a:xfrm>
            <a:off x="5426775" y="2214775"/>
            <a:ext cx="1092900" cy="56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s with description">
  <p:cSld name="CUSTOM_19_1_1_1">
    <p:bg>
      <p:bgPr>
        <a:solidFill>
          <a:schemeClr val="accent5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2"/>
          <p:cNvSpPr/>
          <p:nvPr>
            <p:ph idx="2" type="pic"/>
          </p:nvPr>
        </p:nvSpPr>
        <p:spPr>
          <a:xfrm>
            <a:off x="2021325" y="1854425"/>
            <a:ext cx="1679100" cy="3013800"/>
          </a:xfrm>
          <a:prstGeom prst="roundRect">
            <a:avLst>
              <a:gd fmla="val 13643" name="adj"/>
            </a:avLst>
          </a:prstGeom>
          <a:noFill/>
          <a:ln>
            <a:noFill/>
          </a:ln>
        </p:spPr>
      </p:sp>
      <p:sp>
        <p:nvSpPr>
          <p:cNvPr id="239" name="Google Shape;239;p22"/>
          <p:cNvSpPr/>
          <p:nvPr>
            <p:ph idx="3" type="pic"/>
          </p:nvPr>
        </p:nvSpPr>
        <p:spPr>
          <a:xfrm>
            <a:off x="5444400" y="1854425"/>
            <a:ext cx="1679100" cy="3013800"/>
          </a:xfrm>
          <a:prstGeom prst="roundRect">
            <a:avLst>
              <a:gd fmla="val 13643" name="adj"/>
            </a:avLst>
          </a:prstGeom>
          <a:noFill/>
          <a:ln>
            <a:noFill/>
          </a:ln>
        </p:spPr>
      </p:sp>
      <p:sp>
        <p:nvSpPr>
          <p:cNvPr id="240" name="Google Shape;240;p22"/>
          <p:cNvSpPr txBox="1"/>
          <p:nvPr>
            <p:ph idx="1" type="subTitle"/>
          </p:nvPr>
        </p:nvSpPr>
        <p:spPr>
          <a:xfrm>
            <a:off x="3700500" y="3326350"/>
            <a:ext cx="1743900" cy="45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1" name="Google Shape;241;p22"/>
          <p:cNvSpPr txBox="1"/>
          <p:nvPr>
            <p:ph idx="4" type="body"/>
          </p:nvPr>
        </p:nvSpPr>
        <p:spPr>
          <a:xfrm>
            <a:off x="3700500" y="3850823"/>
            <a:ext cx="17439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42" name="Google Shape;242;p22"/>
          <p:cNvSpPr txBox="1"/>
          <p:nvPr>
            <p:ph idx="5" type="subTitle"/>
          </p:nvPr>
        </p:nvSpPr>
        <p:spPr>
          <a:xfrm>
            <a:off x="7123575" y="3326350"/>
            <a:ext cx="1743900" cy="45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3" name="Google Shape;243;p22"/>
          <p:cNvSpPr txBox="1"/>
          <p:nvPr>
            <p:ph idx="6" type="body"/>
          </p:nvPr>
        </p:nvSpPr>
        <p:spPr>
          <a:xfrm>
            <a:off x="7123575" y="3850823"/>
            <a:ext cx="17439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44" name="Google Shape;244;p22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45" name="Google Shape;245;p22"/>
          <p:cNvSpPr txBox="1"/>
          <p:nvPr>
            <p:ph idx="7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6" name="Google Shape;246;p22"/>
          <p:cNvSpPr txBox="1"/>
          <p:nvPr>
            <p:ph idx="8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7" name="Google Shape;247;p22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250" name="Google Shape;250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5" name="Google Shape;255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8" name="Google Shape;258;p2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59" name="Google Shape;259;p2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64" name="Google Shape;264;p2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269" name="Google Shape;269;p3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0" name="Google Shape;270;p3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275" name="Google Shape;275;p3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4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34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0" name="Google Shape;280;p34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1" name="Google Shape;281;p34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2" name="Google Shape;282;p34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3" name="Google Shape;283;p34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4" name="Google Shape;284;p34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7" name="Google Shape;287;p35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8" name="Google Shape;288;p35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291" name="Google Shape;291;p36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2" name="Google Shape;292;p36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3" name="Google Shape;293;p36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4" name="Google Shape;294;p36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7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7" name="Google Shape;297;p37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8" name="Google Shape;298;p3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299" name="Google Shape;299;p37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0" name="Google Shape;300;p37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1" name="Google Shape;301;p37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2" name="Google Shape;302;p37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8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5" name="Google Shape;305;p38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6" name="Google Shape;306;p38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7" name="Google Shape;307;p38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8" name="Google Shape;308;p38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09" name="Google Shape;309;p38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0" name="Google Shape;310;p38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1" name="Google Shape;311;p38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2" name="Google Shape;312;p38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5" name="Google Shape;315;p39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0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8" name="Google Shape;318;p40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19" name="Google Shape;319;p40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0" name="Google Shape;320;p40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1" name="Google Shape;321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22" name="Google Shape;322;p40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23" name="Google Shape;323;p40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1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6" name="Google Shape;326;p41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27" name="Google Shape;327;p41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41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9" name="Google Shape;329;p41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0" name="Google Shape;330;p41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1" name="Google Shape;331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2" name="Google Shape;332;p41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3" name="Google Shape;333;p41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4" name="Google Shape;334;p41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2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3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39" name="Google Shape;339;p43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0" name="Google Shape;340;p43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1" name="Google Shape;341;p43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2" name="Google Shape;342;p43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3" name="Google Shape;343;p43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4" name="Google Shape;344;p43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5" name="Google Shape;345;p43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6" name="Google Shape;346;p43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7" name="Google Shape;347;p43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84850" y="2001325"/>
            <a:ext cx="4088100" cy="24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75">
          <p15:clr>
            <a:srgbClr val="E46962"/>
          </p15:clr>
        </p15:guide>
        <p15:guide id="2" orient="horz" pos="3061">
          <p15:clr>
            <a:srgbClr val="E46962"/>
          </p15:clr>
        </p15:guide>
        <p15:guide id="3" orient="horz" pos="175">
          <p15:clr>
            <a:srgbClr val="E46962"/>
          </p15:clr>
        </p15:guide>
        <p15:guide id="4" pos="5585">
          <p15:clr>
            <a:srgbClr val="E46962"/>
          </p15:clr>
        </p15:guide>
        <p15:guide id="5" orient="horz" pos="1620">
          <p15:clr>
            <a:srgbClr val="E46962"/>
          </p15:clr>
        </p15:guide>
        <p15:guide id="6" pos="2880">
          <p15:clr>
            <a:srgbClr val="E46962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4"/>
          <p:cNvSpPr txBox="1"/>
          <p:nvPr>
            <p:ph idx="2" type="subTitle"/>
          </p:nvPr>
        </p:nvSpPr>
        <p:spPr>
          <a:xfrm>
            <a:off x="805651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Nautilus</a:t>
            </a:r>
            <a:endParaRPr/>
          </a:p>
        </p:txBody>
      </p:sp>
      <p:sp>
        <p:nvSpPr>
          <p:cNvPr id="353" name="Google Shape;353;p44"/>
          <p:cNvSpPr txBox="1"/>
          <p:nvPr>
            <p:ph idx="4" type="subTitle"/>
          </p:nvPr>
        </p:nvSpPr>
        <p:spPr>
          <a:xfrm>
            <a:off x="7677976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14-Nov-2025</a:t>
            </a:r>
            <a:endParaRPr/>
          </a:p>
        </p:txBody>
      </p:sp>
      <p:sp>
        <p:nvSpPr>
          <p:cNvPr id="354" name="Google Shape;354;p44"/>
          <p:cNvSpPr txBox="1"/>
          <p:nvPr>
            <p:ph type="title"/>
          </p:nvPr>
        </p:nvSpPr>
        <p:spPr>
          <a:xfrm>
            <a:off x="795525" y="2323100"/>
            <a:ext cx="7866300" cy="145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Nautilus - Past Pitch</a:t>
            </a:r>
            <a:br>
              <a:rPr lang="en" sz="1000"/>
            </a:br>
            <a:br>
              <a:rPr lang="en" sz="1000"/>
            </a:br>
            <a:r>
              <a:rPr i="1" lang="en" sz="1400"/>
              <a:t>Highly professional advice from a (most likely) Real Pitch Deck </a:t>
            </a:r>
            <a:endParaRPr i="1"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5"/>
          <p:cNvSpPr txBox="1"/>
          <p:nvPr/>
        </p:nvSpPr>
        <p:spPr>
          <a:xfrm>
            <a:off x="4605200" y="3176350"/>
            <a:ext cx="1385400" cy="13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7150" spcFirstLastPara="1" rIns="13715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Credit Downgrade</a:t>
            </a:r>
            <a:endParaRPr sz="11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As pre-warned in the pitch, downgrade by S&amp;P Global from BB- to B+</a:t>
            </a:r>
            <a:endParaRPr sz="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60" name="Google Shape;360;p45"/>
          <p:cNvSpPr txBox="1"/>
          <p:nvPr/>
        </p:nvSpPr>
        <p:spPr>
          <a:xfrm>
            <a:off x="1723275" y="3176350"/>
            <a:ext cx="1385400" cy="13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7150" spcFirstLastPara="1" rIns="13715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Nautilus files 10-K for 2014</a:t>
            </a:r>
            <a:endParaRPr sz="11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Cannot be used for the VDR. 2011-2013 will be used for the VDR</a:t>
            </a:r>
            <a:endParaRPr sz="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61" name="Google Shape;361;p45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A short history of the pitch deck found on scribd</a:t>
            </a:r>
            <a:endParaRPr sz="2000"/>
          </a:p>
        </p:txBody>
      </p:sp>
      <p:sp>
        <p:nvSpPr>
          <p:cNvPr id="362" name="Google Shape;362;p45"/>
          <p:cNvSpPr txBox="1"/>
          <p:nvPr/>
        </p:nvSpPr>
        <p:spPr>
          <a:xfrm>
            <a:off x="282300" y="3176350"/>
            <a:ext cx="1385400" cy="13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7150" spcFirstLastPara="1" rIns="13715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Pitch to the Nautilus Board</a:t>
            </a:r>
            <a:endParaRPr sz="11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Deck Recommendations: </a:t>
            </a:r>
            <a:br>
              <a:rPr lang="en"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</a:br>
            <a:r>
              <a:rPr lang="en"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“Do a convertible to avoid a credit downgrade by S&amp;P”</a:t>
            </a:r>
            <a:endParaRPr sz="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descr="A timeline stretching across several years. " id="363" name="Google Shape;363;p45"/>
          <p:cNvCxnSpPr/>
          <p:nvPr/>
        </p:nvCxnSpPr>
        <p:spPr>
          <a:xfrm>
            <a:off x="282300" y="2869750"/>
            <a:ext cx="8579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364" name="Google Shape;364;p45"/>
          <p:cNvCxnSpPr/>
          <p:nvPr/>
        </p:nvCxnSpPr>
        <p:spPr>
          <a:xfrm>
            <a:off x="969999" y="2419900"/>
            <a:ext cx="0" cy="42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5" name="Google Shape;365;p45"/>
          <p:cNvCxnSpPr/>
          <p:nvPr/>
        </p:nvCxnSpPr>
        <p:spPr>
          <a:xfrm>
            <a:off x="2410049" y="2419900"/>
            <a:ext cx="0" cy="42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6" name="Google Shape;366;p45"/>
          <p:cNvCxnSpPr/>
          <p:nvPr/>
        </p:nvCxnSpPr>
        <p:spPr>
          <a:xfrm>
            <a:off x="3850099" y="2419900"/>
            <a:ext cx="0" cy="42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7" name="Google Shape;367;p45"/>
          <p:cNvCxnSpPr/>
          <p:nvPr/>
        </p:nvCxnSpPr>
        <p:spPr>
          <a:xfrm>
            <a:off x="5290149" y="2419900"/>
            <a:ext cx="0" cy="42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8" name="Google Shape;368;p45"/>
          <p:cNvCxnSpPr/>
          <p:nvPr/>
        </p:nvCxnSpPr>
        <p:spPr>
          <a:xfrm>
            <a:off x="6730199" y="2419900"/>
            <a:ext cx="0" cy="42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9" name="Google Shape;369;p45"/>
          <p:cNvCxnSpPr/>
          <p:nvPr/>
        </p:nvCxnSpPr>
        <p:spPr>
          <a:xfrm>
            <a:off x="8170249" y="2419900"/>
            <a:ext cx="0" cy="42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0" name="Google Shape;370;p45"/>
          <p:cNvSpPr/>
          <p:nvPr/>
        </p:nvSpPr>
        <p:spPr>
          <a:xfrm>
            <a:off x="617425" y="2093402"/>
            <a:ext cx="896100" cy="326400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28-Jan-</a:t>
            </a:r>
            <a:r>
              <a:rPr lang="en" sz="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2015</a:t>
            </a:r>
            <a:endParaRPr sz="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71" name="Google Shape;371;p45"/>
          <p:cNvSpPr/>
          <p:nvPr/>
        </p:nvSpPr>
        <p:spPr>
          <a:xfrm>
            <a:off x="2057475" y="2093500"/>
            <a:ext cx="896100" cy="326400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29-Jan-2015</a:t>
            </a:r>
            <a:endParaRPr sz="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72" name="Google Shape;372;p45"/>
          <p:cNvSpPr/>
          <p:nvPr/>
        </p:nvSpPr>
        <p:spPr>
          <a:xfrm>
            <a:off x="3497525" y="2093500"/>
            <a:ext cx="896100" cy="326400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2-Feb-2015</a:t>
            </a:r>
            <a:endParaRPr sz="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73" name="Google Shape;373;p45"/>
          <p:cNvSpPr/>
          <p:nvPr/>
        </p:nvSpPr>
        <p:spPr>
          <a:xfrm>
            <a:off x="4937575" y="2093500"/>
            <a:ext cx="896100" cy="326400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2-Feb-2015</a:t>
            </a:r>
            <a:endParaRPr sz="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74" name="Google Shape;374;p45"/>
          <p:cNvSpPr/>
          <p:nvPr/>
        </p:nvSpPr>
        <p:spPr>
          <a:xfrm>
            <a:off x="6377625" y="2093500"/>
            <a:ext cx="858600" cy="326400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Stock Rally -&gt; 2020</a:t>
            </a:r>
            <a:endParaRPr sz="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75" name="Google Shape;375;p45"/>
          <p:cNvSpPr/>
          <p:nvPr/>
        </p:nvSpPr>
        <p:spPr>
          <a:xfrm>
            <a:off x="7810849" y="2175400"/>
            <a:ext cx="718800" cy="2445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rPr>
              <a:t>Today</a:t>
            </a:r>
            <a:endParaRPr sz="800"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76" name="Google Shape;376;p45"/>
          <p:cNvSpPr/>
          <p:nvPr/>
        </p:nvSpPr>
        <p:spPr>
          <a:xfrm>
            <a:off x="939999" y="2841250"/>
            <a:ext cx="60000" cy="6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77" name="Google Shape;377;p45"/>
          <p:cNvSpPr/>
          <p:nvPr/>
        </p:nvSpPr>
        <p:spPr>
          <a:xfrm>
            <a:off x="2380049" y="2841250"/>
            <a:ext cx="60000" cy="6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78" name="Google Shape;378;p45"/>
          <p:cNvSpPr/>
          <p:nvPr/>
        </p:nvSpPr>
        <p:spPr>
          <a:xfrm>
            <a:off x="3820099" y="2841250"/>
            <a:ext cx="60000" cy="6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79" name="Google Shape;379;p45"/>
          <p:cNvSpPr/>
          <p:nvPr/>
        </p:nvSpPr>
        <p:spPr>
          <a:xfrm>
            <a:off x="5260149" y="2841250"/>
            <a:ext cx="60000" cy="6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80" name="Google Shape;380;p45"/>
          <p:cNvSpPr/>
          <p:nvPr/>
        </p:nvSpPr>
        <p:spPr>
          <a:xfrm>
            <a:off x="6700199" y="2841250"/>
            <a:ext cx="60000" cy="6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81" name="Google Shape;381;p45"/>
          <p:cNvSpPr/>
          <p:nvPr/>
        </p:nvSpPr>
        <p:spPr>
          <a:xfrm>
            <a:off x="8140249" y="2841250"/>
            <a:ext cx="60000" cy="6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82" name="Google Shape;382;p45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Nautilus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45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14-Nov-2015</a:t>
            </a:r>
            <a:endParaRPr/>
          </a:p>
        </p:txBody>
      </p:sp>
      <p:sp>
        <p:nvSpPr>
          <p:cNvPr id="384" name="Google Shape;384;p45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5" name="Google Shape;385;p45"/>
          <p:cNvSpPr txBox="1"/>
          <p:nvPr/>
        </p:nvSpPr>
        <p:spPr>
          <a:xfrm>
            <a:off x="3164225" y="3176350"/>
            <a:ext cx="1385400" cy="13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7150" spcFirstLastPara="1" rIns="13715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Straight Bond Issuance</a:t>
            </a:r>
            <a:endParaRPr sz="11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This can be an extension of your previous milestone, or something completely new </a:t>
            </a:r>
            <a:endParaRPr sz="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86" name="Google Shape;386;p45"/>
          <p:cNvSpPr txBox="1"/>
          <p:nvPr/>
        </p:nvSpPr>
        <p:spPr>
          <a:xfrm>
            <a:off x="6046150" y="3176350"/>
            <a:ext cx="1385400" cy="13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7150" spcFirstLastPara="1" rIns="13715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Stock performing very well </a:t>
            </a:r>
            <a:endParaRPr sz="11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Would have been a good deal for the investors and potentially prevent a rating downgrade. Also, the hedging strategy suggested was good advice ex post</a:t>
            </a:r>
            <a:endParaRPr sz="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87" name="Google Shape;387;p45"/>
          <p:cNvSpPr txBox="1"/>
          <p:nvPr/>
        </p:nvSpPr>
        <p:spPr>
          <a:xfrm>
            <a:off x="7487125" y="3176350"/>
            <a:ext cx="1385400" cy="13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7150" spcFirstLastPara="1" rIns="13715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Nautilus is now rated A by S&amp;P </a:t>
            </a:r>
            <a:endParaRPr i="1" sz="11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Completely different credit quality as the company generates significant FCF on the back of a successful internationalization strategy</a:t>
            </a:r>
            <a:endParaRPr sz="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6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Deal Overview</a:t>
            </a:r>
            <a:endParaRPr sz="2000"/>
          </a:p>
        </p:txBody>
      </p:sp>
      <p:sp>
        <p:nvSpPr>
          <p:cNvPr id="393" name="Google Shape;393;p46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Nautilus</a:t>
            </a:r>
            <a:endParaRPr/>
          </a:p>
        </p:txBody>
      </p:sp>
      <p:sp>
        <p:nvSpPr>
          <p:cNvPr id="394" name="Google Shape;394;p46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14-Nov-2025</a:t>
            </a:r>
            <a:endParaRPr/>
          </a:p>
        </p:txBody>
      </p:sp>
      <p:sp>
        <p:nvSpPr>
          <p:cNvPr id="395" name="Google Shape;395;p46"/>
          <p:cNvSpPr txBox="1"/>
          <p:nvPr/>
        </p:nvSpPr>
        <p:spPr>
          <a:xfrm>
            <a:off x="277500" y="975925"/>
            <a:ext cx="8229600" cy="38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-132397" lvl="0" marL="173037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Noto Sans Symbols"/>
              <a:buChar char="▪"/>
            </a:pPr>
            <a:r>
              <a:rPr b="0" i="0" lang="en" sz="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Based on this analysis, we believe the company could issue a convertible bond in Q1 with the following terms:</a:t>
            </a:r>
            <a:endParaRPr sz="800"/>
          </a:p>
          <a:p>
            <a:pPr indent="-132397" lvl="1" marL="346075" marR="0" rtl="0" algn="l">
              <a:spcBef>
                <a:spcPts val="124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1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Offering Size:</a:t>
            </a: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$1.5 billion</a:t>
            </a:r>
            <a:endParaRPr sz="800"/>
          </a:p>
          <a:p>
            <a:pPr indent="-132397" lvl="1" marL="346075" marR="0" rtl="0" algn="l">
              <a:spcBef>
                <a:spcPts val="124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1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Conversion Price:</a:t>
            </a: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$641.58 (45.0% premium to current share price)</a:t>
            </a:r>
            <a:endParaRPr sz="800"/>
          </a:p>
          <a:p>
            <a:pPr indent="-132397" lvl="1" marL="346075" marR="0" rtl="0" algn="l">
              <a:spcBef>
                <a:spcPts val="124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1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Conversion Ratio:</a:t>
            </a: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1.5586 (based on par value of $1,000)</a:t>
            </a:r>
            <a:endParaRPr sz="800"/>
          </a:p>
          <a:p>
            <a:pPr indent="-132397" lvl="1" marL="346075" marR="0" rtl="0" algn="l">
              <a:spcBef>
                <a:spcPts val="124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1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Coupon Rate and YTM:</a:t>
            </a: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1.50%</a:t>
            </a:r>
            <a:endParaRPr sz="800"/>
          </a:p>
          <a:p>
            <a:pPr indent="-132397" lvl="1" marL="346075" marR="0" rtl="0" algn="l">
              <a:spcBef>
                <a:spcPts val="124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1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Maturity:</a:t>
            </a: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December 31, 2020 (6-year tenor)</a:t>
            </a:r>
            <a:endParaRPr sz="800"/>
          </a:p>
          <a:p>
            <a:pPr indent="-132397" lvl="1" marL="346075" marR="0" rtl="0" algn="l">
              <a:spcBef>
                <a:spcPts val="124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1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Payments:</a:t>
            </a: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Semiannual on June 30 and December 31 of each year</a:t>
            </a:r>
            <a:endParaRPr sz="800"/>
          </a:p>
          <a:p>
            <a:pPr indent="-132397" lvl="1" marL="346075" marR="0" rtl="0" algn="l">
              <a:spcBef>
                <a:spcPts val="124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1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Optional Redemption:</a:t>
            </a: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Make-whole call at T+50bps any time prior to maturity</a:t>
            </a:r>
            <a:endParaRPr sz="800"/>
          </a:p>
          <a:p>
            <a:pPr indent="-132397" lvl="1" marL="346075" marR="0" rtl="0" algn="l">
              <a:spcBef>
                <a:spcPts val="124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1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Change of Control:</a:t>
            </a: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Put @ 101% of principal plus accrued interest</a:t>
            </a:r>
            <a:endParaRPr sz="800"/>
          </a:p>
          <a:p>
            <a:pPr indent="-132397" lvl="1" marL="346075" marR="0" rtl="0" algn="l">
              <a:spcBef>
                <a:spcPts val="124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1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Settlement:</a:t>
            </a: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Cash settlement option available</a:t>
            </a:r>
            <a:endParaRPr sz="800"/>
          </a:p>
          <a:p>
            <a:pPr indent="-132397" lvl="0" marL="173037" marR="0" rtl="0" algn="l">
              <a:spcBef>
                <a:spcPts val="124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Noto Sans Symbols"/>
              <a:buChar char="▪"/>
            </a:pPr>
            <a:r>
              <a:rPr b="0" i="0" lang="en" sz="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reduce dilution and raise the effective conversion price, it is prudent to use a call-spread with the following terms:</a:t>
            </a:r>
            <a:endParaRPr sz="800"/>
          </a:p>
          <a:p>
            <a:pPr indent="-132397" lvl="1" marL="346075" marR="0" rtl="0" algn="l">
              <a:spcBef>
                <a:spcPts val="124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1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Purchased Call Options:</a:t>
            </a: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2.3380 million (100% offset of convertible bond dilution) at a $641.58 exercise price</a:t>
            </a:r>
            <a:endParaRPr sz="800"/>
          </a:p>
          <a:p>
            <a:pPr indent="-132397" lvl="1" marL="346075" marR="0" rtl="0" algn="l">
              <a:spcBef>
                <a:spcPts val="124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1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Sold Warrants:</a:t>
            </a: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1.7535 million (75% of call options) at a $774.32 exercise price</a:t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2397" lvl="0" marL="173037" marR="0" rtl="0" algn="l">
              <a:spcBef>
                <a:spcPts val="124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Noto Sans Symbols"/>
              <a:buChar char="▪"/>
            </a:pPr>
            <a:r>
              <a:rPr b="0" i="0" lang="en" sz="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Such a strategy might increase pre-tax cost of funding to ~2.6% and raise the effective conversion premium to 75%</a:t>
            </a:r>
            <a:endParaRPr sz="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7"/>
          <p:cNvSpPr txBox="1"/>
          <p:nvPr/>
        </p:nvSpPr>
        <p:spPr>
          <a:xfrm>
            <a:off x="255750" y="1234225"/>
            <a:ext cx="8632500" cy="27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spcBef>
                <a:spcPts val="1240"/>
              </a:spcBef>
              <a:spcAft>
                <a:spcPts val="0"/>
              </a:spcAft>
              <a:buNone/>
            </a:pPr>
            <a:r>
              <a:rPr lang="en" sz="800"/>
              <a:t>+ Collect past data (more than 10 years) -&gt; Nautilus had very good data availability - even the trading levels of matured bonds were still available on Bloomberg</a:t>
            </a:r>
            <a:endParaRPr sz="800"/>
          </a:p>
          <a:p>
            <a:pPr indent="0" lvl="0" marL="0" marR="0" rtl="0" algn="l">
              <a:spcBef>
                <a:spcPts val="1240"/>
              </a:spcBef>
              <a:spcAft>
                <a:spcPts val="0"/>
              </a:spcAft>
              <a:buNone/>
            </a:pPr>
            <a:r>
              <a:rPr lang="en" sz="800"/>
              <a:t>+ Not quite synthetic, but potentially less patterns for Grok to recognize the company, as the data is relatively old - at the same time, there are not many companies with similar narratives (at the time international expansion</a:t>
            </a:r>
            <a:endParaRPr sz="800"/>
          </a:p>
          <a:p>
            <a:pPr indent="0" lvl="0" marL="0" marR="0" rtl="0" algn="l">
              <a:spcBef>
                <a:spcPts val="1240"/>
              </a:spcBef>
              <a:spcAft>
                <a:spcPts val="0"/>
              </a:spcAft>
              <a:buNone/>
            </a:pPr>
            <a:r>
              <a:rPr lang="en" sz="800"/>
              <a:t>+ We save the time on the output and can focus on a higher VDR quality</a:t>
            </a:r>
            <a:endParaRPr sz="800"/>
          </a:p>
          <a:p>
            <a:pPr indent="0" lvl="0" marL="0" marR="0" rtl="0" algn="l">
              <a:spcBef>
                <a:spcPts val="1240"/>
              </a:spcBef>
              <a:spcAft>
                <a:spcPts val="0"/>
              </a:spcAft>
              <a:buNone/>
            </a:pPr>
            <a:r>
              <a:rPr lang="en" sz="800"/>
              <a:t>+ Data is anonymized, but it is rather clear which company is behind the data</a:t>
            </a:r>
            <a:endParaRPr sz="800"/>
          </a:p>
          <a:p>
            <a:pPr indent="0" lvl="0" marL="0" marR="0" rtl="0" algn="l">
              <a:spcBef>
                <a:spcPts val="1240"/>
              </a:spcBef>
              <a:spcAft>
                <a:spcPts val="0"/>
              </a:spcAft>
              <a:buNone/>
            </a:pPr>
            <a:r>
              <a:rPr lang="en" sz="800"/>
              <a:t>+ For a few executed bond deals per year, debt coverage teams had to do 100+ bond pitch presentations. This is a process (creation of a convertible debt pitch deck) that is likely to be much better </a:t>
            </a:r>
            <a:r>
              <a:rPr lang="en" sz="800"/>
              <a:t>with</a:t>
            </a:r>
            <a:r>
              <a:rPr lang="en" sz="800"/>
              <a:t> AI-enabled techniques allowing more/higher quality presentations with clients (more client-facing activity leading to more deal-making potentially).</a:t>
            </a:r>
            <a:endParaRPr sz="800"/>
          </a:p>
          <a:p>
            <a:pPr indent="0" lvl="0" marL="0" marR="0" rtl="0" algn="l">
              <a:spcBef>
                <a:spcPts val="124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0" lvl="0" marL="0" marR="0" rtl="0" algn="l">
              <a:spcBef>
                <a:spcPts val="1240"/>
              </a:spcBef>
              <a:spcAft>
                <a:spcPts val="0"/>
              </a:spcAft>
              <a:buNone/>
            </a:pPr>
            <a:r>
              <a:rPr lang="en" sz="800"/>
              <a:t>- Any issues in the context of Grok - mixing up with current topics? -&gt; no issue in the process so far, but Grok often identified the company as the most likely one.</a:t>
            </a:r>
            <a:endParaRPr sz="800"/>
          </a:p>
          <a:p>
            <a:pPr indent="0" lvl="0" marL="0" marR="0" rtl="0" algn="l">
              <a:spcBef>
                <a:spcPts val="1240"/>
              </a:spcBef>
              <a:spcAft>
                <a:spcPts val="0"/>
              </a:spcAft>
              <a:buNone/>
            </a:pPr>
            <a:r>
              <a:rPr lang="en" sz="800"/>
              <a:t>- Convertible deal did not really take place (a straight bond was issued instead). Thus, we only have an price indication probably discussed at the BoD meeting of Nautilus (28-Jan-2015).</a:t>
            </a:r>
            <a:endParaRPr sz="800"/>
          </a:p>
          <a:p>
            <a:pPr indent="0" lvl="0" marL="0" marR="0" rtl="0" algn="l">
              <a:spcBef>
                <a:spcPts val="124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401" name="Google Shape;401;p47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Advantages and Disadvantages of re-using a past I-Banking Pitch Deck</a:t>
            </a:r>
            <a:endParaRPr sz="2000"/>
          </a:p>
        </p:txBody>
      </p:sp>
      <p:sp>
        <p:nvSpPr>
          <p:cNvPr id="402" name="Google Shape;402;p47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Nautilus</a:t>
            </a:r>
            <a:endParaRPr/>
          </a:p>
        </p:txBody>
      </p:sp>
      <p:sp>
        <p:nvSpPr>
          <p:cNvPr id="403" name="Google Shape;403;p47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14-Nov-2025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8" name="Google Shape;408;p48"/>
          <p:cNvGraphicFramePr/>
          <p:nvPr/>
        </p:nvGraphicFramePr>
        <p:xfrm>
          <a:off x="196250" y="8289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{30084931-11FB-4FBF-A312-EDAA522CAAB5}</a:tableStyleId>
              </a:tblPr>
              <a:tblGrid>
                <a:gridCol w="944125"/>
                <a:gridCol w="1033475"/>
                <a:gridCol w="1060675"/>
                <a:gridCol w="5483950"/>
              </a:tblGrid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Folder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Person in Charge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Status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Comments</a:t>
                      </a:r>
                      <a:endParaRPr b="1" sz="8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1.1 Overview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Giampaolo/Alan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1.2 Model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Shah (Financials) / Alan (Pricing)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1.3 Customer Data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Godo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1.4 Comp Models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Giampaolo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1.5 Compliance Certificates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Alan Tai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1.6 Audited Financials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Emmanuel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1.7 Working Capital Analysis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Adam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1.8 Sources &amp; Uses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Adam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1.9 Capex / Content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Emmanuel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1.10 Financing &amp; Capital Structure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Adam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1.11-12 </a:t>
                      </a:r>
                      <a:r>
                        <a:rPr lang="en" sz="600">
                          <a:solidFill>
                            <a:schemeClr val="lt1"/>
                          </a:solidFill>
                        </a:rPr>
                        <a:t>Investor Presentation / Industry Reports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Emmanuel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1.13 Rating Reports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Giampaolo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09" name="Google Shape;409;p48"/>
          <p:cNvSpPr txBox="1"/>
          <p:nvPr>
            <p:ph type="title"/>
          </p:nvPr>
        </p:nvSpPr>
        <p:spPr>
          <a:xfrm>
            <a:off x="277500" y="358755"/>
            <a:ext cx="8589000" cy="4257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Current Status of Nautilus - Financials</a:t>
            </a:r>
            <a:endParaRPr sz="2000"/>
          </a:p>
        </p:txBody>
      </p:sp>
      <p:sp>
        <p:nvSpPr>
          <p:cNvPr id="410" name="Google Shape;410;p48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Nautilus</a:t>
            </a:r>
            <a:endParaRPr/>
          </a:p>
        </p:txBody>
      </p:sp>
      <p:sp>
        <p:nvSpPr>
          <p:cNvPr id="411" name="Google Shape;411;p48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14-Nov-2025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6" name="Google Shape;416;p49"/>
          <p:cNvGraphicFramePr/>
          <p:nvPr/>
        </p:nvGraphicFramePr>
        <p:xfrm>
          <a:off x="236875" y="1060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{30084931-11FB-4FBF-A312-EDAA522CAAB5}</a:tableStyleId>
              </a:tblPr>
              <a:tblGrid>
                <a:gridCol w="944025"/>
                <a:gridCol w="1033375"/>
                <a:gridCol w="1129525"/>
                <a:gridCol w="5414475"/>
              </a:tblGrid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Folder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Person in Charge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Status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Comments</a:t>
                      </a:r>
                      <a:endParaRPr b="1" sz="8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2</a:t>
                      </a:r>
                      <a:r>
                        <a:rPr lang="en" sz="600"/>
                        <a:t>.1 Legal Entity Chart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Chan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2.2 </a:t>
                      </a:r>
                      <a:r>
                        <a:rPr lang="en" sz="600"/>
                        <a:t> Formation Documents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Chan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2</a:t>
                      </a:r>
                      <a:r>
                        <a:rPr lang="en" sz="600"/>
                        <a:t>.3 Indenture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Chan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2</a:t>
                      </a:r>
                      <a:r>
                        <a:rPr lang="en" sz="600"/>
                        <a:t>.4 BoD Minutes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Godo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2</a:t>
                      </a:r>
                      <a:r>
                        <a:rPr lang="en" sz="600"/>
                        <a:t>.5 Capitalization Table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Godo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17" name="Google Shape;417;p49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Current Status of Nautilus - Legal &amp; Corporate</a:t>
            </a:r>
            <a:endParaRPr sz="2000"/>
          </a:p>
        </p:txBody>
      </p:sp>
      <p:sp>
        <p:nvSpPr>
          <p:cNvPr id="418" name="Google Shape;418;p49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Nautilus</a:t>
            </a:r>
            <a:endParaRPr/>
          </a:p>
        </p:txBody>
      </p:sp>
      <p:sp>
        <p:nvSpPr>
          <p:cNvPr id="419" name="Google Shape;419;p49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14-Nov-2025</a:t>
            </a:r>
            <a:endParaRPr/>
          </a:p>
        </p:txBody>
      </p:sp>
      <p:sp>
        <p:nvSpPr>
          <p:cNvPr id="420" name="Google Shape;420;p49"/>
          <p:cNvSpPr txBox="1"/>
          <p:nvPr/>
        </p:nvSpPr>
        <p:spPr>
          <a:xfrm>
            <a:off x="277500" y="1469875"/>
            <a:ext cx="86325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spcBef>
                <a:spcPts val="124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marR="0" rtl="0" algn="l">
              <a:spcBef>
                <a:spcPts val="124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5" name="Google Shape;425;p50"/>
          <p:cNvGraphicFramePr/>
          <p:nvPr/>
        </p:nvGraphicFramePr>
        <p:xfrm>
          <a:off x="236875" y="1060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{30084931-11FB-4FBF-A312-EDAA522CAAB5}</a:tableStyleId>
              </a:tblPr>
              <a:tblGrid>
                <a:gridCol w="944025"/>
                <a:gridCol w="1033375"/>
                <a:gridCol w="1143475"/>
                <a:gridCol w="5400525"/>
              </a:tblGrid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Folder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Person in Charge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Status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Comments</a:t>
                      </a:r>
                      <a:endParaRPr b="1" sz="8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3</a:t>
                      </a:r>
                      <a:r>
                        <a:rPr lang="en" sz="600"/>
                        <a:t>.1 Material Contracts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Chan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3</a:t>
                      </a:r>
                      <a:r>
                        <a:rPr lang="en" sz="600"/>
                        <a:t>.2  Real Estate (Leased &amp; Owned)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Chan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3</a:t>
                      </a:r>
                      <a:r>
                        <a:rPr lang="en" sz="600"/>
                        <a:t>.3 Social Media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All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426" name="Google Shape;426;p50"/>
          <p:cNvGraphicFramePr/>
          <p:nvPr/>
        </p:nvGraphicFramePr>
        <p:xfrm>
          <a:off x="236875" y="257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{30084931-11FB-4FBF-A312-EDAA522CAAB5}</a:tableStyleId>
              </a:tblPr>
              <a:tblGrid>
                <a:gridCol w="944025"/>
                <a:gridCol w="1033375"/>
                <a:gridCol w="1143475"/>
                <a:gridCol w="5400525"/>
              </a:tblGrid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Folder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Person in Charge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Status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Comments</a:t>
                      </a:r>
                      <a:endParaRPr b="1" sz="8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4</a:t>
                      </a:r>
                      <a:r>
                        <a:rPr lang="en" sz="600"/>
                        <a:t>.1 Census Data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Alan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4</a:t>
                      </a:r>
                      <a:r>
                        <a:rPr lang="en" sz="600"/>
                        <a:t>.2 Mgmt Incentive Plans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Adam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4.</a:t>
                      </a:r>
                      <a:r>
                        <a:rPr lang="en" sz="600"/>
                        <a:t>3 Org Chart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Chan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4.4 Employee Contracts / Top Mgmt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Chan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27" name="Google Shape;427;p50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Current Status of Nautilus - 3. Operational &amp; Commercial &amp; 4. HR</a:t>
            </a:r>
            <a:endParaRPr sz="2000"/>
          </a:p>
        </p:txBody>
      </p:sp>
      <p:sp>
        <p:nvSpPr>
          <p:cNvPr id="428" name="Google Shape;428;p50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Nautilus</a:t>
            </a:r>
            <a:endParaRPr/>
          </a:p>
        </p:txBody>
      </p:sp>
      <p:sp>
        <p:nvSpPr>
          <p:cNvPr id="429" name="Google Shape;429;p50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14-Nov-2025</a:t>
            </a:r>
            <a:endParaRPr/>
          </a:p>
        </p:txBody>
      </p:sp>
      <p:sp>
        <p:nvSpPr>
          <p:cNvPr id="430" name="Google Shape;430;p50"/>
          <p:cNvSpPr txBox="1"/>
          <p:nvPr/>
        </p:nvSpPr>
        <p:spPr>
          <a:xfrm>
            <a:off x="0" y="1486125"/>
            <a:ext cx="86325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spcBef>
                <a:spcPts val="124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marR="0" rtl="0" algn="l">
              <a:spcBef>
                <a:spcPts val="124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5" name="Google Shape;435;p51"/>
          <p:cNvGraphicFramePr/>
          <p:nvPr/>
        </p:nvGraphicFramePr>
        <p:xfrm>
          <a:off x="236875" y="1263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{30084931-11FB-4FBF-A312-EDAA522CAAB5}</a:tableStyleId>
              </a:tblPr>
              <a:tblGrid>
                <a:gridCol w="1455925"/>
                <a:gridCol w="724600"/>
                <a:gridCol w="977725"/>
                <a:gridCol w="5363150"/>
              </a:tblGrid>
              <a:tr h="48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Folder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Person in Charge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Status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Comments </a:t>
                      </a:r>
                      <a:endParaRPr b="1" sz="800"/>
                    </a:p>
                  </a:txBody>
                  <a:tcPr marT="91425" marB="91425" marR="91425" marL="91425"/>
                </a:tc>
              </a:tr>
              <a:tr h="241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5</a:t>
                      </a:r>
                      <a:r>
                        <a:rPr lang="en" sz="600"/>
                        <a:t>.1 IT Ops and Vendors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Giampaolo</a:t>
                      </a:r>
                      <a:endParaRPr sz="6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1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5.2 Platform Architecture &amp; Infra</a:t>
                      </a:r>
                      <a:endParaRPr sz="6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Godo</a:t>
                      </a:r>
                      <a:endParaRPr sz="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D</a:t>
                      </a:r>
                      <a:r>
                        <a:rPr lang="en" sz="600">
                          <a:solidFill>
                            <a:schemeClr val="lt1"/>
                          </a:solidFill>
                        </a:rPr>
                        <a:t>one/Anon./Reviewed</a:t>
                      </a:r>
                      <a:endParaRPr sz="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241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5.3 Product Dev. &amp; Engineering</a:t>
                      </a:r>
                      <a:endParaRPr sz="6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Giampaolo</a:t>
                      </a:r>
                      <a:endParaRPr sz="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1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5.4 Technology Risk &amp; Compliance</a:t>
                      </a:r>
                      <a:endParaRPr sz="6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Alan</a:t>
                      </a:r>
                      <a:endParaRPr sz="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1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5.5. Cybersecurity and Data Mgmt</a:t>
                      </a:r>
                      <a:endParaRPr sz="6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Alan</a:t>
                      </a:r>
                      <a:endParaRPr sz="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graphicFrame>
        <p:nvGraphicFramePr>
          <p:cNvPr id="436" name="Google Shape;436;p51"/>
          <p:cNvGraphicFramePr/>
          <p:nvPr/>
        </p:nvGraphicFramePr>
        <p:xfrm>
          <a:off x="236875" y="3274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{30084931-11FB-4FBF-A312-EDAA522CAAB5}</a:tableStyleId>
              </a:tblPr>
              <a:tblGrid>
                <a:gridCol w="1455925"/>
                <a:gridCol w="724600"/>
                <a:gridCol w="977725"/>
                <a:gridCol w="5363150"/>
              </a:tblGrid>
              <a:tr h="216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Folder</a:t>
                      </a:r>
                      <a:endParaRPr b="1"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Person in Charge</a:t>
                      </a:r>
                      <a:endParaRPr b="1"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Status</a:t>
                      </a:r>
                      <a:endParaRPr b="1"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Comments</a:t>
                      </a:r>
                      <a:endParaRPr b="1"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5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6.1 Patents</a:t>
                      </a:r>
                      <a:endParaRPr sz="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Godo</a:t>
                      </a:r>
                      <a:endParaRPr sz="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</a:t>
                      </a:r>
                      <a:r>
                        <a:rPr lang="en" sz="600">
                          <a:solidFill>
                            <a:schemeClr val="lt1"/>
                          </a:solidFill>
                        </a:rPr>
                        <a:t>one/Anon./Reviewed</a:t>
                      </a:r>
                      <a:endParaRPr sz="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37" name="Google Shape;437;p51"/>
          <p:cNvGraphicFramePr/>
          <p:nvPr/>
        </p:nvGraphicFramePr>
        <p:xfrm>
          <a:off x="236875" y="4131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{30084931-11FB-4FBF-A312-EDAA522CAAB5}</a:tableStyleId>
              </a:tblPr>
              <a:tblGrid>
                <a:gridCol w="1455925"/>
                <a:gridCol w="724600"/>
                <a:gridCol w="977725"/>
                <a:gridCol w="5363150"/>
              </a:tblGrid>
              <a:tr h="216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Folder</a:t>
                      </a:r>
                      <a:endParaRPr b="1"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Person in Charge</a:t>
                      </a:r>
                      <a:endParaRPr b="1"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Status</a:t>
                      </a:r>
                      <a:endParaRPr b="1"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Comments</a:t>
                      </a:r>
                      <a:endParaRPr b="1"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5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7</a:t>
                      </a:r>
                      <a:r>
                        <a:rPr lang="en" sz="600"/>
                        <a:t>.1 Others</a:t>
                      </a:r>
                      <a:endParaRPr sz="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All</a:t>
                      </a:r>
                      <a:endParaRPr sz="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38" name="Google Shape;438;p51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Current Status of Nautilus - 5. IT &amp; Tech &amp; 6. IP &amp; 7. Others</a:t>
            </a:r>
            <a:endParaRPr sz="2000"/>
          </a:p>
        </p:txBody>
      </p:sp>
      <p:sp>
        <p:nvSpPr>
          <p:cNvPr id="439" name="Google Shape;439;p51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Nautilus</a:t>
            </a:r>
            <a:endParaRPr/>
          </a:p>
        </p:txBody>
      </p:sp>
      <p:sp>
        <p:nvSpPr>
          <p:cNvPr id="440" name="Google Shape;440;p51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14-Nov-2025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duct demo | Human focus">
  <a:themeElements>
    <a:clrScheme name="Simple Light">
      <a:dk1>
        <a:srgbClr val="3C4043"/>
      </a:dk1>
      <a:lt1>
        <a:srgbClr val="000000"/>
      </a:lt1>
      <a:dk2>
        <a:srgbClr val="F4F4F4"/>
      </a:dk2>
      <a:lt2>
        <a:srgbClr val="FFFFFF"/>
      </a:lt2>
      <a:accent1>
        <a:srgbClr val="FDD198"/>
      </a:accent1>
      <a:accent2>
        <a:srgbClr val="F4F4F4"/>
      </a:accent2>
      <a:accent3>
        <a:srgbClr val="B7B7B7"/>
      </a:accent3>
      <a:accent4>
        <a:srgbClr val="FFA767"/>
      </a:accent4>
      <a:accent5>
        <a:srgbClr val="FFF2DC"/>
      </a:accent5>
      <a:accent6>
        <a:srgbClr val="F0C894"/>
      </a:accent6>
      <a:hlink>
        <a:srgbClr val="CAA97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/>
  <cp:lastModifiedBy/>
  <cp:revision>1</cp:revision>
  <dcterms:modified xsi:type="dcterms:W3CDTF">2025-11-17T08:15:30Z</dcterms:modified>
  <dc:creator/>
  <dc:subject/>
  <cp:keywords/>
  <dc:description/>
  <cp:category/>
  <cp:contentStatus/>
  <dc:identifier/>
  <cp:version>None</cp:version>
</cp:coreProperties>
</file>
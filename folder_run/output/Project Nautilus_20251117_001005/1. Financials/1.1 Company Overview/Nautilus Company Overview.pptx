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B336E-DBD5-4F09-85AA-9D98BDD2769D}">
  <a:tblStyle styleId="{434B336E-DBD5-4F09-85AA-9D98BDD27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Raleway-regular.fntdata"/><Relationship Id="rId18" Type="http://schemas.openxmlformats.org/officeDocument/2006/relationships/font" Target="fonts/Raleway-bold.fntdata"/><Relationship Id="rId19" Type="http://schemas.openxmlformats.org/officeDocument/2006/relationships/font" Target="fonts/Raleway-italic.fntdata"/><Relationship Id="rId20" Type="http://schemas.openxmlformats.org/officeDocument/2006/relationships/font" Target="fonts/Raleway-boldItalic.fntdata"/><Relationship Id="rId21" Type="http://schemas.openxmlformats.org/officeDocument/2006/relationships/font" Target="fonts/Lato-regular.fntdata"/><Relationship Id="rId22" Type="http://schemas.openxmlformats.org/officeDocument/2006/relationships/font" Target="fonts/Lato-bold.fntdata"/><Relationship Id="rId23" Type="http://schemas.openxmlformats.org/officeDocument/2006/relationships/font" Target="fonts/Lato-italic.fntdata"/><Relationship Id="rId24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51ad091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251ad09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5526dc0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5526dc0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5526dc0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5526dc0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51ad09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51ad09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51ad09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51ad09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5526dc0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5526dc0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5526dc0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5526dc0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5526dc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5526dc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5526dc0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5526dc0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CEOOffice@nautilustv.com" TargetMode="External"/><Relationship Id="rId4" Type="http://schemas.openxmlformats.org/officeDocument/2006/relationships/hyperlink" Target="mailto:HeadTreasury@netflix.com" TargetMode="External"/><Relationship Id="rId5" Type="http://schemas.openxmlformats.org/officeDocument/2006/relationships/hyperlink" Target="mailto:HeadTreasury@netflix.com" TargetMode="External"/><Relationship Id="rId6" Type="http://schemas.openxmlformats.org/officeDocument/2006/relationships/hyperlink" Target="mailto:HeadTreasury@netflix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23617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Company Overview for Investors - Illustrative Offering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18626" y="38781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 u="sng"/>
              <a:t>Disclaimer</a:t>
            </a:r>
            <a:endParaRPr sz="700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Content is only for institutional US-based investors. 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Past performance is no guarantee for future performance.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Overview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817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Why are we here today?</a:t>
            </a:r>
            <a:r>
              <a:rPr b="1" lang="en" sz="1400">
                <a:solidFill>
                  <a:schemeClr val="dk2"/>
                </a:solidFill>
              </a:rPr>
              <a:t> 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Transaction Overview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The Team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are we here today?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Unique opportunity to invest in Nautilus's transformative growth story.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Strong business moat and long-term visibility, underpinning credit profile.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Well positioned to extend credit curve and strengthen relationships with leading institutions in the debt capital markets.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Fund strategic content investments that drive long-term value creation and shareholder returns.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	 Global Entertainment without Barriers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 bring people together with premium entertainment — no cable barrier, no location barrier.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build the market-leading gateway to streaming video.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accelerate investment in original content to fuel transformative growth.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transcend licensing models with exclusive, must-watch series and films.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captivate global audiences and differentiate in a crowded streaming landscape.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	 Main Credit Takeways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Strong Covenant Adjusted EBITDA supports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Robust profitability and cash generation enable extending our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Solid unit economics and competitive moat support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Sufficient visibility to extend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Convertible offering provide advantages of lower after-tax cost and reduced rating impact.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Market cap near all-time high at ~$27bn — strong equity capital market buffer.</a:t>
            </a:r>
            <a:endParaRPr b="1" sz="5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7650" y="1341725"/>
            <a:ext cx="76887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$1,500,000,000 Convertible Senior Notes due 2020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Indicative Terms as of 28th January 2015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Issuer: 			Nautilus, Inc. (NASDAQ: NTLSX)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Rating: 		Expected B1 / BB- (Moody's / S&amp;P)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 Size: 		$1.5 billion (with 13.5% greenshoe option)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Use of Proceeds: 	General corporate purposes, including content acquisition and potential acquisitions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Stock Price: 		$442.47 (closing price as of 28th January 2015)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Expected Launch: 	Week of February 5, 2015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Transaction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 Key Indica</a:t>
            </a:r>
            <a:r>
              <a:rPr lang="en" sz="2550"/>
              <a:t>tive Terms, </a:t>
            </a:r>
            <a:r>
              <a:rPr lang="en" sz="2550">
                <a:solidFill>
                  <a:srgbClr val="000000"/>
                </a:solidFill>
              </a:rPr>
              <a:t>as of 28th January 2015</a:t>
            </a:r>
            <a:endParaRPr sz="2550"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7650" y="1340175"/>
            <a:ext cx="7688700" cy="3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Term:				Indicative Details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Maturity:			December 31, 2020 (6-year tenor)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Coupon:			1.50% (semi-annual payments on June 30 and December 31)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Yield to Maturity:		1.50% (priced at par)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Premium		45.0%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Price:		$641.58 per share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Ratio:		1.5586 shares per $1,000 principal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Optional Redemption:	Make-whole call at T+50 bps anytime prior to maturity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Change of Control:		Put at 101% of principal plus accrued interest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Settlement:			Cash settlement option available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Concurrent Hedge:		Call spread overlay to reduce dilution: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Purchase calls on ~2.34M shares at $641.58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Sell warrants on ~1.75M shares at $774.32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(Raises effective conversion premium to ~75%; est. pre-tax cost ~2.6%)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 </a:t>
            </a:r>
            <a:r>
              <a:rPr lang="en"/>
              <a:t>Pricing and Rationale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7650" y="1340175"/>
            <a:ext cx="76887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Theoretical Valuation and Pricing Considerations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Straight Debt Value: 		~80% of par (based on comparables in the market, 400 bps credit spread over Treasuries)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Embedded Option Value: 	~20% of par (63% vol, no dividends)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Theoretical Fair Value:	 ~100.0% of par (pre-hedge; assumes risk-free rate ~1.39%)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Indicative Issue Price: 	100% of par (net proceeds after fees ~$1.48bn)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Effective Cost of Funds: 	~2.6% (post-hedge; attractive vs. straight debt at ~5.9%)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Dilution Impact: 		Minimal with hedge (~75% effective premium reduces potential shares issued by 25%)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Market Context and Rationale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Strong demand for tech/growth convertibles (e.g., recent deals from Twitter, Salesforce at 0.25%-1.00% coupons)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NTLSX equity vol supports premium pricing; favorable window post-earnings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Benefits: Low-cost funding, equity-linked upside, tax-deductible interest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Risks: Market volatility, credit spread widening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66050" y="63781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2.3 </a:t>
            </a:r>
            <a:r>
              <a:rPr lang="en"/>
              <a:t>Call-Spread Strategy and Maturity Scenarios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518000" y="1275492"/>
            <a:ext cx="79368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Standard hedge to minimize shareholder dilution from $1.5B convertible bond conversions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Offsets equity exposure: Raises conversion premium from 45% ($641.58) to 75% ($774.32)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Enables low 1.50% coupon while limiting max dilution to 75% of unhedged amount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Net impact: ~2.6% increase</a:t>
            </a:r>
            <a:r>
              <a:rPr b="1" lang="en">
                <a:solidFill>
                  <a:srgbClr val="000000"/>
                </a:solidFill>
              </a:rPr>
              <a:t> in pre-tax funding cost</a:t>
            </a:r>
            <a:r>
              <a:rPr b="1" lang="en">
                <a:solidFill>
                  <a:srgbClr val="000000"/>
                </a:solidFill>
              </a:rPr>
              <a:t>, executed OTC simultaneously with CB</a:t>
            </a:r>
            <a:endParaRPr b="1"/>
          </a:p>
        </p:txBody>
      </p:sp>
      <p:graphicFrame>
        <p:nvGraphicFramePr>
          <p:cNvPr id="137" name="Google Shape;137;p21"/>
          <p:cNvGraphicFramePr/>
          <p:nvPr/>
        </p:nvGraphicFramePr>
        <p:xfrm>
          <a:off x="707490" y="3161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{434B336E-DBD5-4F09-85AA-9D98BDD2769D}</a:tableStyleId>
              </a:tblPr>
              <a:tblGrid>
                <a:gridCol w="1763025"/>
                <a:gridCol w="1612750"/>
                <a:gridCol w="3019225"/>
                <a:gridCol w="1276600"/>
              </a:tblGrid>
              <a:tr h="22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Stock Price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Bond Conversion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Hedge Outcome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Net Dilution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$600 (&lt;$641.58)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 conversion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Calls/warrants expire worthless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8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$700 ($641.58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~1.35M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 for offset; warrants unexercised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$900 (&gt;$774.32)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~1.44M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calls; deliver 1.7535M new shares on warrants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1.7535M shares (75% of max)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1"/>
          <p:cNvSpPr txBox="1"/>
          <p:nvPr/>
        </p:nvSpPr>
        <p:spPr>
          <a:xfrm>
            <a:off x="663573" y="2782475"/>
            <a:ext cx="7988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Scenarios at Maturity (Assuming Full Conversion &amp; Net Share Settlement)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The Team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580131" y="1705605"/>
            <a:ext cx="76887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	</a:t>
            </a:r>
            <a:r>
              <a:rPr b="1" lang="en" sz="5200">
                <a:solidFill>
                  <a:schemeClr val="dk2"/>
                </a:solidFill>
              </a:rPr>
              <a:t>• CEO: Robert Abbey — </a:t>
            </a:r>
            <a:r>
              <a:rPr b="1" lang="en" sz="5200" u="sng">
                <a:solidFill>
                  <a:schemeClr val="hlink"/>
                </a:solidFill>
                <a:hlinkClick r:id="rId3"/>
              </a:rPr>
              <a:t>CEOOffice@nautilustv.com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Founder and visionary leader in entertainment and technology.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Head Treasury: Jenny Dobbs — </a:t>
            </a:r>
            <a:r>
              <a:rPr b="1" lang="en" sz="5200" u="sng">
                <a:solidFill>
                  <a:schemeClr val="hlink"/>
                </a:solidFill>
                <a:hlinkClick r:id="rId4"/>
              </a:rPr>
              <a:t>HeadTreasury@nautilustv.com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Experienced media financing professional.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Chief Product Officer: Nate Hurts — </a:t>
            </a:r>
            <a:r>
              <a:rPr b="1" lang="en" sz="52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Recognized technologist in streaming and content delivery.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CFO: Daniel Thomas — </a:t>
            </a:r>
            <a:r>
              <a:rPr b="1" lang="en" sz="52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CFOOffice@nautilustv.com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CFO overseeing financial strategy, including multiple debt offerings and growth initiatives.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.</a:t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2025-11-17T08:10:49Z</dcterms:modified>
  <dc:creator/>
  <dc:subject/>
  <cp:keywords/>
  <dc:description/>
  <cp:category/>
  <cp:contentStatus/>
  <dc:identifier/>
  <cp:version>None</cp:version>
</cp:coreProperties>
</file>
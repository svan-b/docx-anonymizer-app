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6858000" cy="9144000"/>
  <p:embeddedFontLst>
    <p:embeddedFont>
      <p:font typeface="Roboto Slab"/>
      <p:regular r:id="rId10"/>
      <p:bold r:id="rId11"/>
    </p:embeddedFon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iL0BXnztKloDslC9vcGRLnMYr/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D0574C-F476-47BC-B0AD-7CAF3CED501F}">
  <a:tblStyle styleId="{A6D0574C-F476-47BC-B0AD-7CAF3CED501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font" Target="fonts/RobotoSlab-regular.fntdata"/><Relationship Id="rId11" Type="http://schemas.openxmlformats.org/officeDocument/2006/relationships/font" Target="fonts/RobotoSlab-bold.fntdata"/><Relationship Id="rId12" Type="http://schemas.openxmlformats.org/officeDocument/2006/relationships/font" Target="fonts/Roboto-regular.fntdata"/><Relationship Id="rId13" Type="http://schemas.openxmlformats.org/officeDocument/2006/relationships/font" Target="fonts/Roboto-bold.fntdata"/><Relationship Id="rId14" Type="http://schemas.openxmlformats.org/officeDocument/2006/relationships/font" Target="fonts/Roboto-italic.fntdata"/><Relationship Id="rId15" Type="http://schemas.openxmlformats.org/officeDocument/2006/relationships/font" Target="fonts/Roboto-boldItalic.fntdata"/><Relationship Id="rId1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865238bf63_0_368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g3865238bf63_0_368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g3865238bf63_0_368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g3865238bf63_0_368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g3865238bf63_0_368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g3865238bf63_0_3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g3865238bf63_0_375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g3865238bf63_0_375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g3865238bf63_0_3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g3865238bf63_0_379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g3865238bf63_0_37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g3865238bf63_0_37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g3865238bf63_0_3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3865238bf63_0_38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g3865238bf63_0_38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g3865238bf63_0_384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g3865238bf63_0_384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g3865238bf63_0_3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865238bf63_0_39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g3865238bf63_0_3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g3865238bf63_0_393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g3865238bf63_0_393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g3865238bf63_0_393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g3865238bf63_0_3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865238bf63_0_39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g3865238bf63_0_3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865238bf63_0_401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g3865238bf63_0_401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g3865238bf63_0_401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g3865238bf63_0_401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g3865238bf63_0_40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g3865238bf63_0_4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865238bf63_0_408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g3865238bf63_0_4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65238bf63_0_4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865238bf63_0_4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g3865238bf63_0_4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g3865238bf63_0_4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65238bf63_0_4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865238bf63_0_36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g3865238bf63_0_36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3865238bf63_0_3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Sources and Uses</a:t>
            </a:r>
            <a:endParaRPr/>
          </a:p>
        </p:txBody>
      </p:sp>
      <p:sp>
        <p:nvSpPr>
          <p:cNvPr id="64" name="Google Shape;64;p1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Project Quantiva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Google Shape;69;p2"/>
          <p:cNvGraphicFramePr/>
          <p:nvPr/>
        </p:nvGraphicFramePr>
        <p:xfrm>
          <a:off x="387900" y="155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{A6D0574C-F476-47BC-B0AD-7CAF3CED501F}</a:tableStyleId>
              </a:tblPr>
              <a:tblGrid>
                <a:gridCol w="2047875"/>
                <a:gridCol w="971550"/>
                <a:gridCol w="988250"/>
                <a:gridCol w="4491100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</a:rPr>
                        <a:t>Sources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</a:rPr>
                        <a:t>Amount ($MM)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</a:rPr>
                        <a:t>% of Total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800" u="none" cap="none" strike="noStrike">
                          <a:solidFill>
                            <a:schemeClr val="dk1"/>
                          </a:solidFill>
                        </a:rPr>
                        <a:t>Notes</a:t>
                      </a:r>
                      <a:endParaRPr b="1" sz="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Gross Primary Offering Proceeds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384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62.50%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25,000,000 new shares issued by the Company.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Gross Secondary Offering Proceeds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231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37.50%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15,000,000 shares sold by YG Partners L.P. funds and executives.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Total Sources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615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—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" name="Google Shape;70;p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Sources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" name="Google Shape;75;p3"/>
          <p:cNvGraphicFramePr/>
          <p:nvPr/>
        </p:nvGraphicFramePr>
        <p:xfrm>
          <a:off x="88688" y="156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{A6D0574C-F476-47BC-B0AD-7CAF3CED501F}</a:tableStyleId>
              </a:tblPr>
              <a:tblGrid>
                <a:gridCol w="3115525"/>
                <a:gridCol w="920025"/>
                <a:gridCol w="1296400"/>
                <a:gridCol w="3634675"/>
              </a:tblGrid>
              <a:tr h="43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Uses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Amount ($MM)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% of Primary Proceeds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chemeClr val="dk1"/>
                          </a:solidFill>
                        </a:rPr>
                        <a:t>Notes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1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R&amp;D / CapEx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315.1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82.0%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New technology for next release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General Corporate Purposes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38.4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10.0%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Working capital, personnel, and other strategic initiatives.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6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Offering Expenses (Legal, Accounting, Listing Fees)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6.1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1.6%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Between underwriting fees and offering expense, equal 5%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2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Underwriting Discount (4.0%)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24.6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6.4</a:t>
                      </a:r>
                      <a:r>
                        <a:rPr lang="en" sz="900">
                          <a:solidFill>
                            <a:schemeClr val="dk1"/>
                          </a:solidFill>
                        </a:rPr>
                        <a:t>%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The underwriting discount is payable by the company on the full amount of shares sold.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Gross Proceeds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384.3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100%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Gross Proceeds to Company</a:t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Net Proceeds</a:t>
                      </a:r>
                      <a:endParaRPr b="1"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</a:rPr>
                        <a:t>353.5</a:t>
                      </a:r>
                      <a:endParaRPr b="1"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</a:rPr>
                        <a:t>Net </a:t>
                      </a:r>
                      <a:r>
                        <a:rPr lang="en" sz="900" u="none" cap="none" strike="noStrike">
                          <a:solidFill>
                            <a:schemeClr val="dk1"/>
                          </a:solidFill>
                        </a:rPr>
                        <a:t>Proceeds to Company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28575" marL="2857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" name="Google Shape;76;p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33"/>
              <a:buNone/>
            </a:pPr>
            <a:r>
              <a:rPr lang="en"/>
              <a:t>Uses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cp:lastModifiedBy/>
  <cp:revision>1</cp:revision>
  <dcterms:modified xsi:type="dcterms:W3CDTF">2025-11-17T08:11:19Z</dcterms:modified>
  <dc:creator/>
  <dc:subject/>
  <cp:keywords/>
  <dc:description/>
  <cp:category/>
  <cp:contentStatus/>
  <dc:identifier/>
  <cp:version>None</cp:version>
</cp:coreProperties>
</file>
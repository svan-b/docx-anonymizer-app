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10287000" cx="18288000"/>
  <p:notesSz cx="6858000" cy="9144000"/>
  <p:embeddedFontLst>
    <p:embeddedFont>
      <p:font typeface="Proxima Nova"/>
      <p:bold r:id="rId24"/>
      <p:boldItalic r:id="rId25"/>
    </p:embeddedFont>
    <p:embeddedFont>
      <p:font typeface="Roboto"/>
      <p:regular r:id="rId26"/>
      <p:bold r:id="rId27"/>
      <p:italic r:id="rId28"/>
      <p:boldItalic r:id="rId29"/>
    </p:embeddedFont>
    <p:embeddedFont>
      <p:font typeface="Poppins"/>
      <p:bold r:id="rId30"/>
      <p:boldItalic r:id="rId31"/>
    </p:embeddedFont>
    <p:embeddedFont>
      <p:font typeface="Open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6" roundtripDataSignature="AMtx7mjroR7Q9i4Cx03vYvPygJPr/KYg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C328D1D-6ACE-4F93-BB71-2FF7B74A4B2A}">
  <a:tblStyle styleId="{5C328D1D-6ACE-4F93-BB71-2FF7B74A4B2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font" Target="fonts/ProximaNova-bold.fntdata"/><Relationship Id="rId25" Type="http://schemas.openxmlformats.org/officeDocument/2006/relationships/font" Target="fonts/ProximaNova-boldItalic.fntdata"/><Relationship Id="rId26" Type="http://schemas.openxmlformats.org/officeDocument/2006/relationships/font" Target="fonts/Roboto-regular.fntdata"/><Relationship Id="rId27" Type="http://schemas.openxmlformats.org/officeDocument/2006/relationships/font" Target="fonts/Roboto-bold.fntdata"/><Relationship Id="rId28" Type="http://schemas.openxmlformats.org/officeDocument/2006/relationships/font" Target="fonts/Roboto-italic.fntdata"/><Relationship Id="rId29" Type="http://schemas.openxmlformats.org/officeDocument/2006/relationships/font" Target="fonts/Roboto-boldItalic.fntdata"/><Relationship Id="rId30" Type="http://schemas.openxmlformats.org/officeDocument/2006/relationships/font" Target="fonts/Poppins-bold.fntdata"/><Relationship Id="rId31" Type="http://schemas.openxmlformats.org/officeDocument/2006/relationships/font" Target="fonts/Poppins-boldItalic.fntdata"/><Relationship Id="rId32" Type="http://schemas.openxmlformats.org/officeDocument/2006/relationships/font" Target="fonts/OpenSans-regular.fntdata"/><Relationship Id="rId33" Type="http://schemas.openxmlformats.org/officeDocument/2006/relationships/font" Target="fonts/OpenSans-bold.fntdata"/><Relationship Id="rId34" Type="http://schemas.openxmlformats.org/officeDocument/2006/relationships/font" Target="fonts/OpenSans-italic.fntdata"/><Relationship Id="rId35" Type="http://schemas.openxmlformats.org/officeDocument/2006/relationships/font" Target="fonts/OpenSans-boldItalic.fntdata"/><Relationship Id="rId3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0c5ac42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g390c5ac42c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90c5ac42c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g390c5ac42cb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0c5ac42c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90c5ac42cb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90c5ac42c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g390c5ac42cb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90c5ac42cb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90c5ac42cb_0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0c5ac42c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390c5ac42cb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90c5ac42c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390c5ac42cb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90c5ac42cb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390c5ac42cb_0_2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90c5ac42cb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g390c5ac42cb_0_2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90c5ac42cb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390c5ac42cb_0_2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90c5ac42cb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390c5ac42cb_0_1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90c5ac42c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g390c5ac42cb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7"/>
          <p:cNvSpPr/>
          <p:nvPr>
            <p:ph idx="2" type="pic"/>
          </p:nvPr>
        </p:nvSpPr>
        <p:spPr>
          <a:xfrm>
            <a:off x="1792288" y="612775"/>
            <a:ext cx="5486400" cy="4114800"/>
          </a:xfrm>
          <a:prstGeom prst="rect">
            <a:avLst/>
          </a:prstGeom>
          <a:noFill/>
          <a:ln>
            <a:noFill/>
          </a:ln>
        </p:spPr>
      </p:sp>
      <p:sp>
        <p:nvSpPr>
          <p:cNvPr id="64" name="Google Shape;64;p1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jpg"/><Relationship Id="rId4" Type="http://schemas.openxmlformats.org/officeDocument/2006/relationships/image" Target="../media/image12.jpg"/><Relationship Id="rId5" Type="http://schemas.openxmlformats.org/officeDocument/2006/relationships/image" Target="../media/image10.jpg"/><Relationship Id="rId6"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83" name="Shape 83"/>
        <p:cNvGrpSpPr/>
        <p:nvPr/>
      </p:nvGrpSpPr>
      <p:grpSpPr>
        <a:xfrm>
          <a:off x="0" y="0"/>
          <a:ext cx="0" cy="0"/>
          <a:chOff x="0" y="0"/>
          <a:chExt cx="0" cy="0"/>
        </a:xfrm>
      </p:grpSpPr>
      <p:sp>
        <p:nvSpPr>
          <p:cNvPr id="84" name="Google Shape;84;p1"/>
          <p:cNvSpPr/>
          <p:nvPr/>
        </p:nvSpPr>
        <p:spPr>
          <a:xfrm>
            <a:off x="9144000" y="-12700"/>
            <a:ext cx="9144000" cy="10299700"/>
          </a:xfrm>
          <a:custGeom>
            <a:rect b="b" l="l" r="r" t="t"/>
            <a:pathLst>
              <a:path extrusionOk="0" h="885799" w="786406">
                <a:moveTo>
                  <a:pt x="0" y="0"/>
                </a:moveTo>
                <a:lnTo>
                  <a:pt x="786406" y="0"/>
                </a:lnTo>
                <a:lnTo>
                  <a:pt x="786406" y="885799"/>
                </a:lnTo>
                <a:lnTo>
                  <a:pt x="0" y="885799"/>
                </a:lnTo>
                <a:close/>
              </a:path>
            </a:pathLst>
          </a:custGeom>
          <a:blipFill rotWithShape="1">
            <a:blip r:embed="rId3">
              <a:alphaModFix/>
            </a:blip>
            <a:stretch>
              <a:fillRect b="-155" l="0" r="0" t="-156"/>
            </a:stretch>
          </a:blipFill>
          <a:ln>
            <a:noFill/>
          </a:ln>
        </p:spPr>
        <p:txBody>
          <a:bodyPr/>
          <a:p/>
        </p:txBody>
      </p:sp>
      <p:grpSp>
        <p:nvGrpSpPr>
          <p:cNvPr id="85" name="Google Shape;85;p1"/>
          <p:cNvGrpSpPr/>
          <p:nvPr/>
        </p:nvGrpSpPr>
        <p:grpSpPr>
          <a:xfrm>
            <a:off x="681775" y="659600"/>
            <a:ext cx="7626868" cy="6070995"/>
            <a:chOff x="-14" y="-9533"/>
            <a:chExt cx="9707100" cy="8094660"/>
          </a:xfrm>
        </p:grpSpPr>
        <p:sp>
          <p:nvSpPr>
            <p:cNvPr id="86" name="Google Shape;86;p1"/>
            <p:cNvSpPr txBox="1"/>
            <p:nvPr/>
          </p:nvSpPr>
          <p:spPr>
            <a:xfrm>
              <a:off x="-14" y="-9533"/>
              <a:ext cx="9707100" cy="5253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8000">
                  <a:solidFill>
                    <a:srgbClr val="FFFFFF"/>
                  </a:solidFill>
                  <a:latin typeface="Poppins"/>
                  <a:ea typeface="Poppins"/>
                  <a:cs typeface="Poppins"/>
                  <a:sym typeface="Poppins"/>
                </a:rPr>
                <a:t>Quantiva Technologies</a:t>
              </a:r>
              <a:endParaRPr b="1" sz="8000">
                <a:solidFill>
                  <a:srgbClr val="FFFFFF"/>
                </a:solidFill>
                <a:latin typeface="Poppins"/>
                <a:ea typeface="Poppins"/>
                <a:cs typeface="Poppins"/>
                <a:sym typeface="Poppins"/>
              </a:endParaRPr>
            </a:p>
            <a:p>
              <a:pPr indent="0" lvl="0" marL="0" marR="0" rtl="0" algn="l">
                <a:lnSpc>
                  <a:spcPct val="110000"/>
                </a:lnSpc>
                <a:spcBef>
                  <a:spcPts val="0"/>
                </a:spcBef>
                <a:spcAft>
                  <a:spcPts val="0"/>
                </a:spcAft>
                <a:buNone/>
              </a:pPr>
              <a:r>
                <a:t/>
              </a:r>
              <a:endParaRPr b="1" sz="8000">
                <a:solidFill>
                  <a:srgbClr val="FFFFFF"/>
                </a:solidFill>
                <a:latin typeface="Poppins"/>
                <a:ea typeface="Poppins"/>
                <a:cs typeface="Poppins"/>
                <a:sym typeface="Poppins"/>
              </a:endParaRPr>
            </a:p>
          </p:txBody>
        </p:sp>
        <p:sp>
          <p:nvSpPr>
            <p:cNvPr id="87" name="Google Shape;87;p1"/>
            <p:cNvSpPr txBox="1"/>
            <p:nvPr/>
          </p:nvSpPr>
          <p:spPr>
            <a:xfrm>
              <a:off x="88933" y="6607327"/>
              <a:ext cx="9182100" cy="147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3000">
                  <a:solidFill>
                    <a:srgbClr val="B3C7F9"/>
                  </a:solidFill>
                  <a:latin typeface="Proxima Nova"/>
                  <a:ea typeface="Proxima Nova"/>
                  <a:cs typeface="Proxima Nova"/>
                  <a:sym typeface="Proxima Nova"/>
                </a:rPr>
                <a:t>Follow-on Share Offering</a:t>
              </a:r>
              <a:r>
                <a:rPr b="1" i="0" lang="en-US" sz="3000" u="none" cap="none" strike="noStrike">
                  <a:solidFill>
                    <a:srgbClr val="B3C7F9"/>
                  </a:solidFill>
                  <a:latin typeface="Proxima Nova"/>
                  <a:ea typeface="Proxima Nova"/>
                  <a:cs typeface="Proxima Nova"/>
                  <a:sym typeface="Proxima Nova"/>
                </a:rPr>
                <a:t>: </a:t>
              </a:r>
              <a:endParaRPr b="1" i="0" sz="3000" u="none" cap="none" strike="noStrike">
                <a:solidFill>
                  <a:srgbClr val="B3C7F9"/>
                </a:solidFill>
                <a:latin typeface="Proxima Nova"/>
                <a:ea typeface="Proxima Nova"/>
                <a:cs typeface="Proxima Nova"/>
                <a:sym typeface="Proxima Nova"/>
              </a:endParaRPr>
            </a:p>
            <a:p>
              <a:pPr indent="0" lvl="0" marL="0" marR="0" rtl="0" algn="l">
                <a:lnSpc>
                  <a:spcPct val="140000"/>
                </a:lnSpc>
                <a:spcBef>
                  <a:spcPts val="0"/>
                </a:spcBef>
                <a:spcAft>
                  <a:spcPts val="0"/>
                </a:spcAft>
                <a:buNone/>
              </a:pPr>
              <a:r>
                <a:rPr b="1" i="0" lang="en-US" sz="3000" u="none" cap="none" strike="noStrike">
                  <a:solidFill>
                    <a:srgbClr val="B3C7F9"/>
                  </a:solidFill>
                  <a:latin typeface="Proxima Nova"/>
                  <a:ea typeface="Proxima Nova"/>
                  <a:cs typeface="Proxima Nova"/>
                  <a:sym typeface="Proxima Nova"/>
                </a:rPr>
                <a:t>Seize the Investment Opportunity</a:t>
              </a:r>
              <a:endParaRPr/>
            </a:p>
          </p:txBody>
        </p:sp>
      </p:grpSp>
      <p:grpSp>
        <p:nvGrpSpPr>
          <p:cNvPr id="88" name="Google Shape;88;p1"/>
          <p:cNvGrpSpPr/>
          <p:nvPr/>
        </p:nvGrpSpPr>
        <p:grpSpPr>
          <a:xfrm>
            <a:off x="14759735" y="666750"/>
            <a:ext cx="2861516" cy="1430758"/>
            <a:chOff x="0" y="0"/>
            <a:chExt cx="3815354" cy="1907677"/>
          </a:xfrm>
        </p:grpSpPr>
        <p:grpSp>
          <p:nvGrpSpPr>
            <p:cNvPr id="89" name="Google Shape;89;p1"/>
            <p:cNvGrpSpPr/>
            <p:nvPr/>
          </p:nvGrpSpPr>
          <p:grpSpPr>
            <a:xfrm>
              <a:off x="0" y="0"/>
              <a:ext cx="1907677" cy="1907677"/>
              <a:chOff x="0" y="0"/>
              <a:chExt cx="812800" cy="812800"/>
            </a:xfrm>
          </p:grpSpPr>
          <p:sp>
            <p:nvSpPr>
              <p:cNvPr id="90" name="Google Shape;90;p1"/>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0B2044"/>
              </a:solidFill>
              <a:ln>
                <a:noFill/>
              </a:ln>
            </p:spPr>
          </p:sp>
          <p:sp>
            <p:nvSpPr>
              <p:cNvPr id="91" name="Google Shape;91;p1"/>
              <p:cNvSpPr txBox="1"/>
              <p:nvPr/>
            </p:nvSpPr>
            <p:spPr>
              <a:xfrm>
                <a:off x="0" y="9525"/>
                <a:ext cx="812800" cy="803275"/>
              </a:xfrm>
              <a:prstGeom prst="rect">
                <a:avLst/>
              </a:prstGeom>
              <a:noFill/>
              <a:ln>
                <a:noFill/>
              </a:ln>
            </p:spPr>
            <p:txBody>
              <a:bodyPr anchorCtr="0" anchor="ctr" bIns="50800" lIns="50800" spcFirstLastPara="1" rIns="50800" wrap="square" tIns="50800">
                <a:noAutofit/>
              </a:bodyPr>
              <a:lstStyle/>
              <a:p>
                <a:pPr indent="0" lvl="0" marL="0" marR="0" rtl="0" algn="ctr">
                  <a:lnSpc>
                    <a:spcPct val="159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2" name="Google Shape;92;p1"/>
            <p:cNvGrpSpPr/>
            <p:nvPr/>
          </p:nvGrpSpPr>
          <p:grpSpPr>
            <a:xfrm>
              <a:off x="1907677" y="0"/>
              <a:ext cx="1907677" cy="1907677"/>
              <a:chOff x="0" y="0"/>
              <a:chExt cx="812800" cy="812800"/>
            </a:xfrm>
          </p:grpSpPr>
          <p:sp>
            <p:nvSpPr>
              <p:cNvPr id="93" name="Google Shape;93;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20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
              <p:cNvSpPr txBox="1"/>
              <p:nvPr/>
            </p:nvSpPr>
            <p:spPr>
              <a:xfrm>
                <a:off x="76200" y="85725"/>
                <a:ext cx="660400" cy="650875"/>
              </a:xfrm>
              <a:prstGeom prst="rect">
                <a:avLst/>
              </a:prstGeom>
              <a:noFill/>
              <a:ln>
                <a:noFill/>
              </a:ln>
            </p:spPr>
            <p:txBody>
              <a:bodyPr anchorCtr="0" anchor="ctr" bIns="50800" lIns="50800" spcFirstLastPara="1" rIns="50800" wrap="square" tIns="50800">
                <a:noAutofit/>
              </a:bodyPr>
              <a:lstStyle/>
              <a:p>
                <a:pPr indent="0" lvl="0" marL="0" marR="0" rtl="0" algn="ctr">
                  <a:lnSpc>
                    <a:spcPct val="159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98" name="Shape 98"/>
        <p:cNvGrpSpPr/>
        <p:nvPr/>
      </p:nvGrpSpPr>
      <p:grpSpPr>
        <a:xfrm>
          <a:off x="0" y="0"/>
          <a:ext cx="0" cy="0"/>
          <a:chOff x="0" y="0"/>
          <a:chExt cx="0" cy="0"/>
        </a:xfrm>
      </p:grpSpPr>
      <p:grpSp>
        <p:nvGrpSpPr>
          <p:cNvPr id="99" name="Google Shape;99;g390c5ac42cb_0_0"/>
          <p:cNvGrpSpPr/>
          <p:nvPr/>
        </p:nvGrpSpPr>
        <p:grpSpPr>
          <a:xfrm>
            <a:off x="666750" y="716750"/>
            <a:ext cx="17059259" cy="9694868"/>
            <a:chOff x="0" y="66675"/>
            <a:chExt cx="10883100" cy="7107675"/>
          </a:xfrm>
        </p:grpSpPr>
        <p:sp>
          <p:nvSpPr>
            <p:cNvPr id="100" name="Google Shape;100;g390c5ac42cb_0_0"/>
            <p:cNvSpPr txBox="1"/>
            <p:nvPr/>
          </p:nvSpPr>
          <p:spPr>
            <a:xfrm>
              <a:off x="0" y="1998150"/>
              <a:ext cx="10883100" cy="5176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800"/>
                <a:buFont typeface="Arial"/>
                <a:buNone/>
              </a:pPr>
              <a:r>
                <a:rPr lang="en-US" sz="1300" u="sng">
                  <a:solidFill>
                    <a:schemeClr val="lt1"/>
                  </a:solidFill>
                  <a:latin typeface="Roboto"/>
                  <a:ea typeface="Roboto"/>
                  <a:cs typeface="Roboto"/>
                  <a:sym typeface="Roboto"/>
                </a:rPr>
                <a:t>Forward-Looking Statements.</a:t>
              </a:r>
              <a:r>
                <a:rPr lang="en-US" sz="1300">
                  <a:solidFill>
                    <a:schemeClr val="lt1"/>
                  </a:solidFill>
                  <a:latin typeface="Roboto"/>
                  <a:ea typeface="Roboto"/>
                  <a:cs typeface="Roboto"/>
                  <a:sym typeface="Roboto"/>
                </a:rPr>
                <a:t> Statements in this presentation and the accompanying oral presentation that are not statements of historical fact are forward-looking statements. Such forward-looking statements include, without limitation, statements regarding the Company’s future results of operations or financial condition, including guidance for 2025, new shop openings, business strategy and plans, objectives of management for future operations, and potential growth opportunities. Words such as “anticipate,” “believe,” “contemplate,” “continue,” “could,” “estimate,” “expect,” “intend,” “may,” “plan,” “potential,” “predict,” “project,” “should,” “target,” “toward,” “will,” or “would,” or the negative of these words or other similar terms or expressions are intended to identify forward-looking statements, though not all forward-looking statements necessarily contain these identifying words. You should not rely on forward looking statements as predictions of future events. We have based the forward-looking statements primarily on our current expectations and projections about future events and trends that we believe may affect our business, financial condition, and results of operations. The outcome of the events described in these forward-looking statements is subject to risks, uncertainties, and other factors. Moreover, we operate in a very competitive and rapidly changing environment. New risks and uncertainties emerge from time to time, and it is not possible for us to predict all risks and uncertainties that could have an impact on the forward-looking statements. The results, events, and circumstances reflected in the forward-looking statements may not be achieved or occur, and actual results, events or circumstances could differ materially from those described in the forward-looking statements. We undertake no obligation to update any forward-looking statements made in this presentation to reflect events or circumstances after the date of this presentation or to reflect new information, actual results, revised expectations or the occurrence of unanticipated events, except as required by law. We may not actually achieve the plans, intentions or expectations disclosed in our forward-looking statements, and you should not place undue reliance on our forward-looking statements. Our forward-looking statements do not reflect the potential impact of any future acquisitions, mergers, dispositions, joint ventures or investments. Our forward-looking statements are subject to known and unknown risks, uncertainties, assumptions and other important factors, many of which are outside Dutch Bros’ control that could cause actual results to differ materially from the results discussed in the forward-looking statements, including those related to general economic conditions, inflation, increased labor costs, disruptions in our supply chain, ability to hire and retain employees, and other risks, including those described under the heading “Risk Factors” in our Annual Report on Form 10-K for the year ended December 31, 2024 filed with the SEC on February 13 2025, our Quarterly Report on Form 10-Q for the quarter ended March 31, 2025 filed with the SEC on May 8, 2025, and in our future reports to be filed with the SEC, including our Quarterly Report on Form 10-Q for the quarter ended June 30, 2025. </a:t>
              </a:r>
              <a:endParaRPr sz="1300">
                <a:solidFill>
                  <a:schemeClr val="lt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300" u="sng">
                  <a:solidFill>
                    <a:schemeClr val="lt1"/>
                  </a:solidFill>
                  <a:latin typeface="Roboto"/>
                  <a:ea typeface="Roboto"/>
                  <a:cs typeface="Roboto"/>
                  <a:sym typeface="Roboto"/>
                </a:rPr>
                <a:t>Non-GAAP Measures. </a:t>
              </a:r>
              <a:r>
                <a:rPr lang="en-US" sz="1300">
                  <a:solidFill>
                    <a:schemeClr val="lt1"/>
                  </a:solidFill>
                  <a:latin typeface="Roboto"/>
                  <a:ea typeface="Roboto"/>
                  <a:cs typeface="Roboto"/>
                  <a:sym typeface="Roboto"/>
                </a:rPr>
                <a:t>The Company prepares and presents its consolidated financial statements in accordance with generally accepted accounting principles in the United States (“GAAP”). However, management believes that certain non-GAAP financial measures, such as Adjusted EBITDA, adjusted net income, and company-operated shop contribution, provide investors with additional useful information in evaluating the Company’s core operating performance. These non-GAAP financial measures, which may be different than similarly titled measures used by other companies, are presented to enhance investors’ overall understanding of our financial performance and should not be considered a substitute for, or superior to, the financial information prepared and presented in accordance with GAAP. We believe that these non-GAAP financial measures provide useful information about our financial performance, enhance the overall understanding of our past performance and future prospects and allow for greater transparency with respect to important measures used by our management for financial and operational decision making. We are presenting these non-GAAP financial measures to assist investors in seeing our financial performance using a management view and because, in some cases, we believe that these measures provide an additional tool for investors to use in comparing our core financial performance over multiple periods with other companies in our industry. We urge you to review the reconciliation of our non-GAAP financial measures to the most directly comparable GAAP financial measures set forth in the slides and Appendix to this presentation, and not to rely on any single financial measure to evaluate our business. </a:t>
              </a:r>
              <a:endParaRPr sz="1300">
                <a:solidFill>
                  <a:schemeClr val="lt1"/>
                </a:solidFill>
                <a:latin typeface="Roboto"/>
                <a:ea typeface="Roboto"/>
                <a:cs typeface="Roboto"/>
                <a:sym typeface="Roboto"/>
              </a:endParaRPr>
            </a:p>
            <a:p>
              <a:pPr indent="0" lvl="0" marL="0" rtl="0" algn="l">
                <a:lnSpc>
                  <a:spcPct val="115000"/>
                </a:lnSpc>
                <a:spcBef>
                  <a:spcPts val="1600"/>
                </a:spcBef>
                <a:spcAft>
                  <a:spcPts val="0"/>
                </a:spcAft>
                <a:buClr>
                  <a:schemeClr val="dk1"/>
                </a:buClr>
                <a:buSzPts val="1800"/>
                <a:buFont typeface="Arial"/>
                <a:buNone/>
              </a:pPr>
              <a:r>
                <a:rPr lang="en-US" sz="1300" u="sng">
                  <a:solidFill>
                    <a:schemeClr val="lt1"/>
                  </a:solidFill>
                  <a:latin typeface="Roboto"/>
                  <a:ea typeface="Roboto"/>
                  <a:cs typeface="Roboto"/>
                  <a:sym typeface="Roboto"/>
                </a:rPr>
                <a:t>Market and Industry Data.</a:t>
              </a:r>
              <a:r>
                <a:rPr lang="en-US" sz="1300">
                  <a:solidFill>
                    <a:schemeClr val="lt1"/>
                  </a:solidFill>
                  <a:latin typeface="Roboto"/>
                  <a:ea typeface="Roboto"/>
                  <a:cs typeface="Roboto"/>
                  <a:sym typeface="Roboto"/>
                </a:rPr>
                <a:t> This presentation contains estimates and information concerning our industry, including market position and the size and growth rates of the markets in which we participate, that are based on industry publications and reports and other information from our internal sources. This information involves a number of assumptions and limitations, and you are cautioned not to give undue weight to these estimates. We have not independently verified the accuracy or completeness of the data contained in these industry publications and reports. The industry in which we operate is subject to a high degree of uncertainty and risk.</a:t>
              </a:r>
              <a:endParaRPr sz="1300">
                <a:solidFill>
                  <a:schemeClr val="lt1"/>
                </a:solidFill>
                <a:latin typeface="Roboto"/>
                <a:ea typeface="Roboto"/>
                <a:cs typeface="Roboto"/>
                <a:sym typeface="Roboto"/>
              </a:endParaRPr>
            </a:p>
            <a:p>
              <a:pPr indent="0" lvl="0" marL="0" marR="0" rtl="0" algn="l">
                <a:lnSpc>
                  <a:spcPct val="139958"/>
                </a:lnSpc>
                <a:spcBef>
                  <a:spcPts val="1600"/>
                </a:spcBef>
                <a:spcAft>
                  <a:spcPts val="0"/>
                </a:spcAft>
                <a:buNone/>
              </a:pPr>
              <a:r>
                <a:t/>
              </a:r>
              <a:endParaRPr sz="3000">
                <a:solidFill>
                  <a:srgbClr val="D9E6FB"/>
                </a:solidFill>
                <a:latin typeface="Proxima Nova"/>
                <a:ea typeface="Proxima Nova"/>
                <a:cs typeface="Proxima Nova"/>
                <a:sym typeface="Proxima Nova"/>
              </a:endParaRPr>
            </a:p>
          </p:txBody>
        </p:sp>
        <p:sp>
          <p:nvSpPr>
            <p:cNvPr id="101" name="Google Shape;101;g390c5ac42cb_0_0"/>
            <p:cNvSpPr txBox="1"/>
            <p:nvPr/>
          </p:nvSpPr>
          <p:spPr>
            <a:xfrm>
              <a:off x="0" y="66675"/>
              <a:ext cx="9182100" cy="135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6000">
                  <a:solidFill>
                    <a:srgbClr val="FFFFFF"/>
                  </a:solidFill>
                  <a:latin typeface="Poppins"/>
                  <a:ea typeface="Poppins"/>
                  <a:cs typeface="Poppins"/>
                  <a:sym typeface="Poppins"/>
                </a:rPr>
                <a:t>Forward-Looking </a:t>
              </a:r>
              <a:endParaRPr b="1" sz="6000">
                <a:solidFill>
                  <a:srgbClr val="FFFFFF"/>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Font typeface="Arial"/>
                <a:buNone/>
              </a:pPr>
              <a:r>
                <a:rPr b="1" lang="en-US" sz="6000">
                  <a:solidFill>
                    <a:srgbClr val="FFFFFF"/>
                  </a:solidFill>
                  <a:latin typeface="Poppins"/>
                  <a:ea typeface="Poppins"/>
                  <a:cs typeface="Poppins"/>
                  <a:sym typeface="Poppins"/>
                </a:rPr>
                <a:t>Statements</a:t>
              </a:r>
              <a:endParaRPr sz="1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05" name="Shape 105"/>
        <p:cNvGrpSpPr/>
        <p:nvPr/>
      </p:nvGrpSpPr>
      <p:grpSpPr>
        <a:xfrm>
          <a:off x="0" y="0"/>
          <a:ext cx="0" cy="0"/>
          <a:chOff x="0" y="0"/>
          <a:chExt cx="0" cy="0"/>
        </a:xfrm>
      </p:grpSpPr>
      <p:sp>
        <p:nvSpPr>
          <p:cNvPr id="106" name="Google Shape;106;p2"/>
          <p:cNvSpPr/>
          <p:nvPr/>
        </p:nvSpPr>
        <p:spPr>
          <a:xfrm>
            <a:off x="9144000" y="0"/>
            <a:ext cx="9144000" cy="10287000"/>
          </a:xfrm>
          <a:custGeom>
            <a:rect b="b" l="l" r="r" t="t"/>
            <a:pathLst>
              <a:path extrusionOk="0" h="1640244" w="1457995">
                <a:moveTo>
                  <a:pt x="0" y="0"/>
                </a:moveTo>
                <a:lnTo>
                  <a:pt x="1457995" y="0"/>
                </a:lnTo>
                <a:lnTo>
                  <a:pt x="1457995" y="1640244"/>
                </a:lnTo>
                <a:lnTo>
                  <a:pt x="0" y="1640244"/>
                </a:lnTo>
                <a:close/>
              </a:path>
            </a:pathLst>
          </a:custGeom>
          <a:blipFill rotWithShape="1">
            <a:blip r:embed="rId3">
              <a:alphaModFix/>
            </a:blip>
            <a:stretch>
              <a:fillRect b="-217" l="0" r="0" t="-217"/>
            </a:stretch>
          </a:blipFill>
          <a:ln>
            <a:noFill/>
          </a:ln>
        </p:spPr>
        <p:txBody>
          <a:bodyPr/>
          <a:p/>
        </p:txBody>
      </p:sp>
      <p:grpSp>
        <p:nvGrpSpPr>
          <p:cNvPr id="107" name="Google Shape;107;p2"/>
          <p:cNvGrpSpPr/>
          <p:nvPr/>
        </p:nvGrpSpPr>
        <p:grpSpPr>
          <a:xfrm>
            <a:off x="672042" y="659606"/>
            <a:ext cx="14329825" cy="9328877"/>
            <a:chOff x="0" y="-9525"/>
            <a:chExt cx="19106433" cy="12438503"/>
          </a:xfrm>
        </p:grpSpPr>
        <p:sp>
          <p:nvSpPr>
            <p:cNvPr id="108" name="Google Shape;108;p2"/>
            <p:cNvSpPr txBox="1"/>
            <p:nvPr/>
          </p:nvSpPr>
          <p:spPr>
            <a:xfrm>
              <a:off x="3767" y="2549450"/>
              <a:ext cx="9167400" cy="9481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000">
                  <a:solidFill>
                    <a:srgbClr val="B3C7F9"/>
                  </a:solidFill>
                  <a:latin typeface="Proxima Nova"/>
                  <a:ea typeface="Proxima Nova"/>
                  <a:cs typeface="Proxima Nova"/>
                  <a:sym typeface="Proxima Nova"/>
                </a:rPr>
                <a:t>Quantiva (NASDAQ: QNTA) was founded on a simple belief: </a:t>
              </a:r>
              <a:endParaRPr b="1" sz="3000">
                <a:solidFill>
                  <a:srgbClr val="B3C7F9"/>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rPr b="1" lang="en-US" sz="2100">
                  <a:solidFill>
                    <a:schemeClr val="lt1"/>
                  </a:solidFill>
                  <a:latin typeface="Proxima Nova"/>
                  <a:ea typeface="Proxima Nova"/>
                  <a:cs typeface="Proxima Nova"/>
                  <a:sym typeface="Proxima Nova"/>
                </a:rPr>
                <a:t>Investment professionals deserve modern technology that actually works for them. Not legacy systems that slow them down. Not fragmented data that creates confusion. But one comprehensive platform that gives you complete visibility and crystal-clear insights.</a:t>
              </a:r>
              <a:endParaRPr b="1" sz="2100">
                <a:solidFill>
                  <a:schemeClr val="lt1"/>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t/>
              </a:r>
              <a:endParaRPr b="1" sz="3000">
                <a:solidFill>
                  <a:srgbClr val="B3C7F9"/>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rPr b="1" lang="en-US" sz="3000">
                  <a:solidFill>
                    <a:srgbClr val="B3C7F9"/>
                  </a:solidFill>
                  <a:latin typeface="Proxima Nova"/>
                  <a:ea typeface="Proxima Nova"/>
                  <a:cs typeface="Proxima Nova"/>
                  <a:sym typeface="Proxima Nova"/>
                </a:rPr>
                <a:t>The result?</a:t>
              </a:r>
              <a:r>
                <a:rPr b="1" lang="en-US" sz="2100">
                  <a:solidFill>
                    <a:schemeClr val="lt1"/>
                  </a:solidFill>
                  <a:latin typeface="Proxima Nova"/>
                  <a:ea typeface="Proxima Nova"/>
                  <a:cs typeface="Proxima Nova"/>
                  <a:sym typeface="Proxima Nova"/>
                </a:rPr>
                <a:t> </a:t>
              </a:r>
              <a:endParaRPr b="1" sz="2100">
                <a:solidFill>
                  <a:schemeClr val="lt1"/>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rPr b="1" lang="en-US" sz="2100">
                  <a:solidFill>
                    <a:schemeClr val="lt1"/>
                  </a:solidFill>
                  <a:latin typeface="Proxima Nova"/>
                  <a:ea typeface="Proxima Nova"/>
                  <a:cs typeface="Proxima Nova"/>
                  <a:sym typeface="Proxima Nova"/>
                </a:rPr>
                <a:t>Investment management that works as seamlessly as your investment strategy.</a:t>
              </a:r>
              <a:endParaRPr b="1" sz="2100">
                <a:solidFill>
                  <a:schemeClr val="lt1"/>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t/>
              </a:r>
              <a:endParaRPr b="1" sz="3000">
                <a:solidFill>
                  <a:srgbClr val="B3C7F9"/>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rPr b="1" lang="en-US" sz="3000">
                  <a:solidFill>
                    <a:srgbClr val="B3C7F9"/>
                  </a:solidFill>
                  <a:latin typeface="Proxima Nova"/>
                  <a:ea typeface="Proxima Nova"/>
                  <a:cs typeface="Proxima Nova"/>
                  <a:sym typeface="Proxima Nova"/>
                </a:rPr>
                <a:t>Since our founding in 2004,</a:t>
              </a:r>
              <a:r>
                <a:rPr b="1" lang="en-US" sz="2100">
                  <a:solidFill>
                    <a:schemeClr val="lt1"/>
                  </a:solidFill>
                  <a:latin typeface="Proxima Nova"/>
                  <a:ea typeface="Proxima Nova"/>
                  <a:cs typeface="Proxima Nova"/>
                  <a:sym typeface="Proxima Nova"/>
                </a:rPr>
                <a:t> </a:t>
              </a:r>
              <a:endParaRPr b="1" sz="2100">
                <a:solidFill>
                  <a:schemeClr val="lt1"/>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rPr b="1" lang="en-US" sz="2100">
                  <a:solidFill>
                    <a:schemeClr val="lt1"/>
                  </a:solidFill>
                  <a:latin typeface="Proxima Nova"/>
                  <a:ea typeface="Proxima Nova"/>
                  <a:cs typeface="Proxima Nova"/>
                  <a:sym typeface="Proxima Nova"/>
                </a:rPr>
                <a:t>Quantiva has been the trusted technology partner powering the world’s leading institutional investors — from insurance companies, asset managers, and hedge funds to asset owners like corporations, endowments, and pension funds managing over $10 trillion in assets.</a:t>
              </a:r>
              <a:endParaRPr b="1" sz="2100">
                <a:solidFill>
                  <a:schemeClr val="lt1"/>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t/>
              </a:r>
              <a:endParaRPr b="1" sz="3000">
                <a:solidFill>
                  <a:srgbClr val="B3C7F9"/>
                </a:solidFill>
                <a:latin typeface="Proxima Nova"/>
                <a:ea typeface="Proxima Nova"/>
                <a:cs typeface="Proxima Nova"/>
                <a:sym typeface="Proxima Nova"/>
              </a:endParaRPr>
            </a:p>
          </p:txBody>
        </p:sp>
        <p:sp>
          <p:nvSpPr>
            <p:cNvPr id="109" name="Google Shape;109;p2"/>
            <p:cNvSpPr txBox="1"/>
            <p:nvPr/>
          </p:nvSpPr>
          <p:spPr>
            <a:xfrm>
              <a:off x="9924333" y="12141578"/>
              <a:ext cx="9182100" cy="287400"/>
            </a:xfrm>
            <a:prstGeom prst="rect">
              <a:avLst/>
            </a:prstGeom>
            <a:noFill/>
            <a:ln>
              <a:noFill/>
            </a:ln>
          </p:spPr>
          <p:txBody>
            <a:bodyPr anchorCtr="0" anchor="t" bIns="0" lIns="0" spcFirstLastPara="1" rIns="0" wrap="square" tIns="0">
              <a:spAutoFit/>
            </a:bodyPr>
            <a:lstStyle/>
            <a:p>
              <a:pPr indent="0" lvl="0" marL="914400" marR="0" rtl="0" algn="l">
                <a:lnSpc>
                  <a:spcPct val="130000"/>
                </a:lnSpc>
                <a:spcBef>
                  <a:spcPts val="0"/>
                </a:spcBef>
                <a:spcAft>
                  <a:spcPts val="0"/>
                </a:spcAft>
                <a:buNone/>
              </a:pPr>
              <a:r>
                <a:t/>
              </a:r>
              <a:endParaRPr/>
            </a:p>
          </p:txBody>
        </p:sp>
        <p:sp>
          <p:nvSpPr>
            <p:cNvPr id="110" name="Google Shape;110;p2"/>
            <p:cNvSpPr txBox="1"/>
            <p:nvPr/>
          </p:nvSpPr>
          <p:spPr>
            <a:xfrm>
              <a:off x="0" y="-9525"/>
              <a:ext cx="9174900" cy="1641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8000">
                  <a:solidFill>
                    <a:srgbClr val="FFFFFF"/>
                  </a:solidFill>
                  <a:latin typeface="Poppins"/>
                  <a:ea typeface="Poppins"/>
                  <a:cs typeface="Poppins"/>
                  <a:sym typeface="Poppins"/>
                </a:rPr>
                <a:t>Who We Are</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14" name="Shape 114"/>
        <p:cNvGrpSpPr/>
        <p:nvPr/>
      </p:nvGrpSpPr>
      <p:grpSpPr>
        <a:xfrm>
          <a:off x="0" y="0"/>
          <a:ext cx="0" cy="0"/>
          <a:chOff x="0" y="0"/>
          <a:chExt cx="0" cy="0"/>
        </a:xfrm>
      </p:grpSpPr>
      <p:sp>
        <p:nvSpPr>
          <p:cNvPr id="115" name="Google Shape;115;g390c5ac42cb_0_62"/>
          <p:cNvSpPr/>
          <p:nvPr/>
        </p:nvSpPr>
        <p:spPr>
          <a:xfrm>
            <a:off x="9144000" y="0"/>
            <a:ext cx="9145274" cy="10288430"/>
          </a:xfrm>
          <a:custGeom>
            <a:rect b="b" l="l" r="r" t="t"/>
            <a:pathLst>
              <a:path extrusionOk="0" h="1640244" w="1457995">
                <a:moveTo>
                  <a:pt x="0" y="0"/>
                </a:moveTo>
                <a:lnTo>
                  <a:pt x="1457995" y="0"/>
                </a:lnTo>
                <a:lnTo>
                  <a:pt x="1457995" y="1640244"/>
                </a:lnTo>
                <a:lnTo>
                  <a:pt x="0" y="1640244"/>
                </a:lnTo>
                <a:close/>
              </a:path>
            </a:pathLst>
          </a:custGeom>
          <a:blipFill rotWithShape="1">
            <a:blip r:embed="rId3">
              <a:alphaModFix/>
            </a:blip>
            <a:stretch>
              <a:fillRect b="-219" l="0" r="0" t="-219"/>
            </a:stretch>
          </a:blipFill>
          <a:ln>
            <a:noFill/>
          </a:ln>
        </p:spPr>
        <p:txBody>
          <a:bodyPr/>
          <a:p/>
        </p:txBody>
      </p:sp>
      <p:grpSp>
        <p:nvGrpSpPr>
          <p:cNvPr id="116" name="Google Shape;116;g390c5ac42cb_0_62"/>
          <p:cNvGrpSpPr/>
          <p:nvPr/>
        </p:nvGrpSpPr>
        <p:grpSpPr>
          <a:xfrm>
            <a:off x="606825" y="387225"/>
            <a:ext cx="14329817" cy="9328871"/>
            <a:chOff x="11" y="-9517"/>
            <a:chExt cx="19106423" cy="12438495"/>
          </a:xfrm>
        </p:grpSpPr>
        <p:sp>
          <p:nvSpPr>
            <p:cNvPr id="117" name="Google Shape;117;g390c5ac42cb_0_62"/>
            <p:cNvSpPr txBox="1"/>
            <p:nvPr/>
          </p:nvSpPr>
          <p:spPr>
            <a:xfrm>
              <a:off x="11" y="3577567"/>
              <a:ext cx="10911300" cy="87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000">
                  <a:solidFill>
                    <a:srgbClr val="B3C7F9"/>
                  </a:solidFill>
                  <a:latin typeface="Proxima Nova"/>
                  <a:ea typeface="Proxima Nova"/>
                  <a:cs typeface="Proxima Nova"/>
                  <a:sym typeface="Proxima Nova"/>
                </a:rPr>
                <a:t>Investment Accounting and Reporting</a:t>
              </a:r>
              <a:endParaRPr b="1" sz="3000">
                <a:solidFill>
                  <a:srgbClr val="B3C7F9"/>
                </a:solidFill>
                <a:latin typeface="Proxima Nova"/>
                <a:ea typeface="Proxima Nova"/>
                <a:cs typeface="Proxima Nova"/>
                <a:sym typeface="Proxima Nova"/>
              </a:endParaRPr>
            </a:p>
            <a:p>
              <a:pPr indent="-381000" lvl="0" marL="914400" marR="0" rtl="0" algn="l">
                <a:lnSpc>
                  <a:spcPct val="100000"/>
                </a:lnSpc>
                <a:spcBef>
                  <a:spcPts val="0"/>
                </a:spcBef>
                <a:spcAft>
                  <a:spcPts val="0"/>
                </a:spcAft>
                <a:buClr>
                  <a:schemeClr val="lt1"/>
                </a:buClr>
                <a:buSzPts val="2400"/>
                <a:buFont typeface="Proxima Nova"/>
                <a:buChar char="★"/>
              </a:pPr>
              <a:r>
                <a:rPr b="1" lang="en-US" sz="2400">
                  <a:solidFill>
                    <a:schemeClr val="lt1"/>
                  </a:solidFill>
                  <a:latin typeface="Proxima Nova"/>
                  <a:ea typeface="Proxima Nova"/>
                  <a:cs typeface="Proxima Nova"/>
                  <a:sym typeface="Proxima Nova"/>
                </a:rPr>
                <a:t>Multi-Asset Class; Multi-Currency</a:t>
              </a:r>
              <a:endParaRPr b="1" sz="2400">
                <a:solidFill>
                  <a:schemeClr val="lt1"/>
                </a:solidFill>
                <a:latin typeface="Proxima Nova"/>
                <a:ea typeface="Proxima Nova"/>
                <a:cs typeface="Proxima Nova"/>
                <a:sym typeface="Proxima Nova"/>
              </a:endParaRPr>
            </a:p>
            <a:p>
              <a:pPr indent="-381000" lvl="0" marL="914400" marR="0" rtl="0" algn="l">
                <a:lnSpc>
                  <a:spcPct val="100000"/>
                </a:lnSpc>
                <a:spcBef>
                  <a:spcPts val="0"/>
                </a:spcBef>
                <a:spcAft>
                  <a:spcPts val="0"/>
                </a:spcAft>
                <a:buClr>
                  <a:schemeClr val="lt1"/>
                </a:buClr>
                <a:buSzPts val="2400"/>
                <a:buFont typeface="Proxima Nova"/>
                <a:buChar char="★"/>
              </a:pPr>
              <a:r>
                <a:rPr b="1" lang="en-US" sz="2400">
                  <a:solidFill>
                    <a:schemeClr val="lt1"/>
                  </a:solidFill>
                  <a:latin typeface="Proxima Nova"/>
                  <a:ea typeface="Proxima Nova"/>
                  <a:cs typeface="Proxima Nova"/>
                  <a:sym typeface="Proxima Nova"/>
                </a:rPr>
                <a:t>Operational and Regulatory Accounting</a:t>
              </a:r>
              <a:endParaRPr b="1" sz="2400">
                <a:solidFill>
                  <a:schemeClr val="lt1"/>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t/>
              </a:r>
              <a:endParaRPr b="1" sz="3000">
                <a:solidFill>
                  <a:srgbClr val="B3C7F9"/>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rPr b="1" lang="en-US" sz="3000">
                  <a:solidFill>
                    <a:srgbClr val="B3C7F9"/>
                  </a:solidFill>
                  <a:latin typeface="Proxima Nova"/>
                  <a:ea typeface="Proxima Nova"/>
                  <a:cs typeface="Proxima Nova"/>
                  <a:sym typeface="Proxima Nova"/>
                </a:rPr>
                <a:t>Performance Measurement</a:t>
              </a:r>
              <a:endParaRPr b="1" sz="3000">
                <a:solidFill>
                  <a:srgbClr val="B3C7F9"/>
                </a:solidFill>
                <a:latin typeface="Proxima Nova"/>
                <a:ea typeface="Proxima Nova"/>
                <a:cs typeface="Proxima Nova"/>
                <a:sym typeface="Proxima Nova"/>
              </a:endParaRPr>
            </a:p>
            <a:p>
              <a:pPr indent="-381000" lvl="0" marL="914400" rtl="0" algn="l">
                <a:spcBef>
                  <a:spcPts val="0"/>
                </a:spcBef>
                <a:spcAft>
                  <a:spcPts val="0"/>
                </a:spcAft>
                <a:buClr>
                  <a:schemeClr val="lt1"/>
                </a:buClr>
                <a:buSzPts val="2400"/>
                <a:buFont typeface="Proxima Nova"/>
                <a:buChar char="★"/>
              </a:pPr>
              <a:r>
                <a:rPr b="1" lang="en-US" sz="2400">
                  <a:solidFill>
                    <a:schemeClr val="lt1"/>
                  </a:solidFill>
                  <a:latin typeface="Proxima Nova"/>
                  <a:ea typeface="Proxima Nova"/>
                  <a:cs typeface="Proxima Nova"/>
                  <a:sym typeface="Proxima Nova"/>
                </a:rPr>
                <a:t>GIPS Compliant Composites</a:t>
              </a:r>
              <a:endParaRPr b="1" sz="2400">
                <a:solidFill>
                  <a:schemeClr val="lt1"/>
                </a:solidFill>
                <a:latin typeface="Proxima Nova"/>
                <a:ea typeface="Proxima Nova"/>
                <a:cs typeface="Proxima Nova"/>
                <a:sym typeface="Proxima Nova"/>
              </a:endParaRPr>
            </a:p>
            <a:p>
              <a:pPr indent="-381000" lvl="0" marL="914400" rtl="0" algn="l">
                <a:spcBef>
                  <a:spcPts val="0"/>
                </a:spcBef>
                <a:spcAft>
                  <a:spcPts val="0"/>
                </a:spcAft>
                <a:buClr>
                  <a:schemeClr val="lt1"/>
                </a:buClr>
                <a:buSzPts val="2400"/>
                <a:buFont typeface="Proxima Nova"/>
                <a:buChar char="★"/>
              </a:pPr>
              <a:r>
                <a:rPr b="1" lang="en-US" sz="2400">
                  <a:solidFill>
                    <a:schemeClr val="lt1"/>
                  </a:solidFill>
                  <a:latin typeface="Proxima Nova"/>
                  <a:ea typeface="Proxima Nova"/>
                  <a:cs typeface="Proxima Nova"/>
                  <a:sym typeface="Proxima Nova"/>
                </a:rPr>
                <a:t>Custom Benchmarks</a:t>
              </a:r>
              <a:endParaRPr b="1" sz="2400">
                <a:solidFill>
                  <a:schemeClr val="lt1"/>
                </a:solidFill>
                <a:latin typeface="Proxima Nova"/>
                <a:ea typeface="Proxima Nova"/>
                <a:cs typeface="Proxima Nova"/>
                <a:sym typeface="Proxima Nova"/>
              </a:endParaRPr>
            </a:p>
            <a:p>
              <a:pPr indent="-381000" lvl="0" marL="914400" rtl="0" algn="l">
                <a:spcBef>
                  <a:spcPts val="0"/>
                </a:spcBef>
                <a:spcAft>
                  <a:spcPts val="0"/>
                </a:spcAft>
                <a:buClr>
                  <a:schemeClr val="lt1"/>
                </a:buClr>
                <a:buSzPts val="2400"/>
                <a:buFont typeface="Proxima Nova"/>
                <a:buChar char="★"/>
              </a:pPr>
              <a:r>
                <a:rPr b="1" lang="en-US" sz="2400">
                  <a:solidFill>
                    <a:schemeClr val="lt1"/>
                  </a:solidFill>
                  <a:latin typeface="Proxima Nova"/>
                  <a:ea typeface="Proxima Nova"/>
                  <a:cs typeface="Proxima Nova"/>
                  <a:sym typeface="Proxima Nova"/>
                </a:rPr>
                <a:t>Multi-Level Portfolio Performance Reporting</a:t>
              </a:r>
              <a:endParaRPr b="1" sz="3000">
                <a:solidFill>
                  <a:srgbClr val="B3C7F9"/>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t/>
              </a:r>
              <a:endParaRPr b="1" sz="3000">
                <a:solidFill>
                  <a:srgbClr val="B3C7F9"/>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rPr b="1" lang="en-US" sz="3000">
                  <a:solidFill>
                    <a:srgbClr val="B3C7F9"/>
                  </a:solidFill>
                  <a:latin typeface="Proxima Nova"/>
                  <a:ea typeface="Proxima Nova"/>
                  <a:cs typeface="Proxima Nova"/>
                  <a:sym typeface="Proxima Nova"/>
                </a:rPr>
                <a:t>Compliance Monitoring</a:t>
              </a:r>
              <a:endParaRPr b="1" sz="3000">
                <a:solidFill>
                  <a:srgbClr val="B3C7F9"/>
                </a:solidFill>
                <a:latin typeface="Proxima Nova"/>
                <a:ea typeface="Proxima Nova"/>
                <a:cs typeface="Proxima Nova"/>
                <a:sym typeface="Proxima Nova"/>
              </a:endParaRPr>
            </a:p>
            <a:p>
              <a:pPr indent="-381000" lvl="0" marL="914400" rtl="0" algn="l">
                <a:spcBef>
                  <a:spcPts val="0"/>
                </a:spcBef>
                <a:spcAft>
                  <a:spcPts val="0"/>
                </a:spcAft>
                <a:buClr>
                  <a:schemeClr val="lt1"/>
                </a:buClr>
                <a:buSzPts val="2400"/>
                <a:buFont typeface="Proxima Nova"/>
                <a:buChar char="★"/>
              </a:pPr>
              <a:r>
                <a:rPr b="1" lang="en-US" sz="2400">
                  <a:solidFill>
                    <a:schemeClr val="lt1"/>
                  </a:solidFill>
                  <a:latin typeface="Proxima Nova"/>
                  <a:ea typeface="Proxima Nova"/>
                  <a:cs typeface="Proxima Nova"/>
                  <a:sym typeface="Proxima Nova"/>
                </a:rPr>
                <a:t>Investment Guideline Coding</a:t>
              </a:r>
              <a:endParaRPr b="1" sz="2400">
                <a:solidFill>
                  <a:schemeClr val="lt1"/>
                </a:solidFill>
                <a:latin typeface="Proxima Nova"/>
                <a:ea typeface="Proxima Nova"/>
                <a:cs typeface="Proxima Nova"/>
                <a:sym typeface="Proxima Nova"/>
              </a:endParaRPr>
            </a:p>
            <a:p>
              <a:pPr indent="-381000" lvl="0" marL="914400" rtl="0" algn="l">
                <a:spcBef>
                  <a:spcPts val="0"/>
                </a:spcBef>
                <a:spcAft>
                  <a:spcPts val="0"/>
                </a:spcAft>
                <a:buClr>
                  <a:schemeClr val="lt1"/>
                </a:buClr>
                <a:buSzPts val="2400"/>
                <a:buFont typeface="Proxima Nova"/>
                <a:buChar char="★"/>
              </a:pPr>
              <a:r>
                <a:rPr b="1" lang="en-US" sz="2400">
                  <a:solidFill>
                    <a:schemeClr val="lt1"/>
                  </a:solidFill>
                  <a:latin typeface="Proxima Nova"/>
                  <a:ea typeface="Proxima Nova"/>
                  <a:cs typeface="Proxima Nova"/>
                  <a:sym typeface="Proxima Nova"/>
                </a:rPr>
                <a:t>Pre- and Post-Trade Compliance Checks</a:t>
              </a:r>
              <a:endParaRPr b="1" sz="2400">
                <a:solidFill>
                  <a:schemeClr val="lt1"/>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t/>
              </a:r>
              <a:endParaRPr b="1" sz="3000">
                <a:solidFill>
                  <a:srgbClr val="B3C7F9"/>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rPr b="1" lang="en-US" sz="3000">
                  <a:solidFill>
                    <a:srgbClr val="B3C7F9"/>
                  </a:solidFill>
                  <a:latin typeface="Proxima Nova"/>
                  <a:ea typeface="Proxima Nova"/>
                  <a:cs typeface="Proxima Nova"/>
                  <a:sym typeface="Proxima Nova"/>
                </a:rPr>
                <a:t>Risk Analytics</a:t>
              </a:r>
              <a:endParaRPr b="1" sz="3000">
                <a:solidFill>
                  <a:srgbClr val="B3C7F9"/>
                </a:solidFill>
                <a:latin typeface="Proxima Nova"/>
                <a:ea typeface="Proxima Nova"/>
                <a:cs typeface="Proxima Nova"/>
                <a:sym typeface="Proxima Nova"/>
              </a:endParaRPr>
            </a:p>
            <a:p>
              <a:pPr indent="-381000" lvl="0" marL="914400" rtl="0" algn="l">
                <a:spcBef>
                  <a:spcPts val="0"/>
                </a:spcBef>
                <a:spcAft>
                  <a:spcPts val="0"/>
                </a:spcAft>
                <a:buClr>
                  <a:schemeClr val="lt1"/>
                </a:buClr>
                <a:buSzPts val="2400"/>
                <a:buFont typeface="Proxima Nova"/>
                <a:buChar char="★"/>
              </a:pPr>
              <a:r>
                <a:rPr b="1" lang="en-US" sz="2400">
                  <a:solidFill>
                    <a:schemeClr val="lt1"/>
                  </a:solidFill>
                  <a:latin typeface="Proxima Nova"/>
                  <a:ea typeface="Proxima Nova"/>
                  <a:cs typeface="Proxima Nova"/>
                  <a:sym typeface="Proxima Nova"/>
                </a:rPr>
                <a:t>Powerful risk exposure reporting</a:t>
              </a:r>
              <a:endParaRPr b="1" sz="2400">
                <a:solidFill>
                  <a:schemeClr val="lt1"/>
                </a:solidFill>
                <a:latin typeface="Proxima Nova"/>
                <a:ea typeface="Proxima Nova"/>
                <a:cs typeface="Proxima Nova"/>
                <a:sym typeface="Proxima Nova"/>
              </a:endParaRPr>
            </a:p>
            <a:p>
              <a:pPr indent="-381000" lvl="0" marL="914400" rtl="0" algn="l">
                <a:spcBef>
                  <a:spcPts val="0"/>
                </a:spcBef>
                <a:spcAft>
                  <a:spcPts val="0"/>
                </a:spcAft>
                <a:buClr>
                  <a:schemeClr val="lt1"/>
                </a:buClr>
                <a:buSzPts val="2400"/>
                <a:buFont typeface="Proxima Nova"/>
                <a:buChar char="★"/>
              </a:pPr>
              <a:r>
                <a:rPr b="1" lang="en-US" sz="2400">
                  <a:solidFill>
                    <a:schemeClr val="lt1"/>
                  </a:solidFill>
                  <a:latin typeface="Proxima Nova"/>
                  <a:ea typeface="Proxima Nova"/>
                  <a:cs typeface="Proxima Nova"/>
                  <a:sym typeface="Proxima Nova"/>
                </a:rPr>
                <a:t>Scenario Analysis, VaR, risk factor contributions</a:t>
              </a:r>
              <a:endParaRPr b="1" sz="2400">
                <a:solidFill>
                  <a:schemeClr val="lt1"/>
                </a:solidFill>
                <a:latin typeface="Proxima Nova"/>
                <a:ea typeface="Proxima Nova"/>
                <a:cs typeface="Proxima Nova"/>
                <a:sym typeface="Proxima Nova"/>
              </a:endParaRPr>
            </a:p>
          </p:txBody>
        </p:sp>
        <p:sp>
          <p:nvSpPr>
            <p:cNvPr id="118" name="Google Shape;118;g390c5ac42cb_0_62"/>
            <p:cNvSpPr txBox="1"/>
            <p:nvPr/>
          </p:nvSpPr>
          <p:spPr>
            <a:xfrm>
              <a:off x="9924333" y="12141578"/>
              <a:ext cx="9182100" cy="287400"/>
            </a:xfrm>
            <a:prstGeom prst="rect">
              <a:avLst/>
            </a:prstGeom>
            <a:noFill/>
            <a:ln>
              <a:noFill/>
            </a:ln>
          </p:spPr>
          <p:txBody>
            <a:bodyPr anchorCtr="0" anchor="t" bIns="0" lIns="0" spcFirstLastPara="1" rIns="0" wrap="square" tIns="0">
              <a:spAutoFit/>
            </a:bodyPr>
            <a:lstStyle/>
            <a:p>
              <a:pPr indent="0" lvl="0" marL="914400" marR="0" rtl="0" algn="l">
                <a:lnSpc>
                  <a:spcPct val="130000"/>
                </a:lnSpc>
                <a:spcBef>
                  <a:spcPts val="0"/>
                </a:spcBef>
                <a:spcAft>
                  <a:spcPts val="0"/>
                </a:spcAft>
                <a:buNone/>
              </a:pPr>
              <a:r>
                <a:t/>
              </a:r>
              <a:endParaRPr/>
            </a:p>
          </p:txBody>
        </p:sp>
        <p:sp>
          <p:nvSpPr>
            <p:cNvPr id="119" name="Google Shape;119;g390c5ac42cb_0_62"/>
            <p:cNvSpPr txBox="1"/>
            <p:nvPr/>
          </p:nvSpPr>
          <p:spPr>
            <a:xfrm>
              <a:off x="13" y="-9517"/>
              <a:ext cx="11382900" cy="344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8000">
                  <a:solidFill>
                    <a:schemeClr val="lt1"/>
                  </a:solidFill>
                  <a:latin typeface="Poppins"/>
                  <a:ea typeface="Poppins"/>
                  <a:cs typeface="Poppins"/>
                  <a:sym typeface="Poppins"/>
                </a:rPr>
                <a:t>Quantiva Solutions</a:t>
              </a:r>
              <a:endParaRPr>
                <a:solidFill>
                  <a:schemeClr val="lt1"/>
                </a:solidFil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23" name="Shape 123"/>
        <p:cNvGrpSpPr/>
        <p:nvPr/>
      </p:nvGrpSpPr>
      <p:grpSpPr>
        <a:xfrm>
          <a:off x="0" y="0"/>
          <a:ext cx="0" cy="0"/>
          <a:chOff x="0" y="0"/>
          <a:chExt cx="0" cy="0"/>
        </a:xfrm>
      </p:grpSpPr>
      <p:grpSp>
        <p:nvGrpSpPr>
          <p:cNvPr id="124" name="Google Shape;124;p4"/>
          <p:cNvGrpSpPr/>
          <p:nvPr/>
        </p:nvGrpSpPr>
        <p:grpSpPr>
          <a:xfrm>
            <a:off x="10231650" y="1143550"/>
            <a:ext cx="6759000" cy="1618089"/>
            <a:chOff x="-670683" y="-9533"/>
            <a:chExt cx="9012000" cy="2157453"/>
          </a:xfrm>
        </p:grpSpPr>
        <p:sp>
          <p:nvSpPr>
            <p:cNvPr id="125" name="Google Shape;125;p4"/>
            <p:cNvSpPr txBox="1"/>
            <p:nvPr/>
          </p:nvSpPr>
          <p:spPr>
            <a:xfrm>
              <a:off x="-50" y="1532319"/>
              <a:ext cx="7670700" cy="615600"/>
            </a:xfrm>
            <a:prstGeom prst="rect">
              <a:avLst/>
            </a:prstGeom>
            <a:noFill/>
            <a:ln>
              <a:noFill/>
            </a:ln>
          </p:spPr>
          <p:txBody>
            <a:bodyPr anchorCtr="0" anchor="t" bIns="0" lIns="0" spcFirstLastPara="1" rIns="0" wrap="square" tIns="0">
              <a:spAutoFit/>
            </a:bodyPr>
            <a:lstStyle/>
            <a:p>
              <a:pPr indent="0" lvl="0" marL="0" marR="0" rtl="0" algn="ctr">
                <a:lnSpc>
                  <a:spcPct val="120007"/>
                </a:lnSpc>
                <a:spcBef>
                  <a:spcPts val="0"/>
                </a:spcBef>
                <a:spcAft>
                  <a:spcPts val="0"/>
                </a:spcAft>
                <a:buNone/>
              </a:pPr>
              <a:r>
                <a:rPr b="0" i="0" lang="en-US" sz="3000" u="none" cap="none" strike="noStrike">
                  <a:solidFill>
                    <a:srgbClr val="D9E6FB"/>
                  </a:solidFill>
                  <a:latin typeface="Proxima Nova"/>
                  <a:ea typeface="Proxima Nova"/>
                  <a:cs typeface="Proxima Nova"/>
                  <a:sym typeface="Proxima Nova"/>
                </a:rPr>
                <a:t>Total Shares Offered</a:t>
              </a:r>
              <a:endParaRPr sz="3000"/>
            </a:p>
          </p:txBody>
        </p:sp>
        <p:sp>
          <p:nvSpPr>
            <p:cNvPr id="126" name="Google Shape;126;p4"/>
            <p:cNvSpPr txBox="1"/>
            <p:nvPr/>
          </p:nvSpPr>
          <p:spPr>
            <a:xfrm>
              <a:off x="-670683" y="-9533"/>
              <a:ext cx="9012000" cy="12315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lang="en-US" sz="6000">
                  <a:solidFill>
                    <a:srgbClr val="FFFFFF"/>
                  </a:solidFill>
                  <a:latin typeface="Poppins"/>
                  <a:ea typeface="Poppins"/>
                  <a:cs typeface="Poppins"/>
                  <a:sym typeface="Poppins"/>
                </a:rPr>
                <a:t>40</a:t>
              </a:r>
              <a:r>
                <a:rPr b="1" i="0" lang="en-US" sz="6000" u="none" cap="none" strike="noStrike">
                  <a:solidFill>
                    <a:srgbClr val="FFFFFF"/>
                  </a:solidFill>
                  <a:latin typeface="Poppins"/>
                  <a:ea typeface="Poppins"/>
                  <a:cs typeface="Poppins"/>
                  <a:sym typeface="Poppins"/>
                </a:rPr>
                <a:t>,000,000</a:t>
              </a:r>
              <a:endParaRPr sz="6000"/>
            </a:p>
          </p:txBody>
        </p:sp>
      </p:grpSp>
      <p:grpSp>
        <p:nvGrpSpPr>
          <p:cNvPr id="127" name="Google Shape;127;p4"/>
          <p:cNvGrpSpPr/>
          <p:nvPr/>
        </p:nvGrpSpPr>
        <p:grpSpPr>
          <a:xfrm>
            <a:off x="10734675" y="5275418"/>
            <a:ext cx="5939325" cy="1385332"/>
            <a:chOff x="0" y="1625808"/>
            <a:chExt cx="7919100" cy="1847109"/>
          </a:xfrm>
        </p:grpSpPr>
        <p:sp>
          <p:nvSpPr>
            <p:cNvPr id="128" name="Google Shape;128;p4"/>
            <p:cNvSpPr txBox="1"/>
            <p:nvPr/>
          </p:nvSpPr>
          <p:spPr>
            <a:xfrm>
              <a:off x="0" y="2857317"/>
              <a:ext cx="7919100" cy="615600"/>
            </a:xfrm>
            <a:prstGeom prst="rect">
              <a:avLst/>
            </a:prstGeom>
            <a:noFill/>
            <a:ln>
              <a:noFill/>
            </a:ln>
          </p:spPr>
          <p:txBody>
            <a:bodyPr anchorCtr="0" anchor="t" bIns="0" lIns="0" spcFirstLastPara="1" rIns="0" wrap="square" tIns="0">
              <a:spAutoFit/>
            </a:bodyPr>
            <a:lstStyle/>
            <a:p>
              <a:pPr indent="0" lvl="0" marL="0" marR="0" rtl="0" algn="ctr">
                <a:lnSpc>
                  <a:spcPct val="120007"/>
                </a:lnSpc>
                <a:spcBef>
                  <a:spcPts val="0"/>
                </a:spcBef>
                <a:spcAft>
                  <a:spcPts val="0"/>
                </a:spcAft>
                <a:buNone/>
              </a:pPr>
              <a:r>
                <a:rPr lang="en-US" sz="3000">
                  <a:solidFill>
                    <a:srgbClr val="D9E6FB"/>
                  </a:solidFill>
                  <a:latin typeface="Proxima Nova"/>
                  <a:ea typeface="Proxima Nova"/>
                  <a:cs typeface="Proxima Nova"/>
                  <a:sym typeface="Proxima Nova"/>
                </a:rPr>
                <a:t>Increase in Shares Outstanding</a:t>
              </a:r>
              <a:endParaRPr sz="3000"/>
            </a:p>
          </p:txBody>
        </p:sp>
        <p:sp>
          <p:nvSpPr>
            <p:cNvPr id="129" name="Google Shape;129;p4"/>
            <p:cNvSpPr txBox="1"/>
            <p:nvPr/>
          </p:nvSpPr>
          <p:spPr>
            <a:xfrm>
              <a:off x="0" y="1625808"/>
              <a:ext cx="7670700" cy="12315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lang="en-US" sz="6000">
                  <a:solidFill>
                    <a:srgbClr val="FFFFFF"/>
                  </a:solidFill>
                  <a:latin typeface="Poppins"/>
                  <a:ea typeface="Poppins"/>
                  <a:cs typeface="Poppins"/>
                  <a:sym typeface="Poppins"/>
                </a:rPr>
                <a:t>8.7</a:t>
              </a:r>
              <a:r>
                <a:rPr b="1" i="0" lang="en-US" sz="6000" u="none" cap="none" strike="noStrike">
                  <a:solidFill>
                    <a:srgbClr val="FFFFFF"/>
                  </a:solidFill>
                  <a:latin typeface="Poppins"/>
                  <a:ea typeface="Poppins"/>
                  <a:cs typeface="Poppins"/>
                  <a:sym typeface="Poppins"/>
                </a:rPr>
                <a:t>%</a:t>
              </a:r>
              <a:endParaRPr sz="6000"/>
            </a:p>
          </p:txBody>
        </p:sp>
      </p:grpSp>
      <p:grpSp>
        <p:nvGrpSpPr>
          <p:cNvPr id="130" name="Google Shape;130;p4"/>
          <p:cNvGrpSpPr/>
          <p:nvPr/>
        </p:nvGrpSpPr>
        <p:grpSpPr>
          <a:xfrm>
            <a:off x="10734638" y="7296554"/>
            <a:ext cx="5753050" cy="1395313"/>
            <a:chOff x="0" y="-550408"/>
            <a:chExt cx="7670733" cy="1860417"/>
          </a:xfrm>
        </p:grpSpPr>
        <p:sp>
          <p:nvSpPr>
            <p:cNvPr id="131" name="Google Shape;131;p4"/>
            <p:cNvSpPr txBox="1"/>
            <p:nvPr/>
          </p:nvSpPr>
          <p:spPr>
            <a:xfrm>
              <a:off x="0" y="694409"/>
              <a:ext cx="7670700" cy="615600"/>
            </a:xfrm>
            <a:prstGeom prst="rect">
              <a:avLst/>
            </a:prstGeom>
            <a:noFill/>
            <a:ln>
              <a:noFill/>
            </a:ln>
          </p:spPr>
          <p:txBody>
            <a:bodyPr anchorCtr="0" anchor="t" bIns="0" lIns="0" spcFirstLastPara="1" rIns="0" wrap="square" tIns="0">
              <a:spAutoFit/>
            </a:bodyPr>
            <a:lstStyle/>
            <a:p>
              <a:pPr indent="0" lvl="0" marL="0" marR="0" rtl="0" algn="ctr">
                <a:lnSpc>
                  <a:spcPct val="120007"/>
                </a:lnSpc>
                <a:spcBef>
                  <a:spcPts val="0"/>
                </a:spcBef>
                <a:spcAft>
                  <a:spcPts val="0"/>
                </a:spcAft>
                <a:buNone/>
              </a:pPr>
              <a:r>
                <a:rPr b="0" i="0" lang="en-US" sz="3000" u="none" cap="none" strike="noStrike">
                  <a:solidFill>
                    <a:srgbClr val="D9E6FB"/>
                  </a:solidFill>
                  <a:latin typeface="Proxima Nova"/>
                  <a:ea typeface="Proxima Nova"/>
                  <a:cs typeface="Proxima Nova"/>
                  <a:sym typeface="Proxima Nova"/>
                </a:rPr>
                <a:t>Anticipated Offering Timeline</a:t>
              </a:r>
              <a:endParaRPr sz="3000"/>
            </a:p>
          </p:txBody>
        </p:sp>
        <p:sp>
          <p:nvSpPr>
            <p:cNvPr id="132" name="Google Shape;132;p4"/>
            <p:cNvSpPr txBox="1"/>
            <p:nvPr/>
          </p:nvSpPr>
          <p:spPr>
            <a:xfrm>
              <a:off x="33" y="-550408"/>
              <a:ext cx="7670700" cy="12315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6000" u="none" cap="none" strike="noStrike">
                  <a:solidFill>
                    <a:srgbClr val="FFFFFF"/>
                  </a:solidFill>
                  <a:latin typeface="Poppins"/>
                  <a:ea typeface="Poppins"/>
                  <a:cs typeface="Poppins"/>
                  <a:sym typeface="Poppins"/>
                </a:rPr>
                <a:t>Q4 2025</a:t>
              </a:r>
              <a:endParaRPr sz="6000"/>
            </a:p>
          </p:txBody>
        </p:sp>
      </p:grpSp>
      <p:sp>
        <p:nvSpPr>
          <p:cNvPr id="133" name="Google Shape;133;p4"/>
          <p:cNvSpPr/>
          <p:nvPr/>
        </p:nvSpPr>
        <p:spPr>
          <a:xfrm>
            <a:off x="0" y="0"/>
            <a:ext cx="9144000" cy="10287000"/>
          </a:xfrm>
          <a:custGeom>
            <a:rect b="b" l="l" r="r" t="t"/>
            <a:pathLst>
              <a:path extrusionOk="0" h="1725821" w="1534063">
                <a:moveTo>
                  <a:pt x="0" y="0"/>
                </a:moveTo>
                <a:lnTo>
                  <a:pt x="1534063" y="0"/>
                </a:lnTo>
                <a:lnTo>
                  <a:pt x="1534063" y="1725821"/>
                </a:lnTo>
                <a:lnTo>
                  <a:pt x="0" y="1725821"/>
                </a:lnTo>
                <a:close/>
              </a:path>
            </a:pathLst>
          </a:custGeom>
          <a:blipFill rotWithShape="1">
            <a:blip r:embed="rId3">
              <a:alphaModFix/>
            </a:blip>
            <a:stretch>
              <a:fillRect b="-217" l="0" r="0" t="-217"/>
            </a:stretch>
          </a:blipFill>
          <a:ln>
            <a:noFill/>
          </a:ln>
        </p:spPr>
        <p:txBody>
          <a:bodyPr/>
          <a:p/>
        </p:txBody>
      </p:sp>
      <p:sp>
        <p:nvSpPr>
          <p:cNvPr id="134" name="Google Shape;134;p4"/>
          <p:cNvSpPr txBox="1"/>
          <p:nvPr/>
        </p:nvSpPr>
        <p:spPr>
          <a:xfrm>
            <a:off x="672050" y="659600"/>
            <a:ext cx="8133900" cy="2586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US" sz="8000">
                <a:solidFill>
                  <a:srgbClr val="FFFFFF"/>
                </a:solidFill>
                <a:latin typeface="Poppins"/>
                <a:ea typeface="Poppins"/>
                <a:cs typeface="Poppins"/>
                <a:sym typeface="Poppins"/>
              </a:rPr>
              <a:t>Share Offering Overview</a:t>
            </a:r>
            <a:endParaRPr/>
          </a:p>
        </p:txBody>
      </p:sp>
      <p:grpSp>
        <p:nvGrpSpPr>
          <p:cNvPr id="135" name="Google Shape;135;p4"/>
          <p:cNvGrpSpPr/>
          <p:nvPr/>
        </p:nvGrpSpPr>
        <p:grpSpPr>
          <a:xfrm>
            <a:off x="10734663" y="3364181"/>
            <a:ext cx="5753050" cy="1385308"/>
            <a:chOff x="-33" y="-9525"/>
            <a:chExt cx="7670733" cy="1847077"/>
          </a:xfrm>
        </p:grpSpPr>
        <p:sp>
          <p:nvSpPr>
            <p:cNvPr id="136" name="Google Shape;136;p4"/>
            <p:cNvSpPr txBox="1"/>
            <p:nvPr/>
          </p:nvSpPr>
          <p:spPr>
            <a:xfrm>
              <a:off x="-33" y="1221952"/>
              <a:ext cx="7670700" cy="615600"/>
            </a:xfrm>
            <a:prstGeom prst="rect">
              <a:avLst/>
            </a:prstGeom>
            <a:noFill/>
            <a:ln>
              <a:noFill/>
            </a:ln>
          </p:spPr>
          <p:txBody>
            <a:bodyPr anchorCtr="0" anchor="t" bIns="0" lIns="0" spcFirstLastPara="1" rIns="0" wrap="square" tIns="0">
              <a:spAutoFit/>
            </a:bodyPr>
            <a:lstStyle/>
            <a:p>
              <a:pPr indent="0" lvl="0" marL="0" marR="0" rtl="0" algn="ctr">
                <a:lnSpc>
                  <a:spcPct val="120007"/>
                </a:lnSpc>
                <a:spcBef>
                  <a:spcPts val="0"/>
                </a:spcBef>
                <a:spcAft>
                  <a:spcPts val="0"/>
                </a:spcAft>
                <a:buNone/>
              </a:pPr>
              <a:r>
                <a:rPr lang="en-US" sz="3000">
                  <a:solidFill>
                    <a:srgbClr val="D9E6FB"/>
                  </a:solidFill>
                  <a:latin typeface="Proxima Nova"/>
                  <a:ea typeface="Proxima Nova"/>
                  <a:cs typeface="Proxima Nova"/>
                  <a:sym typeface="Proxima Nova"/>
                </a:rPr>
                <a:t>Offering Price</a:t>
              </a:r>
              <a:endParaRPr sz="3000"/>
            </a:p>
          </p:txBody>
        </p:sp>
        <p:sp>
          <p:nvSpPr>
            <p:cNvPr id="137" name="Google Shape;137;p4"/>
            <p:cNvSpPr txBox="1"/>
            <p:nvPr/>
          </p:nvSpPr>
          <p:spPr>
            <a:xfrm>
              <a:off x="0" y="-9525"/>
              <a:ext cx="7670700" cy="12315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lang="en-US" sz="6000">
                  <a:solidFill>
                    <a:srgbClr val="FFFFFF"/>
                  </a:solidFill>
                  <a:latin typeface="Poppins"/>
                  <a:ea typeface="Poppins"/>
                  <a:cs typeface="Poppins"/>
                  <a:sym typeface="Poppins"/>
                </a:rPr>
                <a:t>$15.37</a:t>
              </a:r>
              <a:endParaRPr sz="6000"/>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41" name="Shape 141"/>
        <p:cNvGrpSpPr/>
        <p:nvPr/>
      </p:nvGrpSpPr>
      <p:grpSpPr>
        <a:xfrm>
          <a:off x="0" y="0"/>
          <a:ext cx="0" cy="0"/>
          <a:chOff x="0" y="0"/>
          <a:chExt cx="0" cy="0"/>
        </a:xfrm>
      </p:grpSpPr>
      <p:sp>
        <p:nvSpPr>
          <p:cNvPr id="142" name="Google Shape;142;g390c5ac42cb_0_8"/>
          <p:cNvSpPr/>
          <p:nvPr/>
        </p:nvSpPr>
        <p:spPr>
          <a:xfrm>
            <a:off x="9144000" y="0"/>
            <a:ext cx="9145274" cy="10288430"/>
          </a:xfrm>
          <a:custGeom>
            <a:rect b="b" l="l" r="r" t="t"/>
            <a:pathLst>
              <a:path extrusionOk="0" h="1640244" w="1457995">
                <a:moveTo>
                  <a:pt x="0" y="0"/>
                </a:moveTo>
                <a:lnTo>
                  <a:pt x="1457995" y="0"/>
                </a:lnTo>
                <a:lnTo>
                  <a:pt x="1457995" y="1640244"/>
                </a:lnTo>
                <a:lnTo>
                  <a:pt x="0" y="1640244"/>
                </a:lnTo>
                <a:close/>
              </a:path>
            </a:pathLst>
          </a:custGeom>
          <a:blipFill rotWithShape="1">
            <a:blip r:embed="rId3">
              <a:alphaModFix/>
            </a:blip>
            <a:stretch>
              <a:fillRect b="-219" l="0" r="0" t="-219"/>
            </a:stretch>
          </a:blipFill>
          <a:ln>
            <a:noFill/>
          </a:ln>
        </p:spPr>
        <p:txBody>
          <a:bodyPr/>
          <a:p/>
        </p:txBody>
      </p:sp>
      <p:grpSp>
        <p:nvGrpSpPr>
          <p:cNvPr id="143" name="Google Shape;143;g390c5ac42cb_0_8"/>
          <p:cNvGrpSpPr/>
          <p:nvPr/>
        </p:nvGrpSpPr>
        <p:grpSpPr>
          <a:xfrm>
            <a:off x="672050" y="659600"/>
            <a:ext cx="8251035" cy="8696024"/>
            <a:chOff x="0" y="-9525"/>
            <a:chExt cx="9182100" cy="11594699"/>
          </a:xfrm>
        </p:grpSpPr>
        <p:sp>
          <p:nvSpPr>
            <p:cNvPr id="144" name="Google Shape;144;g390c5ac42cb_0_8"/>
            <p:cNvSpPr txBox="1"/>
            <p:nvPr/>
          </p:nvSpPr>
          <p:spPr>
            <a:xfrm>
              <a:off x="7345" y="4169600"/>
              <a:ext cx="9167400" cy="1416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000" u="none" cap="none" strike="noStrike">
                  <a:solidFill>
                    <a:srgbClr val="B3C7F9"/>
                  </a:solidFill>
                  <a:latin typeface="Proxima Nova"/>
                  <a:ea typeface="Proxima Nova"/>
                  <a:cs typeface="Proxima Nova"/>
                  <a:sym typeface="Proxima Nova"/>
                </a:rPr>
                <a:t>Expanding </a:t>
              </a:r>
              <a:r>
                <a:rPr b="1" lang="en-US" sz="3000">
                  <a:solidFill>
                    <a:srgbClr val="B3C7F9"/>
                  </a:solidFill>
                  <a:latin typeface="Proxima Nova"/>
                  <a:ea typeface="Proxima Nova"/>
                  <a:cs typeface="Proxima Nova"/>
                  <a:sym typeface="Proxima Nova"/>
                </a:rPr>
                <a:t>our competitive advantages through cutting edge technology and AI </a:t>
              </a:r>
              <a:endParaRPr/>
            </a:p>
          </p:txBody>
        </p:sp>
        <p:sp>
          <p:nvSpPr>
            <p:cNvPr id="145" name="Google Shape;145;g390c5ac42cb_0_8"/>
            <p:cNvSpPr txBox="1"/>
            <p:nvPr/>
          </p:nvSpPr>
          <p:spPr>
            <a:xfrm>
              <a:off x="0" y="6610274"/>
              <a:ext cx="9182100" cy="4974900"/>
            </a:xfrm>
            <a:prstGeom prst="rect">
              <a:avLst/>
            </a:prstGeom>
            <a:noFill/>
            <a:ln>
              <a:noFill/>
            </a:ln>
          </p:spPr>
          <p:txBody>
            <a:bodyPr anchorCtr="0" anchor="t" bIns="0" lIns="0" spcFirstLastPara="1" rIns="0" wrap="square" tIns="0">
              <a:spAutoFit/>
            </a:bodyPr>
            <a:lstStyle/>
            <a:p>
              <a:pPr indent="-259079" lvl="1" marL="518160" marR="0" rtl="0" algn="l">
                <a:lnSpc>
                  <a:spcPct val="130000"/>
                </a:lnSpc>
                <a:spcBef>
                  <a:spcPts val="0"/>
                </a:spcBef>
                <a:spcAft>
                  <a:spcPts val="0"/>
                </a:spcAft>
                <a:buClr>
                  <a:srgbClr val="D9E6FB"/>
                </a:buClr>
                <a:buSzPts val="2400"/>
                <a:buFont typeface="Arial"/>
                <a:buChar char="•"/>
              </a:pPr>
              <a:r>
                <a:rPr b="1" lang="en-US" sz="2400">
                  <a:solidFill>
                    <a:srgbClr val="D9E6FB"/>
                  </a:solidFill>
                  <a:latin typeface="Proxima Nova"/>
                  <a:ea typeface="Proxima Nova"/>
                  <a:cs typeface="Proxima Nova"/>
                  <a:sym typeface="Proxima Nova"/>
                </a:rPr>
                <a:t>Winner take most</a:t>
              </a:r>
              <a:r>
                <a:rPr lang="en-US" sz="2400">
                  <a:solidFill>
                    <a:srgbClr val="D9E6FB"/>
                  </a:solidFill>
                  <a:latin typeface="Proxima Nova"/>
                  <a:ea typeface="Proxima Nova"/>
                  <a:cs typeface="Proxima Nova"/>
                  <a:sym typeface="Proxima Nova"/>
                </a:rPr>
                <a:t> competitive landscape</a:t>
              </a:r>
              <a:endParaRPr sz="2400">
                <a:solidFill>
                  <a:srgbClr val="D9E6FB"/>
                </a:solidFill>
                <a:latin typeface="Proxima Nova"/>
                <a:ea typeface="Proxima Nova"/>
                <a:cs typeface="Proxima Nova"/>
                <a:sym typeface="Proxima Nova"/>
              </a:endParaRPr>
            </a:p>
            <a:p>
              <a:pPr indent="-259079" lvl="1" marL="518160" marR="0" rtl="0" algn="l">
                <a:lnSpc>
                  <a:spcPct val="130000"/>
                </a:lnSpc>
                <a:spcBef>
                  <a:spcPts val="0"/>
                </a:spcBef>
                <a:spcAft>
                  <a:spcPts val="0"/>
                </a:spcAft>
                <a:buClr>
                  <a:srgbClr val="D9E6FB"/>
                </a:buClr>
                <a:buSzPts val="2400"/>
                <a:buFont typeface="Arial"/>
                <a:buChar char="•"/>
              </a:pPr>
              <a:r>
                <a:rPr lang="en-US" sz="2400">
                  <a:solidFill>
                    <a:srgbClr val="D9E6FB"/>
                  </a:solidFill>
                  <a:latin typeface="Proxima Nova"/>
                  <a:ea typeface="Proxima Nova"/>
                  <a:cs typeface="Proxima Nova"/>
                  <a:sym typeface="Proxima Nova"/>
                </a:rPr>
                <a:t>Differentiated by </a:t>
              </a:r>
              <a:r>
                <a:rPr b="1" lang="en-US" sz="2400">
                  <a:solidFill>
                    <a:srgbClr val="D9E6FB"/>
                  </a:solidFill>
                  <a:latin typeface="Proxima Nova"/>
                  <a:ea typeface="Proxima Nova"/>
                  <a:cs typeface="Proxima Nova"/>
                  <a:sym typeface="Proxima Nova"/>
                </a:rPr>
                <a:t>market-leading</a:t>
              </a:r>
              <a:r>
                <a:rPr lang="en-US" sz="2400">
                  <a:solidFill>
                    <a:srgbClr val="D9E6FB"/>
                  </a:solidFill>
                  <a:latin typeface="Proxima Nova"/>
                  <a:ea typeface="Proxima Nova"/>
                  <a:cs typeface="Proxima Nova"/>
                  <a:sym typeface="Proxima Nova"/>
                </a:rPr>
                <a:t> platform capabilities </a:t>
              </a:r>
              <a:endParaRPr sz="2400">
                <a:solidFill>
                  <a:srgbClr val="D9E6FB"/>
                </a:solidFill>
                <a:latin typeface="Proxima Nova"/>
                <a:ea typeface="Proxima Nova"/>
                <a:cs typeface="Proxima Nova"/>
                <a:sym typeface="Proxima Nova"/>
              </a:endParaRPr>
            </a:p>
            <a:p>
              <a:pPr indent="-259079" lvl="1" marL="518160" marR="0" rtl="0" algn="l">
                <a:lnSpc>
                  <a:spcPct val="130000"/>
                </a:lnSpc>
                <a:spcBef>
                  <a:spcPts val="0"/>
                </a:spcBef>
                <a:spcAft>
                  <a:spcPts val="0"/>
                </a:spcAft>
                <a:buClr>
                  <a:srgbClr val="D9E6FB"/>
                </a:buClr>
                <a:buSzPts val="2400"/>
                <a:buFont typeface="Arial"/>
                <a:buChar char="•"/>
              </a:pPr>
              <a:r>
                <a:rPr lang="en-US" sz="2400">
                  <a:solidFill>
                    <a:srgbClr val="D9E6FB"/>
                  </a:solidFill>
                  <a:latin typeface="Proxima Nova"/>
                  <a:ea typeface="Proxima Nova"/>
                  <a:cs typeface="Proxima Nova"/>
                  <a:sym typeface="Proxima Nova"/>
                </a:rPr>
                <a:t>Innovation insights driven by client-identified needs</a:t>
              </a:r>
              <a:endParaRPr/>
            </a:p>
            <a:p>
              <a:pPr indent="-259079" lvl="1" marL="518160" marR="0" rtl="0" algn="l">
                <a:lnSpc>
                  <a:spcPct val="130000"/>
                </a:lnSpc>
                <a:spcBef>
                  <a:spcPts val="0"/>
                </a:spcBef>
                <a:spcAft>
                  <a:spcPts val="0"/>
                </a:spcAft>
                <a:buClr>
                  <a:srgbClr val="D9E6FB"/>
                </a:buClr>
                <a:buSzPts val="2400"/>
                <a:buFont typeface="Arial"/>
                <a:buChar char="•"/>
              </a:pPr>
              <a:r>
                <a:rPr b="0" i="0" lang="en-US" sz="2400" u="none" cap="none" strike="noStrike">
                  <a:solidFill>
                    <a:srgbClr val="D9E6FB"/>
                  </a:solidFill>
                  <a:latin typeface="Proxima Nova"/>
                  <a:ea typeface="Proxima Nova"/>
                  <a:cs typeface="Proxima Nova"/>
                  <a:sym typeface="Proxima Nova"/>
                </a:rPr>
                <a:t>Significant growth potential </a:t>
              </a:r>
              <a:r>
                <a:rPr lang="en-US" sz="2400">
                  <a:solidFill>
                    <a:srgbClr val="D9E6FB"/>
                  </a:solidFill>
                  <a:latin typeface="Proxima Nova"/>
                  <a:ea typeface="Proxima Nova"/>
                  <a:cs typeface="Proxima Nova"/>
                  <a:sym typeface="Proxima Nova"/>
                </a:rPr>
                <a:t>via growing addressable market and </a:t>
              </a:r>
              <a:r>
                <a:rPr b="1" i="0" lang="en-US" sz="2400" u="none" cap="none" strike="noStrike">
                  <a:solidFill>
                    <a:srgbClr val="D9E6FB"/>
                  </a:solidFill>
                  <a:latin typeface="Proxima Nova"/>
                  <a:ea typeface="Proxima Nova"/>
                  <a:cs typeface="Proxima Nova"/>
                  <a:sym typeface="Proxima Nova"/>
                </a:rPr>
                <a:t>market share </a:t>
              </a:r>
              <a:r>
                <a:rPr b="1" lang="en-US" sz="2400">
                  <a:solidFill>
                    <a:srgbClr val="D9E6FB"/>
                  </a:solidFill>
                  <a:latin typeface="Proxima Nova"/>
                  <a:ea typeface="Proxima Nova"/>
                  <a:cs typeface="Proxima Nova"/>
                  <a:sym typeface="Proxima Nova"/>
                </a:rPr>
                <a:t>gains</a:t>
              </a:r>
              <a:endParaRPr b="1" sz="2400">
                <a:solidFill>
                  <a:srgbClr val="D9E6FB"/>
                </a:solidFill>
                <a:latin typeface="Proxima Nova"/>
                <a:ea typeface="Proxima Nova"/>
                <a:cs typeface="Proxima Nova"/>
                <a:sym typeface="Proxima Nova"/>
              </a:endParaRPr>
            </a:p>
            <a:p>
              <a:pPr indent="-259079" lvl="1" marL="518160" marR="0" rtl="0" algn="l">
                <a:lnSpc>
                  <a:spcPct val="130000"/>
                </a:lnSpc>
                <a:spcBef>
                  <a:spcPts val="0"/>
                </a:spcBef>
                <a:spcAft>
                  <a:spcPts val="0"/>
                </a:spcAft>
                <a:buClr>
                  <a:srgbClr val="D9E6FB"/>
                </a:buClr>
                <a:buSzPts val="2400"/>
                <a:buFont typeface="Proxima Nova"/>
                <a:buChar char="•"/>
              </a:pPr>
              <a:r>
                <a:rPr lang="en-US" sz="2400">
                  <a:solidFill>
                    <a:srgbClr val="D9E6FB"/>
                  </a:solidFill>
                  <a:latin typeface="Proxima Nova"/>
                  <a:ea typeface="Proxima Nova"/>
                  <a:cs typeface="Proxima Nova"/>
                  <a:sym typeface="Proxima Nova"/>
                </a:rPr>
                <a:t>R</a:t>
              </a:r>
              <a:r>
                <a:rPr b="0" i="0" lang="en-US" sz="2400" u="none" cap="none" strike="noStrike">
                  <a:solidFill>
                    <a:srgbClr val="D9E6FB"/>
                  </a:solidFill>
                  <a:latin typeface="Proxima Nova"/>
                  <a:ea typeface="Proxima Nova"/>
                  <a:cs typeface="Proxima Nova"/>
                  <a:sym typeface="Proxima Nova"/>
                </a:rPr>
                <a:t>esilient SaaS model </a:t>
              </a:r>
              <a:r>
                <a:rPr lang="en-US" sz="2400">
                  <a:solidFill>
                    <a:srgbClr val="D9E6FB"/>
                  </a:solidFill>
                  <a:latin typeface="Proxima Nova"/>
                  <a:ea typeface="Proxima Nova"/>
                  <a:cs typeface="Proxima Nova"/>
                  <a:sym typeface="Proxima Nova"/>
                </a:rPr>
                <a:t>with</a:t>
              </a:r>
              <a:r>
                <a:rPr b="0" i="0" lang="en-US" sz="2400" u="none" cap="none" strike="noStrike">
                  <a:solidFill>
                    <a:srgbClr val="D9E6FB"/>
                  </a:solidFill>
                  <a:latin typeface="Proxima Nova"/>
                  <a:ea typeface="Proxima Nova"/>
                  <a:cs typeface="Proxima Nova"/>
                  <a:sym typeface="Proxima Nova"/>
                </a:rPr>
                <a:t> </a:t>
              </a:r>
              <a:r>
                <a:rPr b="1" i="0" lang="en-US" sz="2400" u="none" cap="none" strike="noStrike">
                  <a:solidFill>
                    <a:srgbClr val="D9E6FB"/>
                  </a:solidFill>
                  <a:latin typeface="Proxima Nova"/>
                  <a:ea typeface="Proxima Nova"/>
                  <a:cs typeface="Proxima Nova"/>
                  <a:sym typeface="Proxima Nova"/>
                </a:rPr>
                <a:t>recurring revenue streams</a:t>
              </a:r>
              <a:endParaRPr/>
            </a:p>
            <a:p>
              <a:pPr indent="-259079" lvl="1" marL="518160" marR="0" rtl="0" algn="l">
                <a:lnSpc>
                  <a:spcPct val="130000"/>
                </a:lnSpc>
                <a:spcBef>
                  <a:spcPts val="0"/>
                </a:spcBef>
                <a:spcAft>
                  <a:spcPts val="0"/>
                </a:spcAft>
                <a:buClr>
                  <a:srgbClr val="D9E6FB"/>
                </a:buClr>
                <a:buSzPts val="2400"/>
                <a:buFont typeface="Arial"/>
                <a:buChar char="•"/>
              </a:pPr>
              <a:r>
                <a:rPr lang="en-US" sz="2400">
                  <a:solidFill>
                    <a:srgbClr val="D9E6FB"/>
                  </a:solidFill>
                  <a:latin typeface="Proxima Nova"/>
                  <a:ea typeface="Proxima Nova"/>
                  <a:cs typeface="Proxima Nova"/>
                  <a:sym typeface="Proxima Nova"/>
                </a:rPr>
                <a:t>Platform is mission-critical to client operations</a:t>
              </a:r>
              <a:endParaRPr sz="2400">
                <a:solidFill>
                  <a:srgbClr val="D9E6FB"/>
                </a:solidFill>
                <a:latin typeface="Proxima Nova"/>
                <a:ea typeface="Proxima Nova"/>
                <a:cs typeface="Proxima Nova"/>
                <a:sym typeface="Proxima Nova"/>
              </a:endParaRPr>
            </a:p>
            <a:p>
              <a:pPr indent="-259079" lvl="1" marL="518160" marR="0" rtl="0" algn="l">
                <a:lnSpc>
                  <a:spcPct val="130000"/>
                </a:lnSpc>
                <a:spcBef>
                  <a:spcPts val="0"/>
                </a:spcBef>
                <a:spcAft>
                  <a:spcPts val="0"/>
                </a:spcAft>
                <a:buClr>
                  <a:srgbClr val="D9E6FB"/>
                </a:buClr>
                <a:buSzPts val="2400"/>
                <a:buFont typeface="Proxima Nova"/>
                <a:buChar char="•"/>
              </a:pPr>
              <a:r>
                <a:rPr lang="en-US" sz="2400">
                  <a:solidFill>
                    <a:srgbClr val="D9E6FB"/>
                  </a:solidFill>
                  <a:latin typeface="Proxima Nova"/>
                  <a:ea typeface="Proxima Nova"/>
                  <a:cs typeface="Proxima Nova"/>
                  <a:sym typeface="Proxima Nova"/>
                </a:rPr>
                <a:t>98% Annual Retention Rate</a:t>
              </a:r>
              <a:endParaRPr sz="2400">
                <a:solidFill>
                  <a:srgbClr val="D9E6FB"/>
                </a:solidFill>
                <a:latin typeface="Proxima Nova"/>
                <a:ea typeface="Proxima Nova"/>
                <a:cs typeface="Proxima Nova"/>
                <a:sym typeface="Proxima Nova"/>
              </a:endParaRPr>
            </a:p>
          </p:txBody>
        </p:sp>
        <p:sp>
          <p:nvSpPr>
            <p:cNvPr id="146" name="Google Shape;146;g390c5ac42cb_0_8"/>
            <p:cNvSpPr txBox="1"/>
            <p:nvPr/>
          </p:nvSpPr>
          <p:spPr>
            <a:xfrm>
              <a:off x="0" y="-9525"/>
              <a:ext cx="9174900" cy="344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FFFFFF"/>
                  </a:solidFill>
                  <a:latin typeface="Poppins"/>
                  <a:ea typeface="Poppins"/>
                  <a:cs typeface="Poppins"/>
                  <a:sym typeface="Poppins"/>
                </a:rPr>
                <a:t>Investment Opportunity</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50" name="Shape 150"/>
        <p:cNvGrpSpPr/>
        <p:nvPr/>
      </p:nvGrpSpPr>
      <p:grpSpPr>
        <a:xfrm>
          <a:off x="0" y="0"/>
          <a:ext cx="0" cy="0"/>
          <a:chOff x="0" y="0"/>
          <a:chExt cx="0" cy="0"/>
        </a:xfrm>
      </p:grpSpPr>
      <p:sp>
        <p:nvSpPr>
          <p:cNvPr id="151" name="Google Shape;151;p5"/>
          <p:cNvSpPr/>
          <p:nvPr/>
        </p:nvSpPr>
        <p:spPr>
          <a:xfrm>
            <a:off x="9144000" y="0"/>
            <a:ext cx="9144000" cy="10287000"/>
          </a:xfrm>
          <a:custGeom>
            <a:rect b="b" l="l" r="r" t="t"/>
            <a:pathLst>
              <a:path extrusionOk="0" h="1640244" w="1457995">
                <a:moveTo>
                  <a:pt x="0" y="0"/>
                </a:moveTo>
                <a:lnTo>
                  <a:pt x="1457995" y="0"/>
                </a:lnTo>
                <a:lnTo>
                  <a:pt x="1457995" y="1640244"/>
                </a:lnTo>
                <a:lnTo>
                  <a:pt x="0" y="1640244"/>
                </a:lnTo>
                <a:close/>
              </a:path>
            </a:pathLst>
          </a:custGeom>
          <a:blipFill rotWithShape="1">
            <a:blip r:embed="rId3">
              <a:alphaModFix/>
            </a:blip>
            <a:stretch>
              <a:fillRect b="-217" l="0" r="0" t="-217"/>
            </a:stretch>
          </a:blipFill>
          <a:ln>
            <a:noFill/>
          </a:ln>
        </p:spPr>
        <p:txBody>
          <a:bodyPr/>
          <a:p/>
        </p:txBody>
      </p:sp>
      <p:grpSp>
        <p:nvGrpSpPr>
          <p:cNvPr id="152" name="Google Shape;152;p5"/>
          <p:cNvGrpSpPr/>
          <p:nvPr/>
        </p:nvGrpSpPr>
        <p:grpSpPr>
          <a:xfrm>
            <a:off x="672042" y="659606"/>
            <a:ext cx="6886575" cy="7663427"/>
            <a:chOff x="0" y="-9525"/>
            <a:chExt cx="9182100" cy="10217903"/>
          </a:xfrm>
        </p:grpSpPr>
        <p:sp>
          <p:nvSpPr>
            <p:cNvPr id="153" name="Google Shape;153;p5"/>
            <p:cNvSpPr txBox="1"/>
            <p:nvPr/>
          </p:nvSpPr>
          <p:spPr>
            <a:xfrm>
              <a:off x="0" y="3543300"/>
              <a:ext cx="9167400" cy="1416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3000" u="none" cap="none" strike="noStrike">
                  <a:solidFill>
                    <a:srgbClr val="B3C7F9"/>
                  </a:solidFill>
                  <a:latin typeface="Proxima Nova"/>
                  <a:ea typeface="Proxima Nova"/>
                  <a:cs typeface="Proxima Nova"/>
                  <a:sym typeface="Proxima Nova"/>
                </a:rPr>
                <a:t>Strategic allocation of funds for critical growth </a:t>
              </a:r>
              <a:r>
                <a:rPr b="1" lang="en-US" sz="3000">
                  <a:solidFill>
                    <a:srgbClr val="B3C7F9"/>
                  </a:solidFill>
                  <a:latin typeface="Proxima Nova"/>
                  <a:ea typeface="Proxima Nova"/>
                  <a:cs typeface="Proxima Nova"/>
                  <a:sym typeface="Proxima Nova"/>
                </a:rPr>
                <a:t>initiatives</a:t>
              </a:r>
              <a:endParaRPr/>
            </a:p>
          </p:txBody>
        </p:sp>
        <p:sp>
          <p:nvSpPr>
            <p:cNvPr id="154" name="Google Shape;154;p5"/>
            <p:cNvSpPr txBox="1"/>
            <p:nvPr/>
          </p:nvSpPr>
          <p:spPr>
            <a:xfrm>
              <a:off x="0" y="5949878"/>
              <a:ext cx="9182100" cy="4258500"/>
            </a:xfrm>
            <a:prstGeom prst="rect">
              <a:avLst/>
            </a:prstGeom>
            <a:noFill/>
            <a:ln>
              <a:noFill/>
            </a:ln>
          </p:spPr>
          <p:txBody>
            <a:bodyPr anchorCtr="0" anchor="t" bIns="0" lIns="0" spcFirstLastPara="1" rIns="0" wrap="square" tIns="0">
              <a:spAutoFit/>
            </a:bodyPr>
            <a:lstStyle/>
            <a:p>
              <a:pPr indent="-290829" lvl="1" marL="518160" marR="0" rtl="0" algn="l">
                <a:lnSpc>
                  <a:spcPct val="130000"/>
                </a:lnSpc>
                <a:spcBef>
                  <a:spcPts val="0"/>
                </a:spcBef>
                <a:spcAft>
                  <a:spcPts val="0"/>
                </a:spcAft>
                <a:buClr>
                  <a:srgbClr val="D9E6FB"/>
                </a:buClr>
                <a:buSzPts val="2900"/>
                <a:buFont typeface="Arial"/>
                <a:buChar char="•"/>
              </a:pPr>
              <a:r>
                <a:rPr lang="en-US" sz="2900">
                  <a:solidFill>
                    <a:srgbClr val="D9E6FB"/>
                  </a:solidFill>
                  <a:latin typeface="Proxima Nova"/>
                  <a:ea typeface="Proxima Nova"/>
                  <a:cs typeface="Proxima Nova"/>
                  <a:sym typeface="Proxima Nova"/>
                </a:rPr>
                <a:t>Technology i</a:t>
              </a:r>
              <a:r>
                <a:rPr lang="en-US" sz="2900">
                  <a:solidFill>
                    <a:srgbClr val="D9E6FB"/>
                  </a:solidFill>
                  <a:latin typeface="Proxima Nova"/>
                  <a:ea typeface="Proxima Nova"/>
                  <a:cs typeface="Proxima Nova"/>
                  <a:sym typeface="Proxima Nova"/>
                </a:rPr>
                <a:t>nfrastructure investments</a:t>
              </a:r>
              <a:endParaRPr sz="2900">
                <a:solidFill>
                  <a:srgbClr val="D9E6FB"/>
                </a:solidFill>
                <a:latin typeface="Proxima Nova"/>
                <a:ea typeface="Proxima Nova"/>
                <a:cs typeface="Proxima Nova"/>
                <a:sym typeface="Proxima Nova"/>
              </a:endParaRPr>
            </a:p>
            <a:p>
              <a:pPr indent="0" lvl="0" marL="914400" marR="0" rtl="0" algn="l">
                <a:lnSpc>
                  <a:spcPct val="130000"/>
                </a:lnSpc>
                <a:spcBef>
                  <a:spcPts val="0"/>
                </a:spcBef>
                <a:spcAft>
                  <a:spcPts val="0"/>
                </a:spcAft>
                <a:buNone/>
              </a:pPr>
              <a:r>
                <a:t/>
              </a:r>
              <a:endParaRPr sz="2900">
                <a:solidFill>
                  <a:srgbClr val="D9E6FB"/>
                </a:solidFill>
                <a:latin typeface="Proxima Nova"/>
                <a:ea typeface="Proxima Nova"/>
                <a:cs typeface="Proxima Nova"/>
                <a:sym typeface="Proxima Nova"/>
              </a:endParaRPr>
            </a:p>
            <a:p>
              <a:pPr indent="-290829" lvl="1" marL="518160" marR="0" rtl="0" algn="l">
                <a:lnSpc>
                  <a:spcPct val="130000"/>
                </a:lnSpc>
                <a:spcBef>
                  <a:spcPts val="0"/>
                </a:spcBef>
                <a:spcAft>
                  <a:spcPts val="0"/>
                </a:spcAft>
                <a:buClr>
                  <a:srgbClr val="D9E6FB"/>
                </a:buClr>
                <a:buSzPts val="2900"/>
                <a:buFont typeface="Arial"/>
                <a:buChar char="•"/>
              </a:pPr>
              <a:r>
                <a:rPr lang="en-US" sz="2900">
                  <a:solidFill>
                    <a:srgbClr val="D9E6FB"/>
                  </a:solidFill>
                  <a:latin typeface="Proxima Nova"/>
                  <a:ea typeface="Proxima Nova"/>
                  <a:cs typeface="Proxima Nova"/>
                  <a:sym typeface="Proxima Nova"/>
                </a:rPr>
                <a:t>Data center capacity expansion </a:t>
              </a:r>
              <a:endParaRPr sz="2900">
                <a:solidFill>
                  <a:srgbClr val="D9E6FB"/>
                </a:solidFill>
                <a:latin typeface="Proxima Nova"/>
                <a:ea typeface="Proxima Nova"/>
                <a:cs typeface="Proxima Nova"/>
                <a:sym typeface="Proxima Nova"/>
              </a:endParaRPr>
            </a:p>
            <a:p>
              <a:pPr indent="0" lvl="0" marL="914400" marR="0" rtl="0" algn="l">
                <a:lnSpc>
                  <a:spcPct val="130000"/>
                </a:lnSpc>
                <a:spcBef>
                  <a:spcPts val="0"/>
                </a:spcBef>
                <a:spcAft>
                  <a:spcPts val="0"/>
                </a:spcAft>
                <a:buNone/>
              </a:pPr>
              <a:r>
                <a:t/>
              </a:r>
              <a:endParaRPr sz="2900">
                <a:solidFill>
                  <a:srgbClr val="D9E6FB"/>
                </a:solidFill>
                <a:latin typeface="Proxima Nova"/>
                <a:ea typeface="Proxima Nova"/>
                <a:cs typeface="Proxima Nova"/>
                <a:sym typeface="Proxima Nova"/>
              </a:endParaRPr>
            </a:p>
            <a:p>
              <a:pPr indent="-290829" lvl="1" marL="518160" marR="0" rtl="0" algn="l">
                <a:lnSpc>
                  <a:spcPct val="130000"/>
                </a:lnSpc>
                <a:spcBef>
                  <a:spcPts val="0"/>
                </a:spcBef>
                <a:spcAft>
                  <a:spcPts val="0"/>
                </a:spcAft>
                <a:buClr>
                  <a:srgbClr val="D9E6FB"/>
                </a:buClr>
                <a:buSzPts val="2900"/>
                <a:buFont typeface="Proxima Nova"/>
                <a:buChar char="•"/>
              </a:pPr>
              <a:r>
                <a:rPr lang="en-US" sz="2900">
                  <a:solidFill>
                    <a:srgbClr val="D9E6FB"/>
                  </a:solidFill>
                  <a:latin typeface="Proxima Nova"/>
                  <a:ea typeface="Proxima Nova"/>
                  <a:cs typeface="Proxima Nova"/>
                  <a:sym typeface="Proxima Nova"/>
                </a:rPr>
                <a:t>Technology feature enhancements</a:t>
              </a:r>
              <a:endParaRPr sz="2900">
                <a:solidFill>
                  <a:srgbClr val="D9E6FB"/>
                </a:solidFill>
                <a:latin typeface="Proxima Nova"/>
                <a:ea typeface="Proxima Nova"/>
                <a:cs typeface="Proxima Nova"/>
                <a:sym typeface="Proxima Nova"/>
              </a:endParaRPr>
            </a:p>
            <a:p>
              <a:pPr indent="0" lvl="0" marL="0" marR="0" rtl="0" algn="l">
                <a:lnSpc>
                  <a:spcPct val="130000"/>
                </a:lnSpc>
                <a:spcBef>
                  <a:spcPts val="0"/>
                </a:spcBef>
                <a:spcAft>
                  <a:spcPts val="0"/>
                </a:spcAft>
                <a:buNone/>
              </a:pPr>
              <a:r>
                <a:t/>
              </a:r>
              <a:endParaRPr sz="1900"/>
            </a:p>
          </p:txBody>
        </p:sp>
        <p:sp>
          <p:nvSpPr>
            <p:cNvPr id="155" name="Google Shape;155;p5"/>
            <p:cNvSpPr txBox="1"/>
            <p:nvPr/>
          </p:nvSpPr>
          <p:spPr>
            <a:xfrm>
              <a:off x="0" y="-9525"/>
              <a:ext cx="9175044" cy="3116792"/>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FFFFFF"/>
                  </a:solidFill>
                  <a:latin typeface="Poppins"/>
                  <a:ea typeface="Poppins"/>
                  <a:cs typeface="Poppins"/>
                  <a:sym typeface="Poppins"/>
                </a:rPr>
                <a:t>Use of Proceeds</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59" name="Shape 159"/>
        <p:cNvGrpSpPr/>
        <p:nvPr/>
      </p:nvGrpSpPr>
      <p:grpSpPr>
        <a:xfrm>
          <a:off x="0" y="0"/>
          <a:ext cx="0" cy="0"/>
          <a:chOff x="0" y="0"/>
          <a:chExt cx="0" cy="0"/>
        </a:xfrm>
      </p:grpSpPr>
      <p:grpSp>
        <p:nvGrpSpPr>
          <p:cNvPr id="160" name="Google Shape;160;g390c5ac42cb_0_24"/>
          <p:cNvGrpSpPr/>
          <p:nvPr/>
        </p:nvGrpSpPr>
        <p:grpSpPr>
          <a:xfrm>
            <a:off x="666750" y="568951"/>
            <a:ext cx="7370734" cy="7936858"/>
            <a:chOff x="0" y="-4005823"/>
            <a:chExt cx="10054200" cy="12709141"/>
          </a:xfrm>
        </p:grpSpPr>
        <p:sp>
          <p:nvSpPr>
            <p:cNvPr id="161" name="Google Shape;161;g390c5ac42cb_0_24"/>
            <p:cNvSpPr txBox="1"/>
            <p:nvPr/>
          </p:nvSpPr>
          <p:spPr>
            <a:xfrm>
              <a:off x="0" y="1607704"/>
              <a:ext cx="9182100" cy="11832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rPr b="1" i="0" lang="en-US" sz="4800" u="none" cap="none" strike="noStrike">
                  <a:solidFill>
                    <a:srgbClr val="B3C7F9"/>
                  </a:solidFill>
                  <a:latin typeface="Proxima Nova"/>
                  <a:ea typeface="Proxima Nova"/>
                  <a:cs typeface="Proxima Nova"/>
                  <a:sym typeface="Proxima Nova"/>
                </a:rPr>
                <a:t>Financial Highlights</a:t>
              </a:r>
              <a:endParaRPr sz="4800"/>
            </a:p>
          </p:txBody>
        </p:sp>
        <p:sp>
          <p:nvSpPr>
            <p:cNvPr id="162" name="Google Shape;162;g390c5ac42cb_0_24"/>
            <p:cNvSpPr txBox="1"/>
            <p:nvPr/>
          </p:nvSpPr>
          <p:spPr>
            <a:xfrm>
              <a:off x="0" y="7283718"/>
              <a:ext cx="9182100" cy="14196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1" lang="en-US" sz="2400">
                  <a:solidFill>
                    <a:srgbClr val="D9E6FB"/>
                  </a:solidFill>
                  <a:latin typeface="Proxima Nova"/>
                  <a:ea typeface="Proxima Nova"/>
                  <a:cs typeface="Proxima Nova"/>
                  <a:sym typeface="Proxima Nova"/>
                </a:rPr>
                <a:t>Key Fact:</a:t>
              </a:r>
              <a:r>
                <a:rPr lang="en-US" sz="2400">
                  <a:solidFill>
                    <a:srgbClr val="D9E6FB"/>
                  </a:solidFill>
                  <a:latin typeface="Proxima Nova"/>
                  <a:ea typeface="Proxima Nova"/>
                  <a:cs typeface="Proxima Nova"/>
                  <a:sym typeface="Proxima Nova"/>
                </a:rPr>
                <a:t> Our a</a:t>
              </a:r>
              <a:r>
                <a:rPr lang="en-US" sz="2400">
                  <a:solidFill>
                    <a:srgbClr val="D9E6FB"/>
                  </a:solidFill>
                  <a:latin typeface="Proxima Nova"/>
                  <a:ea typeface="Proxima Nova"/>
                  <a:cs typeface="Proxima Nova"/>
                  <a:sym typeface="Proxima Nova"/>
                </a:rPr>
                <a:t>verage client retention rate by revenue is </a:t>
              </a:r>
              <a:r>
                <a:rPr b="1" lang="en-US" sz="2400">
                  <a:solidFill>
                    <a:srgbClr val="D9E6FB"/>
                  </a:solidFill>
                  <a:latin typeface="Proxima Nova"/>
                  <a:ea typeface="Proxima Nova"/>
                  <a:cs typeface="Proxima Nova"/>
                  <a:sym typeface="Proxima Nova"/>
                </a:rPr>
                <a:t>98</a:t>
              </a:r>
              <a:r>
                <a:rPr b="1" i="0" lang="en-US" sz="2400" u="none" cap="none" strike="noStrike">
                  <a:solidFill>
                    <a:srgbClr val="D9E6FB"/>
                  </a:solidFill>
                  <a:latin typeface="Proxima Nova"/>
                  <a:ea typeface="Proxima Nova"/>
                  <a:cs typeface="Proxima Nova"/>
                  <a:sym typeface="Proxima Nova"/>
                </a:rPr>
                <a:t>% </a:t>
              </a:r>
              <a:endParaRPr/>
            </a:p>
          </p:txBody>
        </p:sp>
        <p:sp>
          <p:nvSpPr>
            <p:cNvPr id="163" name="Google Shape;163;g390c5ac42cb_0_24"/>
            <p:cNvSpPr txBox="1"/>
            <p:nvPr/>
          </p:nvSpPr>
          <p:spPr>
            <a:xfrm>
              <a:off x="0" y="-4005823"/>
              <a:ext cx="10054200" cy="3943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8000">
                  <a:solidFill>
                    <a:srgbClr val="FFFFFF"/>
                  </a:solidFill>
                  <a:latin typeface="Poppins"/>
                  <a:ea typeface="Poppins"/>
                  <a:cs typeface="Poppins"/>
                  <a:sym typeface="Poppins"/>
                </a:rPr>
                <a:t>Quantiva</a:t>
              </a:r>
              <a:endParaRPr b="1" sz="8000">
                <a:solidFill>
                  <a:srgbClr val="FFFFFF"/>
                </a:solidFill>
                <a:latin typeface="Poppins"/>
                <a:ea typeface="Poppins"/>
                <a:cs typeface="Poppins"/>
                <a:sym typeface="Poppins"/>
              </a:endParaRPr>
            </a:p>
            <a:p>
              <a:pPr indent="0" lvl="0" marL="0" marR="0" rtl="0" algn="l">
                <a:lnSpc>
                  <a:spcPct val="100000"/>
                </a:lnSpc>
                <a:spcBef>
                  <a:spcPts val="0"/>
                </a:spcBef>
                <a:spcAft>
                  <a:spcPts val="0"/>
                </a:spcAft>
                <a:buNone/>
              </a:pPr>
              <a:r>
                <a:rPr b="1" lang="en-US" sz="8000">
                  <a:solidFill>
                    <a:srgbClr val="FFFFFF"/>
                  </a:solidFill>
                  <a:latin typeface="Poppins"/>
                  <a:ea typeface="Poppins"/>
                  <a:cs typeface="Poppins"/>
                  <a:sym typeface="Poppins"/>
                </a:rPr>
                <a:t>Technologies</a:t>
              </a:r>
              <a:endParaRPr b="1" sz="8000">
                <a:solidFill>
                  <a:srgbClr val="FFFFFF"/>
                </a:solidFill>
                <a:latin typeface="Poppins"/>
                <a:ea typeface="Poppins"/>
                <a:cs typeface="Poppins"/>
                <a:sym typeface="Poppins"/>
              </a:endParaRPr>
            </a:p>
          </p:txBody>
        </p:sp>
      </p:grpSp>
      <p:sp>
        <p:nvSpPr>
          <p:cNvPr id="164" name="Google Shape;164;g390c5ac42cb_0_24"/>
          <p:cNvSpPr/>
          <p:nvPr/>
        </p:nvSpPr>
        <p:spPr>
          <a:xfrm>
            <a:off x="9144000" y="0"/>
            <a:ext cx="9144000" cy="10287000"/>
          </a:xfrm>
          <a:custGeom>
            <a:rect b="b" l="l" r="r" t="t"/>
            <a:pathLst>
              <a:path extrusionOk="0" h="914400" w="812800">
                <a:moveTo>
                  <a:pt x="0" y="0"/>
                </a:moveTo>
                <a:lnTo>
                  <a:pt x="812800" y="0"/>
                </a:lnTo>
                <a:lnTo>
                  <a:pt x="812800" y="914400"/>
                </a:lnTo>
                <a:lnTo>
                  <a:pt x="0" y="914400"/>
                </a:lnTo>
                <a:close/>
              </a:path>
            </a:pathLst>
          </a:custGeom>
          <a:blipFill rotWithShape="1">
            <a:blip r:embed="rId3">
              <a:alphaModFix/>
            </a:blip>
            <a:stretch>
              <a:fillRect b="-219" l="0" r="0" t="-219"/>
            </a:stretch>
          </a:blipFill>
          <a:ln>
            <a:noFill/>
          </a:ln>
        </p:spPr>
        <p:txBody>
          <a:body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68" name="Shape 168"/>
        <p:cNvGrpSpPr/>
        <p:nvPr/>
      </p:nvGrpSpPr>
      <p:grpSpPr>
        <a:xfrm>
          <a:off x="0" y="0"/>
          <a:ext cx="0" cy="0"/>
          <a:chOff x="0" y="0"/>
          <a:chExt cx="0" cy="0"/>
        </a:xfrm>
      </p:grpSpPr>
      <p:pic>
        <p:nvPicPr>
          <p:cNvPr id="169" name="Google Shape;169;g390c5ac42cb_0_76"/>
          <p:cNvPicPr preferRelativeResize="0"/>
          <p:nvPr/>
        </p:nvPicPr>
        <p:blipFill>
          <a:blip r:embed="rId3">
            <a:alphaModFix/>
          </a:blip>
          <a:stretch>
            <a:fillRect/>
          </a:stretch>
        </p:blipFill>
        <p:spPr>
          <a:xfrm>
            <a:off x="11491075" y="498950"/>
            <a:ext cx="5743050" cy="9289099"/>
          </a:xfrm>
          <a:prstGeom prst="rect">
            <a:avLst/>
          </a:prstGeom>
          <a:noFill/>
          <a:ln>
            <a:noFill/>
          </a:ln>
        </p:spPr>
      </p:pic>
      <p:sp>
        <p:nvSpPr>
          <p:cNvPr id="170" name="Google Shape;170;g390c5ac42cb_0_76"/>
          <p:cNvSpPr txBox="1"/>
          <p:nvPr/>
        </p:nvSpPr>
        <p:spPr>
          <a:xfrm>
            <a:off x="666750" y="716756"/>
            <a:ext cx="6886500" cy="246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8000">
                <a:solidFill>
                  <a:srgbClr val="FFFFFF"/>
                </a:solidFill>
                <a:latin typeface="Poppins"/>
                <a:ea typeface="Poppins"/>
                <a:cs typeface="Poppins"/>
                <a:sym typeface="Poppins"/>
              </a:rPr>
              <a:t>TAM: </a:t>
            </a:r>
            <a:endParaRPr b="1" sz="8000">
              <a:solidFill>
                <a:srgbClr val="FFFFFF"/>
              </a:solidFill>
              <a:latin typeface="Poppins"/>
              <a:ea typeface="Poppins"/>
              <a:cs typeface="Poppins"/>
              <a:sym typeface="Poppins"/>
            </a:endParaRPr>
          </a:p>
          <a:p>
            <a:pPr indent="0" lvl="0" marL="0" marR="0" rtl="0" algn="l">
              <a:lnSpc>
                <a:spcPct val="100000"/>
              </a:lnSpc>
              <a:spcBef>
                <a:spcPts val="0"/>
              </a:spcBef>
              <a:spcAft>
                <a:spcPts val="0"/>
              </a:spcAft>
              <a:buNone/>
            </a:pPr>
            <a:r>
              <a:rPr b="1" lang="en-US" sz="8000">
                <a:solidFill>
                  <a:srgbClr val="FFFFFF"/>
                </a:solidFill>
                <a:latin typeface="Poppins"/>
                <a:ea typeface="Poppins"/>
                <a:cs typeface="Poppins"/>
                <a:sym typeface="Poppins"/>
              </a:rPr>
              <a:t>$23.3 Billion</a:t>
            </a:r>
            <a:endParaRPr/>
          </a:p>
        </p:txBody>
      </p:sp>
      <p:pic>
        <p:nvPicPr>
          <p:cNvPr id="171" name="Google Shape;171;g390c5ac42cb_0_76" title="Chart"/>
          <p:cNvPicPr preferRelativeResize="0"/>
          <p:nvPr/>
        </p:nvPicPr>
        <p:blipFill>
          <a:blip r:embed="rId4">
            <a:alphaModFix/>
          </a:blip>
          <a:stretch>
            <a:fillRect/>
          </a:stretch>
        </p:blipFill>
        <p:spPr>
          <a:xfrm>
            <a:off x="666750" y="3179456"/>
            <a:ext cx="9529763" cy="656510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75" name="Shape 175"/>
        <p:cNvGrpSpPr/>
        <p:nvPr/>
      </p:nvGrpSpPr>
      <p:grpSpPr>
        <a:xfrm>
          <a:off x="0" y="0"/>
          <a:ext cx="0" cy="0"/>
          <a:chOff x="0" y="0"/>
          <a:chExt cx="0" cy="0"/>
        </a:xfrm>
      </p:grpSpPr>
      <p:pic>
        <p:nvPicPr>
          <p:cNvPr id="176" name="Google Shape;176;g390c5ac42cb_0_16"/>
          <p:cNvPicPr preferRelativeResize="0"/>
          <p:nvPr/>
        </p:nvPicPr>
        <p:blipFill>
          <a:blip r:embed="rId3">
            <a:alphaModFix/>
          </a:blip>
          <a:stretch>
            <a:fillRect/>
          </a:stretch>
        </p:blipFill>
        <p:spPr>
          <a:xfrm>
            <a:off x="1055350" y="980525"/>
            <a:ext cx="16177301" cy="83259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80" name="Shape 180"/>
        <p:cNvGrpSpPr/>
        <p:nvPr/>
      </p:nvGrpSpPr>
      <p:grpSpPr>
        <a:xfrm>
          <a:off x="0" y="0"/>
          <a:ext cx="0" cy="0"/>
          <a:chOff x="0" y="0"/>
          <a:chExt cx="0" cy="0"/>
        </a:xfrm>
      </p:grpSpPr>
      <p:pic>
        <p:nvPicPr>
          <p:cNvPr id="181" name="Google Shape;181;g390c5ac42cb_0_41"/>
          <p:cNvPicPr preferRelativeResize="0"/>
          <p:nvPr/>
        </p:nvPicPr>
        <p:blipFill>
          <a:blip r:embed="rId3">
            <a:alphaModFix/>
          </a:blip>
          <a:stretch>
            <a:fillRect/>
          </a:stretch>
        </p:blipFill>
        <p:spPr>
          <a:xfrm>
            <a:off x="935088" y="884475"/>
            <a:ext cx="16417824" cy="8518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85" name="Shape 185"/>
        <p:cNvGrpSpPr/>
        <p:nvPr/>
      </p:nvGrpSpPr>
      <p:grpSpPr>
        <a:xfrm>
          <a:off x="0" y="0"/>
          <a:ext cx="0" cy="0"/>
          <a:chOff x="0" y="0"/>
          <a:chExt cx="0" cy="0"/>
        </a:xfrm>
      </p:grpSpPr>
      <p:grpSp>
        <p:nvGrpSpPr>
          <p:cNvPr id="186" name="Google Shape;186;g390c5ac42cb_0_231"/>
          <p:cNvGrpSpPr/>
          <p:nvPr/>
        </p:nvGrpSpPr>
        <p:grpSpPr>
          <a:xfrm>
            <a:off x="666750" y="716750"/>
            <a:ext cx="9223650" cy="2823038"/>
            <a:chOff x="0" y="66667"/>
            <a:chExt cx="12298200" cy="3764051"/>
          </a:xfrm>
        </p:grpSpPr>
        <p:sp>
          <p:nvSpPr>
            <p:cNvPr id="187" name="Google Shape;187;g390c5ac42cb_0_231"/>
            <p:cNvSpPr txBox="1"/>
            <p:nvPr/>
          </p:nvSpPr>
          <p:spPr>
            <a:xfrm>
              <a:off x="0" y="2378057"/>
              <a:ext cx="9182100" cy="2874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t/>
              </a:r>
              <a:endParaRPr/>
            </a:p>
          </p:txBody>
        </p:sp>
        <p:sp>
          <p:nvSpPr>
            <p:cNvPr id="188" name="Google Shape;188;g390c5ac42cb_0_231"/>
            <p:cNvSpPr txBox="1"/>
            <p:nvPr/>
          </p:nvSpPr>
          <p:spPr>
            <a:xfrm>
              <a:off x="0" y="3543318"/>
              <a:ext cx="9182100" cy="2874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t/>
              </a:r>
              <a:endParaRPr/>
            </a:p>
          </p:txBody>
        </p:sp>
        <p:sp>
          <p:nvSpPr>
            <p:cNvPr id="189" name="Google Shape;189;g390c5ac42cb_0_231"/>
            <p:cNvSpPr txBox="1"/>
            <p:nvPr/>
          </p:nvSpPr>
          <p:spPr>
            <a:xfrm>
              <a:off x="0" y="66667"/>
              <a:ext cx="12298200" cy="164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8000">
                  <a:solidFill>
                    <a:srgbClr val="FFFFFF"/>
                  </a:solidFill>
                  <a:latin typeface="Poppins"/>
                  <a:ea typeface="Poppins"/>
                  <a:cs typeface="Poppins"/>
                  <a:sym typeface="Poppins"/>
                </a:rPr>
                <a:t>Margin Analysis</a:t>
              </a:r>
              <a:endParaRPr/>
            </a:p>
          </p:txBody>
        </p:sp>
      </p:grpSp>
      <p:graphicFrame>
        <p:nvGraphicFramePr>
          <p:cNvPr id="190" name="Google Shape;190;g390c5ac42cb_0_231"/>
          <p:cNvGraphicFramePr/>
          <p:nvPr/>
        </p:nvGraphicFramePr>
        <p:xfrm>
          <a:off x="1457150" y="3429000"/>
          <a:ext cx="3000000" cy="3000000"/>
        </p:xfrm>
        <a:graphic>
          <a:graphicData uri="http://schemas.openxmlformats.org/drawingml/2006/table">
            <a:tbl>
              <a:tblPr>
                <a:noFill/>
                <a:tableStyleId>{5C328D1D-6ACE-4F93-BB71-2FF7B74A4B2A}</a:tableStyleId>
              </a:tblPr>
              <a:tblGrid>
                <a:gridCol w="2919250"/>
                <a:gridCol w="2214650"/>
                <a:gridCol w="2175500"/>
                <a:gridCol w="1906475"/>
                <a:gridCol w="1775975"/>
                <a:gridCol w="1645500"/>
                <a:gridCol w="1645500"/>
              </a:tblGrid>
              <a:tr h="1396375">
                <a:tc>
                  <a:txBody>
                    <a:bodyPr/>
                    <a:lstStyle/>
                    <a:p>
                      <a:pPr indent="0" lvl="0" marL="0" rtl="0" algn="l">
                        <a:spcBef>
                          <a:spcPts val="0"/>
                        </a:spcBef>
                        <a:spcAft>
                          <a:spcPts val="0"/>
                        </a:spcAft>
                        <a:buNone/>
                      </a:pPr>
                      <a:r>
                        <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chemeClr val="lt1"/>
                          </a:solidFill>
                        </a:rPr>
                        <a:t>2023 (A)</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chemeClr val="lt1"/>
                          </a:solidFill>
                        </a:rPr>
                        <a:t>2024 (A)</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chemeClr val="lt1"/>
                          </a:solidFill>
                        </a:rPr>
                        <a:t>2025 (A)</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rgbClr val="6FA8DC"/>
                          </a:solidFill>
                        </a:rPr>
                        <a:t>2026 (F)</a:t>
                      </a:r>
                      <a:endParaRPr sz="3000">
                        <a:solidFill>
                          <a:srgbClr val="6FA8DC"/>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rgbClr val="6FA8DC"/>
                          </a:solidFill>
                        </a:rPr>
                        <a:t>2027 (F)</a:t>
                      </a:r>
                      <a:endParaRPr sz="3000">
                        <a:solidFill>
                          <a:srgbClr val="6FA8DC"/>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rgbClr val="6FA8DC"/>
                          </a:solidFill>
                        </a:rPr>
                        <a:t>2028 (F)</a:t>
                      </a:r>
                      <a:endParaRPr sz="3000">
                        <a:solidFill>
                          <a:srgbClr val="6FA8DC"/>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1163700">
                <a:tc>
                  <a:txBody>
                    <a:bodyPr/>
                    <a:lstStyle/>
                    <a:p>
                      <a:pPr indent="0" lvl="0" marL="0" rtl="0" algn="l">
                        <a:lnSpc>
                          <a:spcPct val="115000"/>
                        </a:lnSpc>
                        <a:spcBef>
                          <a:spcPts val="0"/>
                        </a:spcBef>
                        <a:spcAft>
                          <a:spcPts val="0"/>
                        </a:spcAft>
                        <a:buNone/>
                      </a:pPr>
                      <a:r>
                        <a:rPr lang="en-US" sz="3000">
                          <a:solidFill>
                            <a:schemeClr val="lt1"/>
                          </a:solidFill>
                        </a:rPr>
                        <a:t>Gross Margin</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chemeClr val="lt1"/>
                          </a:solidFill>
                        </a:rPr>
                        <a:t>71%</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chemeClr val="lt1"/>
                          </a:solidFill>
                        </a:rPr>
                        <a:t>73%</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chemeClr val="lt1"/>
                          </a:solidFill>
                        </a:rPr>
                        <a:t>66%</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rgbClr val="6FA8DC"/>
                          </a:solidFill>
                        </a:rPr>
                        <a:t>67%</a:t>
                      </a:r>
                      <a:endParaRPr sz="3000">
                        <a:solidFill>
                          <a:srgbClr val="6FA8DC"/>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rgbClr val="6FA8DC"/>
                          </a:solidFill>
                        </a:rPr>
                        <a:t>67%</a:t>
                      </a:r>
                      <a:endParaRPr sz="3000">
                        <a:solidFill>
                          <a:srgbClr val="6FA8DC"/>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rgbClr val="6FA8DC"/>
                          </a:solidFill>
                        </a:rPr>
                        <a:t>67%</a:t>
                      </a:r>
                      <a:endParaRPr sz="3000">
                        <a:solidFill>
                          <a:srgbClr val="6FA8DC"/>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r h="1163700">
                <a:tc>
                  <a:txBody>
                    <a:bodyPr/>
                    <a:lstStyle/>
                    <a:p>
                      <a:pPr indent="0" lvl="0" marL="0" rtl="0" algn="l">
                        <a:lnSpc>
                          <a:spcPct val="115000"/>
                        </a:lnSpc>
                        <a:spcBef>
                          <a:spcPts val="0"/>
                        </a:spcBef>
                        <a:spcAft>
                          <a:spcPts val="0"/>
                        </a:spcAft>
                        <a:buNone/>
                      </a:pPr>
                      <a:r>
                        <a:rPr lang="en-US" sz="3000">
                          <a:solidFill>
                            <a:schemeClr val="lt1"/>
                          </a:solidFill>
                        </a:rPr>
                        <a:t>EBITDA Margin</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chemeClr val="lt1"/>
                          </a:solidFill>
                        </a:rPr>
                        <a:t>-4%</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chemeClr val="lt1"/>
                          </a:solidFill>
                        </a:rPr>
                        <a:t>-4%</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chemeClr val="lt1"/>
                          </a:solidFill>
                        </a:rPr>
                        <a:t>12%</a:t>
                      </a:r>
                      <a:endParaRPr sz="3000">
                        <a:solidFill>
                          <a:schemeClr val="lt1"/>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rgbClr val="6FA8DC"/>
                          </a:solidFill>
                        </a:rPr>
                        <a:t>1%</a:t>
                      </a:r>
                      <a:endParaRPr sz="3000">
                        <a:solidFill>
                          <a:srgbClr val="6FA8DC"/>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rgbClr val="6FA8DC"/>
                          </a:solidFill>
                        </a:rPr>
                        <a:t>20%</a:t>
                      </a:r>
                      <a:endParaRPr sz="3000">
                        <a:solidFill>
                          <a:srgbClr val="6FA8DC"/>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3000">
                          <a:solidFill>
                            <a:srgbClr val="6FA8DC"/>
                          </a:solidFill>
                        </a:rPr>
                        <a:t>32%</a:t>
                      </a:r>
                      <a:endParaRPr sz="3000">
                        <a:solidFill>
                          <a:srgbClr val="6FA8DC"/>
                        </a:solidFill>
                      </a:endParaRPr>
                    </a:p>
                  </a:txBody>
                  <a:tcPr marT="19050" marB="19050" marR="28575" marL="28575" anchor="b">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CCCCCC"/>
                      </a:solidFill>
                      <a:prstDash val="solid"/>
                      <a:round/>
                      <a:headEnd len="sm" w="sm" type="none"/>
                      <a:tailEnd len="sm" w="sm" type="none"/>
                    </a:lnT>
                    <a:lnB cap="flat" cmpd="sng" w="10575">
                      <a:solidFill>
                        <a:srgbClr val="CCCCCC"/>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194" name="Shape 194"/>
        <p:cNvGrpSpPr/>
        <p:nvPr/>
      </p:nvGrpSpPr>
      <p:grpSpPr>
        <a:xfrm>
          <a:off x="0" y="0"/>
          <a:ext cx="0" cy="0"/>
          <a:chOff x="0" y="0"/>
          <a:chExt cx="0" cy="0"/>
        </a:xfrm>
      </p:grpSpPr>
      <p:grpSp>
        <p:nvGrpSpPr>
          <p:cNvPr id="195" name="Google Shape;195;g390c5ac42cb_0_242"/>
          <p:cNvGrpSpPr/>
          <p:nvPr/>
        </p:nvGrpSpPr>
        <p:grpSpPr>
          <a:xfrm>
            <a:off x="666750" y="716750"/>
            <a:ext cx="9223650" cy="2823038"/>
            <a:chOff x="0" y="66667"/>
            <a:chExt cx="12298200" cy="3764051"/>
          </a:xfrm>
        </p:grpSpPr>
        <p:sp>
          <p:nvSpPr>
            <p:cNvPr id="196" name="Google Shape;196;g390c5ac42cb_0_242"/>
            <p:cNvSpPr txBox="1"/>
            <p:nvPr/>
          </p:nvSpPr>
          <p:spPr>
            <a:xfrm>
              <a:off x="0" y="2378057"/>
              <a:ext cx="9182100" cy="2874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t/>
              </a:r>
              <a:endParaRPr/>
            </a:p>
          </p:txBody>
        </p:sp>
        <p:sp>
          <p:nvSpPr>
            <p:cNvPr id="197" name="Google Shape;197;g390c5ac42cb_0_242"/>
            <p:cNvSpPr txBox="1"/>
            <p:nvPr/>
          </p:nvSpPr>
          <p:spPr>
            <a:xfrm>
              <a:off x="0" y="3543318"/>
              <a:ext cx="9182100" cy="2874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t/>
              </a:r>
              <a:endParaRPr/>
            </a:p>
          </p:txBody>
        </p:sp>
        <p:sp>
          <p:nvSpPr>
            <p:cNvPr id="198" name="Google Shape;198;g390c5ac42cb_0_242"/>
            <p:cNvSpPr txBox="1"/>
            <p:nvPr/>
          </p:nvSpPr>
          <p:spPr>
            <a:xfrm>
              <a:off x="0" y="66667"/>
              <a:ext cx="12298200" cy="164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8000">
                  <a:solidFill>
                    <a:srgbClr val="FFFFFF"/>
                  </a:solidFill>
                  <a:latin typeface="Poppins"/>
                  <a:ea typeface="Poppins"/>
                  <a:cs typeface="Poppins"/>
                  <a:sym typeface="Poppins"/>
                </a:rPr>
                <a:t>Valuation</a:t>
              </a:r>
              <a:endParaRPr/>
            </a:p>
          </p:txBody>
        </p:sp>
      </p:grpSp>
      <p:sp>
        <p:nvSpPr>
          <p:cNvPr id="199" name="Google Shape;199;g390c5ac42cb_0_242"/>
          <p:cNvSpPr txBox="1"/>
          <p:nvPr/>
        </p:nvSpPr>
        <p:spPr>
          <a:xfrm>
            <a:off x="1144418" y="3541536"/>
            <a:ext cx="14855100" cy="4353300"/>
          </a:xfrm>
          <a:prstGeom prst="rect">
            <a:avLst/>
          </a:prstGeom>
          <a:noFill/>
          <a:ln>
            <a:noFill/>
          </a:ln>
        </p:spPr>
        <p:txBody>
          <a:bodyPr anchorCtr="0" anchor="t" bIns="0" lIns="0" spcFirstLastPara="1" rIns="0" wrap="square" tIns="0">
            <a:spAutoFit/>
          </a:bodyPr>
          <a:lstStyle/>
          <a:p>
            <a:pPr indent="-304759" lvl="2" marL="914278" marR="0" rtl="0" algn="l">
              <a:lnSpc>
                <a:spcPct val="167991"/>
              </a:lnSpc>
              <a:spcBef>
                <a:spcPts val="0"/>
              </a:spcBef>
              <a:spcAft>
                <a:spcPts val="0"/>
              </a:spcAft>
              <a:buClr>
                <a:srgbClr val="FFFFFF"/>
              </a:buClr>
              <a:buSzPts val="3999"/>
              <a:buFont typeface="Arial"/>
              <a:buChar char="⚬"/>
            </a:pPr>
            <a:r>
              <a:rPr b="0" i="0" lang="en-US" sz="3999" u="none" cap="none" strike="noStrike">
                <a:solidFill>
                  <a:srgbClr val="FFFFFF"/>
                </a:solidFill>
                <a:latin typeface="Open Sans"/>
                <a:ea typeface="Open Sans"/>
                <a:cs typeface="Open Sans"/>
                <a:sym typeface="Open Sans"/>
              </a:rPr>
              <a:t>Offering Price: $</a:t>
            </a:r>
            <a:r>
              <a:rPr lang="en-US" sz="3999">
                <a:solidFill>
                  <a:srgbClr val="FFFFFF"/>
                </a:solidFill>
                <a:latin typeface="Open Sans"/>
                <a:ea typeface="Open Sans"/>
                <a:cs typeface="Open Sans"/>
                <a:sym typeface="Open Sans"/>
              </a:rPr>
              <a:t>15.37</a:t>
            </a:r>
            <a:endParaRPr b="0" i="0" sz="3999" u="none" cap="none" strike="noStrike">
              <a:solidFill>
                <a:srgbClr val="FFFFFF"/>
              </a:solidFill>
              <a:latin typeface="Open Sans"/>
              <a:ea typeface="Open Sans"/>
              <a:cs typeface="Open Sans"/>
              <a:sym typeface="Open Sans"/>
            </a:endParaRPr>
          </a:p>
          <a:p>
            <a:pPr indent="-304759" lvl="2" marL="914278" marR="0" rtl="0" algn="l">
              <a:lnSpc>
                <a:spcPct val="167991"/>
              </a:lnSpc>
              <a:spcBef>
                <a:spcPts val="0"/>
              </a:spcBef>
              <a:spcAft>
                <a:spcPts val="0"/>
              </a:spcAft>
              <a:buClr>
                <a:srgbClr val="FFFFFF"/>
              </a:buClr>
              <a:buSzPts val="3999"/>
              <a:buFont typeface="Arial"/>
              <a:buChar char="⚬"/>
            </a:pPr>
            <a:r>
              <a:rPr lang="en-US" sz="3999">
                <a:solidFill>
                  <a:srgbClr val="FFFFFF"/>
                </a:solidFill>
                <a:latin typeface="Open Sans"/>
                <a:ea typeface="Open Sans"/>
                <a:cs typeface="Open Sans"/>
                <a:sym typeface="Open Sans"/>
              </a:rPr>
              <a:t>14.7</a:t>
            </a:r>
            <a:r>
              <a:rPr b="0" i="0" lang="en-US" sz="3999" u="none" cap="none" strike="noStrike">
                <a:solidFill>
                  <a:srgbClr val="FFFFFF"/>
                </a:solidFill>
                <a:latin typeface="Open Sans"/>
                <a:ea typeface="Open Sans"/>
                <a:cs typeface="Open Sans"/>
                <a:sym typeface="Open Sans"/>
              </a:rPr>
              <a:t>% discount from </a:t>
            </a:r>
            <a:r>
              <a:rPr lang="en-US" sz="3999">
                <a:solidFill>
                  <a:srgbClr val="FFFFFF"/>
                </a:solidFill>
                <a:latin typeface="Open Sans"/>
                <a:ea typeface="Open Sans"/>
                <a:cs typeface="Open Sans"/>
                <a:sym typeface="Open Sans"/>
              </a:rPr>
              <a:t>9/30</a:t>
            </a:r>
            <a:r>
              <a:rPr b="0" i="0" lang="en-US" sz="3999" u="none" cap="none" strike="noStrike">
                <a:solidFill>
                  <a:srgbClr val="FFFFFF"/>
                </a:solidFill>
                <a:latin typeface="Open Sans"/>
                <a:ea typeface="Open Sans"/>
                <a:cs typeface="Open Sans"/>
                <a:sym typeface="Open Sans"/>
              </a:rPr>
              <a:t>/2025 closing price ($</a:t>
            </a:r>
            <a:r>
              <a:rPr lang="en-US" sz="3999">
                <a:solidFill>
                  <a:srgbClr val="FFFFFF"/>
                </a:solidFill>
                <a:latin typeface="Open Sans"/>
                <a:ea typeface="Open Sans"/>
                <a:cs typeface="Open Sans"/>
                <a:sym typeface="Open Sans"/>
              </a:rPr>
              <a:t>18.02</a:t>
            </a:r>
            <a:r>
              <a:rPr b="0" i="0" lang="en-US" sz="3999" u="none" cap="none" strike="noStrike">
                <a:solidFill>
                  <a:srgbClr val="FFFFFF"/>
                </a:solidFill>
                <a:latin typeface="Open Sans"/>
                <a:ea typeface="Open Sans"/>
                <a:cs typeface="Open Sans"/>
                <a:sym typeface="Open Sans"/>
              </a:rPr>
              <a:t>)</a:t>
            </a:r>
            <a:endParaRPr b="0" i="0" sz="3999" u="none" cap="none" strike="noStrike">
              <a:solidFill>
                <a:srgbClr val="FFFFFF"/>
              </a:solidFill>
              <a:latin typeface="Open Sans"/>
              <a:ea typeface="Open Sans"/>
              <a:cs typeface="Open Sans"/>
              <a:sym typeface="Open Sans"/>
            </a:endParaRPr>
          </a:p>
          <a:p>
            <a:pPr indent="-304759" lvl="2" marL="914278" marR="0" rtl="0" algn="l">
              <a:lnSpc>
                <a:spcPct val="167991"/>
              </a:lnSpc>
              <a:spcBef>
                <a:spcPts val="0"/>
              </a:spcBef>
              <a:spcAft>
                <a:spcPts val="0"/>
              </a:spcAft>
              <a:buClr>
                <a:srgbClr val="FFFFFF"/>
              </a:buClr>
              <a:buSzPts val="3999"/>
              <a:buFont typeface="Arial"/>
              <a:buChar char="⚬"/>
            </a:pPr>
            <a:r>
              <a:rPr lang="en-US" sz="3999">
                <a:solidFill>
                  <a:srgbClr val="FFFFFF"/>
                </a:solidFill>
                <a:latin typeface="Open Sans"/>
                <a:ea typeface="Open Sans"/>
                <a:cs typeface="Open Sans"/>
                <a:sym typeface="Open Sans"/>
              </a:rPr>
              <a:t>55</a:t>
            </a:r>
            <a:r>
              <a:rPr b="0" i="0" lang="en-US" sz="3999" u="none" cap="none" strike="noStrike">
                <a:solidFill>
                  <a:srgbClr val="FFFFFF"/>
                </a:solidFill>
                <a:latin typeface="Open Sans"/>
                <a:ea typeface="Open Sans"/>
                <a:cs typeface="Open Sans"/>
                <a:sym typeface="Open Sans"/>
              </a:rPr>
              <a:t>x 2025 EBITDA </a:t>
            </a:r>
            <a:r>
              <a:rPr lang="en-US" sz="3999">
                <a:solidFill>
                  <a:srgbClr val="FFFFFF"/>
                </a:solidFill>
                <a:latin typeface="Open Sans"/>
                <a:ea typeface="Open Sans"/>
                <a:cs typeface="Open Sans"/>
                <a:sym typeface="Open Sans"/>
              </a:rPr>
              <a:t>forecast</a:t>
            </a:r>
            <a:endParaRPr b="0" i="0" sz="3999" u="none" cap="none" strike="noStrike">
              <a:solidFill>
                <a:srgbClr val="FFFFFF"/>
              </a:solidFill>
              <a:latin typeface="Open Sans"/>
              <a:ea typeface="Open Sans"/>
              <a:cs typeface="Open Sans"/>
              <a:sym typeface="Open Sans"/>
            </a:endParaRPr>
          </a:p>
          <a:p>
            <a:pPr indent="-304759" lvl="2" marL="914278" marR="0" rtl="0" algn="l">
              <a:lnSpc>
                <a:spcPct val="167991"/>
              </a:lnSpc>
              <a:spcBef>
                <a:spcPts val="0"/>
              </a:spcBef>
              <a:spcAft>
                <a:spcPts val="0"/>
              </a:spcAft>
              <a:buClr>
                <a:srgbClr val="FFFFFF"/>
              </a:buClr>
              <a:buSzPts val="3999"/>
              <a:buFont typeface="Open Sans"/>
              <a:buChar char="⚬"/>
            </a:pPr>
            <a:r>
              <a:rPr lang="en-US" sz="3999">
                <a:solidFill>
                  <a:srgbClr val="FFFFFF"/>
                </a:solidFill>
                <a:latin typeface="Open Sans"/>
                <a:ea typeface="Open Sans"/>
                <a:cs typeface="Open Sans"/>
                <a:sym typeface="Open Sans"/>
              </a:rPr>
              <a:t>21x 2027 EBITDA forecast</a:t>
            </a:r>
            <a:endParaRPr sz="3999">
              <a:solidFill>
                <a:srgbClr val="FFFFFF"/>
              </a:solidFill>
              <a:latin typeface="Open Sans"/>
              <a:ea typeface="Open Sans"/>
              <a:cs typeface="Open Sans"/>
              <a:sym typeface="Open Sans"/>
            </a:endParaRPr>
          </a:p>
          <a:p>
            <a:pPr indent="-106691" lvl="2" marL="320076" marR="0" rtl="0" algn="l">
              <a:lnSpc>
                <a:spcPct val="35258"/>
              </a:lnSpc>
              <a:spcBef>
                <a:spcPts val="0"/>
              </a:spcBef>
              <a:spcAft>
                <a:spcPts val="0"/>
              </a:spcAft>
              <a:buClr>
                <a:srgbClr val="000000"/>
              </a:buClr>
              <a:buSzPts val="3999"/>
              <a:buFont typeface="Arial"/>
              <a:buNone/>
            </a:pPr>
            <a:r>
              <a:t/>
            </a:r>
            <a:endParaRPr b="0" i="0" sz="3999" u="none" cap="none" strike="noStrike">
              <a:solidFill>
                <a:srgbClr val="FFFFFF"/>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203" name="Shape 203"/>
        <p:cNvGrpSpPr/>
        <p:nvPr/>
      </p:nvGrpSpPr>
      <p:grpSpPr>
        <a:xfrm>
          <a:off x="0" y="0"/>
          <a:ext cx="0" cy="0"/>
          <a:chOff x="0" y="0"/>
          <a:chExt cx="0" cy="0"/>
        </a:xfrm>
      </p:grpSpPr>
      <p:grpSp>
        <p:nvGrpSpPr>
          <p:cNvPr id="204" name="Google Shape;204;g390c5ac42cb_0_251"/>
          <p:cNvGrpSpPr/>
          <p:nvPr/>
        </p:nvGrpSpPr>
        <p:grpSpPr>
          <a:xfrm>
            <a:off x="666750" y="716750"/>
            <a:ext cx="15669450" cy="2823038"/>
            <a:chOff x="0" y="66667"/>
            <a:chExt cx="20892600" cy="3764051"/>
          </a:xfrm>
        </p:grpSpPr>
        <p:sp>
          <p:nvSpPr>
            <p:cNvPr id="205" name="Google Shape;205;g390c5ac42cb_0_251"/>
            <p:cNvSpPr txBox="1"/>
            <p:nvPr/>
          </p:nvSpPr>
          <p:spPr>
            <a:xfrm>
              <a:off x="0" y="2378057"/>
              <a:ext cx="9182100" cy="287400"/>
            </a:xfrm>
            <a:prstGeom prst="rect">
              <a:avLst/>
            </a:prstGeom>
            <a:noFill/>
            <a:ln>
              <a:noFill/>
            </a:ln>
          </p:spPr>
          <p:txBody>
            <a:bodyPr anchorCtr="0" anchor="t" bIns="0" lIns="0" spcFirstLastPara="1" rIns="0" wrap="square" tIns="0">
              <a:spAutoFit/>
            </a:bodyPr>
            <a:lstStyle/>
            <a:p>
              <a:pPr indent="0" lvl="0" marL="0" marR="0" rtl="0" algn="just">
                <a:lnSpc>
                  <a:spcPct val="120000"/>
                </a:lnSpc>
                <a:spcBef>
                  <a:spcPts val="0"/>
                </a:spcBef>
                <a:spcAft>
                  <a:spcPts val="0"/>
                </a:spcAft>
                <a:buNone/>
              </a:pPr>
              <a:r>
                <a:t/>
              </a:r>
              <a:endParaRPr/>
            </a:p>
          </p:txBody>
        </p:sp>
        <p:sp>
          <p:nvSpPr>
            <p:cNvPr id="206" name="Google Shape;206;g390c5ac42cb_0_251"/>
            <p:cNvSpPr txBox="1"/>
            <p:nvPr/>
          </p:nvSpPr>
          <p:spPr>
            <a:xfrm>
              <a:off x="0" y="3543318"/>
              <a:ext cx="9182100" cy="2874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t/>
              </a:r>
              <a:endParaRPr/>
            </a:p>
          </p:txBody>
        </p:sp>
        <p:sp>
          <p:nvSpPr>
            <p:cNvPr id="207" name="Google Shape;207;g390c5ac42cb_0_251"/>
            <p:cNvSpPr txBox="1"/>
            <p:nvPr/>
          </p:nvSpPr>
          <p:spPr>
            <a:xfrm>
              <a:off x="0" y="66667"/>
              <a:ext cx="20892600" cy="1641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8000">
                  <a:solidFill>
                    <a:srgbClr val="FFFFFF"/>
                  </a:solidFill>
                  <a:latin typeface="Poppins"/>
                  <a:ea typeface="Poppins"/>
                  <a:cs typeface="Poppins"/>
                  <a:sym typeface="Poppins"/>
                </a:rPr>
                <a:t>Dilution Effect / EPS Sensitivity</a:t>
              </a:r>
              <a:endParaRPr/>
            </a:p>
          </p:txBody>
        </p:sp>
      </p:grpSp>
      <p:graphicFrame>
        <p:nvGraphicFramePr>
          <p:cNvPr id="208" name="Google Shape;208;g390c5ac42cb_0_251"/>
          <p:cNvGraphicFramePr/>
          <p:nvPr/>
        </p:nvGraphicFramePr>
        <p:xfrm>
          <a:off x="5090213" y="2435775"/>
          <a:ext cx="3000000" cy="3000000"/>
        </p:xfrm>
        <a:graphic>
          <a:graphicData uri="http://schemas.openxmlformats.org/drawingml/2006/table">
            <a:tbl>
              <a:tblPr>
                <a:noFill/>
                <a:tableStyleId>{5C328D1D-6ACE-4F93-BB71-2FF7B74A4B2A}</a:tableStyleId>
              </a:tblPr>
              <a:tblGrid>
                <a:gridCol w="5361150"/>
                <a:gridCol w="2746450"/>
              </a:tblGrid>
              <a:tr h="1241700">
                <a:tc>
                  <a:txBody>
                    <a:bodyPr/>
                    <a:lstStyle/>
                    <a:p>
                      <a:pPr indent="0" lvl="0" marL="0" rtl="0" algn="l">
                        <a:lnSpc>
                          <a:spcPct val="115000"/>
                        </a:lnSpc>
                        <a:spcBef>
                          <a:spcPts val="0"/>
                        </a:spcBef>
                        <a:spcAft>
                          <a:spcPts val="0"/>
                        </a:spcAft>
                        <a:buNone/>
                      </a:pPr>
                      <a:r>
                        <a:rPr b="1" lang="en-US" sz="3000">
                          <a:solidFill>
                            <a:srgbClr val="3D85C6"/>
                          </a:solidFill>
                        </a:rPr>
                        <a:t>SHARE COUNT ANALYSIS</a:t>
                      </a:r>
                      <a:endParaRPr b="1" sz="3000">
                        <a:solidFill>
                          <a:srgbClr val="3D85C6"/>
                        </a:solidFill>
                      </a:endParaRPr>
                    </a:p>
                  </a:txBody>
                  <a:tcPr marT="91425" marB="91425" marR="28575" marL="28575" anchor="ctr">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US" sz="1800">
                          <a:solidFill>
                            <a:schemeClr val="lt1"/>
                          </a:solidFill>
                        </a:rPr>
                        <a:t>Shares</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en-US" sz="1800">
                          <a:solidFill>
                            <a:schemeClr val="lt1"/>
                          </a:solidFill>
                        </a:rPr>
                        <a:t>Shares Outstanding Q3 (000s)</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800">
                          <a:solidFill>
                            <a:schemeClr val="lt1"/>
                          </a:solidFill>
                        </a:rPr>
                        <a:t>288,154</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en-US" sz="1800">
                          <a:solidFill>
                            <a:schemeClr val="lt1"/>
                          </a:solidFill>
                        </a:rPr>
                        <a:t>Primary Shares Issued (000s)</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800">
                          <a:solidFill>
                            <a:schemeClr val="lt1"/>
                          </a:solidFill>
                        </a:rPr>
                        <a:t>25,000</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r>
              <a:tr h="371475">
                <a:tc>
                  <a:txBody>
                    <a:bodyPr/>
                    <a:lstStyle/>
                    <a:p>
                      <a:pPr indent="0" lvl="0" marL="0" rtl="0" algn="l">
                        <a:lnSpc>
                          <a:spcPct val="115000"/>
                        </a:lnSpc>
                        <a:spcBef>
                          <a:spcPts val="0"/>
                        </a:spcBef>
                        <a:spcAft>
                          <a:spcPts val="0"/>
                        </a:spcAft>
                        <a:buNone/>
                      </a:pPr>
                      <a:r>
                        <a:rPr lang="en-US" sz="1800">
                          <a:solidFill>
                            <a:schemeClr val="lt1"/>
                          </a:solidFill>
                        </a:rPr>
                        <a:t>Shares Outstanding After Offering (000s)</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800">
                          <a:solidFill>
                            <a:schemeClr val="lt1"/>
                          </a:solidFill>
                        </a:rPr>
                        <a:t>313,154</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solidFill>
                      <a:srgbClr val="073763"/>
                    </a:solidFill>
                  </a:tcPr>
                </a:tc>
              </a:tr>
            </a:tbl>
          </a:graphicData>
        </a:graphic>
      </p:graphicFrame>
      <p:graphicFrame>
        <p:nvGraphicFramePr>
          <p:cNvPr id="209" name="Google Shape;209;g390c5ac42cb_0_251"/>
          <p:cNvGraphicFramePr/>
          <p:nvPr/>
        </p:nvGraphicFramePr>
        <p:xfrm>
          <a:off x="5090188" y="5668088"/>
          <a:ext cx="3000000" cy="3000000"/>
        </p:xfrm>
        <a:graphic>
          <a:graphicData uri="http://schemas.openxmlformats.org/drawingml/2006/table">
            <a:tbl>
              <a:tblPr>
                <a:noFill/>
                <a:tableStyleId>{5C328D1D-6ACE-4F93-BB71-2FF7B74A4B2A}</a:tableStyleId>
              </a:tblPr>
              <a:tblGrid>
                <a:gridCol w="4004575"/>
                <a:gridCol w="2051525"/>
                <a:gridCol w="2051525"/>
              </a:tblGrid>
              <a:tr h="200025">
                <a:tc gridSpan="3">
                  <a:txBody>
                    <a:bodyPr/>
                    <a:lstStyle/>
                    <a:p>
                      <a:pPr indent="0" lvl="0" marL="0" rtl="0" algn="l">
                        <a:lnSpc>
                          <a:spcPct val="115000"/>
                        </a:lnSpc>
                        <a:spcBef>
                          <a:spcPts val="0"/>
                        </a:spcBef>
                        <a:spcAft>
                          <a:spcPts val="0"/>
                        </a:spcAft>
                        <a:buNone/>
                      </a:pPr>
                      <a:r>
                        <a:rPr b="1" lang="en-US" sz="3000">
                          <a:solidFill>
                            <a:srgbClr val="3D85C6"/>
                          </a:solidFill>
                        </a:rPr>
                        <a:t>BASIC EPS CALCULATION 2027 Forecast</a:t>
                      </a:r>
                      <a:endParaRPr b="1" sz="3000">
                        <a:solidFill>
                          <a:srgbClr val="3D85C6"/>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hMerge="1">
                  <a:txBody>
                    <a:bodyPr/>
                    <a:p/>
                  </a:txBody>
                </a:tc>
                <a:tc hMerge="1">
                  <a:txBody>
                    <a:bodyPr/>
                    <a:p/>
                  </a:txBody>
                </a:tc>
              </a:tr>
              <a:tr h="200025">
                <a:tc>
                  <a:txBody>
                    <a:bodyPr/>
                    <a:lstStyle/>
                    <a:p>
                      <a:pPr indent="0" lvl="0" marL="0" rtl="0" algn="l">
                        <a:spcBef>
                          <a:spcPts val="0"/>
                        </a:spcBef>
                        <a:spcAft>
                          <a:spcPts val="0"/>
                        </a:spcAft>
                        <a:buNone/>
                      </a:pPr>
                      <a:r>
                        <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00">
                          <a:solidFill>
                            <a:schemeClr val="lt1"/>
                          </a:solidFill>
                        </a:rPr>
                        <a:t>Before Offering</a:t>
                      </a:r>
                      <a:endParaRPr b="1"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00">
                          <a:solidFill>
                            <a:schemeClr val="lt1"/>
                          </a:solidFill>
                        </a:rPr>
                        <a:t>After Offering</a:t>
                      </a:r>
                      <a:endParaRPr b="1"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US" sz="1800">
                          <a:solidFill>
                            <a:schemeClr val="lt1"/>
                          </a:solidFill>
                        </a:rPr>
                        <a:t>Shares Outstanding (000s)</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800">
                          <a:solidFill>
                            <a:schemeClr val="lt1"/>
                          </a:solidFill>
                        </a:rPr>
                        <a:t>288,154</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800">
                          <a:solidFill>
                            <a:schemeClr val="lt1"/>
                          </a:solidFill>
                        </a:rPr>
                        <a:t>313,154</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US" sz="1800">
                          <a:solidFill>
                            <a:schemeClr val="lt1"/>
                          </a:solidFill>
                        </a:rPr>
                        <a:t>Net Income ($000s)</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800">
                          <a:solidFill>
                            <a:schemeClr val="lt1"/>
                          </a:solidFill>
                        </a:rPr>
                        <a:t>114,800</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1800">
                          <a:solidFill>
                            <a:schemeClr val="lt1"/>
                          </a:solidFill>
                        </a:rPr>
                        <a:t>114,800</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r>
              <a:tr h="908300">
                <a:tc>
                  <a:txBody>
                    <a:bodyPr/>
                    <a:lstStyle/>
                    <a:p>
                      <a:pPr indent="0" lvl="0" marL="0" rtl="0" algn="l">
                        <a:lnSpc>
                          <a:spcPct val="115000"/>
                        </a:lnSpc>
                        <a:spcBef>
                          <a:spcPts val="0"/>
                        </a:spcBef>
                        <a:spcAft>
                          <a:spcPts val="0"/>
                        </a:spcAft>
                        <a:buNone/>
                      </a:pPr>
                      <a:r>
                        <a:rPr lang="en-US" sz="1800">
                          <a:solidFill>
                            <a:schemeClr val="lt1"/>
                          </a:solidFill>
                        </a:rPr>
                        <a:t>Basic EPS</a:t>
                      </a:r>
                      <a:endParaRPr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00">
                          <a:solidFill>
                            <a:schemeClr val="lt1"/>
                          </a:solidFill>
                        </a:rPr>
                        <a:t>$0.3984</a:t>
                      </a:r>
                      <a:endParaRPr b="1"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solidFill>
                      <a:srgbClr val="073763"/>
                    </a:solidFill>
                  </a:tcPr>
                </a:tc>
                <a:tc>
                  <a:txBody>
                    <a:bodyPr/>
                    <a:lstStyle/>
                    <a:p>
                      <a:pPr indent="0" lvl="0" marL="0" rtl="0" algn="ctr">
                        <a:lnSpc>
                          <a:spcPct val="115000"/>
                        </a:lnSpc>
                        <a:spcBef>
                          <a:spcPts val="0"/>
                        </a:spcBef>
                        <a:spcAft>
                          <a:spcPts val="0"/>
                        </a:spcAft>
                        <a:buNone/>
                      </a:pPr>
                      <a:r>
                        <a:rPr b="1" lang="en-US" sz="1800">
                          <a:solidFill>
                            <a:schemeClr val="lt1"/>
                          </a:solidFill>
                        </a:rPr>
                        <a:t>$0.3666</a:t>
                      </a:r>
                      <a:endParaRPr b="1" sz="1800">
                        <a:solidFill>
                          <a:schemeClr val="lt1"/>
                        </a:solidFill>
                      </a:endParaRPr>
                    </a:p>
                  </a:txBody>
                  <a:tcPr marT="91425" marB="91425" marR="28575" marL="28575" anchor="b">
                    <a:lnL cap="flat" cmpd="sng" w="10575">
                      <a:solidFill>
                        <a:schemeClr val="lt1"/>
                      </a:solidFill>
                      <a:prstDash val="solid"/>
                      <a:round/>
                      <a:headEnd len="sm" w="sm" type="none"/>
                      <a:tailEnd len="sm" w="sm" type="none"/>
                    </a:lnL>
                    <a:lnR cap="flat" cmpd="sng" w="10575">
                      <a:solidFill>
                        <a:schemeClr val="lt1"/>
                      </a:solidFill>
                      <a:prstDash val="solid"/>
                      <a:round/>
                      <a:headEnd len="sm" w="sm" type="none"/>
                      <a:tailEnd len="sm" w="sm" type="none"/>
                    </a:lnR>
                    <a:lnT cap="flat" cmpd="sng" w="10575">
                      <a:solidFill>
                        <a:schemeClr val="lt1"/>
                      </a:solidFill>
                      <a:prstDash val="solid"/>
                      <a:round/>
                      <a:headEnd len="sm" w="sm" type="none"/>
                      <a:tailEnd len="sm" w="sm" type="none"/>
                    </a:lnT>
                    <a:lnB cap="flat" cmpd="sng" w="10575">
                      <a:solidFill>
                        <a:schemeClr val="lt1"/>
                      </a:solidFill>
                      <a:prstDash val="solid"/>
                      <a:round/>
                      <a:headEnd len="sm" w="sm" type="none"/>
                      <a:tailEnd len="sm" w="sm" type="none"/>
                    </a:lnB>
                    <a:solidFill>
                      <a:srgbClr val="073763"/>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213" name="Shape 213"/>
        <p:cNvGrpSpPr/>
        <p:nvPr/>
      </p:nvGrpSpPr>
      <p:grpSpPr>
        <a:xfrm>
          <a:off x="0" y="0"/>
          <a:ext cx="0" cy="0"/>
          <a:chOff x="0" y="0"/>
          <a:chExt cx="0" cy="0"/>
        </a:xfrm>
      </p:grpSpPr>
      <p:sp>
        <p:nvSpPr>
          <p:cNvPr id="214" name="Google Shape;214;g390c5ac42cb_0_195"/>
          <p:cNvSpPr txBox="1"/>
          <p:nvPr/>
        </p:nvSpPr>
        <p:spPr>
          <a:xfrm>
            <a:off x="666750" y="716750"/>
            <a:ext cx="16882875" cy="12314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8000">
                <a:solidFill>
                  <a:srgbClr val="FFFFFF"/>
                </a:solidFill>
                <a:latin typeface="Poppins"/>
                <a:ea typeface="Poppins"/>
                <a:cs typeface="Poppins"/>
                <a:sym typeface="Poppins"/>
              </a:rPr>
              <a:t>Meet the Leadership Team</a:t>
            </a:r>
            <a:endParaRPr/>
          </a:p>
        </p:txBody>
      </p:sp>
      <p:pic>
        <p:nvPicPr>
          <p:cNvPr descr="Smiling confident young business woman in suit with hands folded (Provided by Getty Images)" id="215" name="Google Shape;215;g390c5ac42cb_0_195"/>
          <p:cNvPicPr preferRelativeResize="0"/>
          <p:nvPr/>
        </p:nvPicPr>
        <p:blipFill rotWithShape="1">
          <a:blip r:embed="rId3">
            <a:alphaModFix/>
          </a:blip>
          <a:srcRect b="0" l="0" r="-16306" t="0"/>
          <a:stretch/>
        </p:blipFill>
        <p:spPr>
          <a:xfrm>
            <a:off x="1984975" y="3706625"/>
            <a:ext cx="3333026" cy="2853499"/>
          </a:xfrm>
          <a:prstGeom prst="rect">
            <a:avLst/>
          </a:prstGeom>
          <a:noFill/>
          <a:ln>
            <a:noFill/>
          </a:ln>
        </p:spPr>
      </p:pic>
      <p:pic>
        <p:nvPicPr>
          <p:cNvPr descr="Inspired afro-american man with crossed arms (Provided by Getty Images)" id="216" name="Google Shape;216;g390c5ac42cb_0_195"/>
          <p:cNvPicPr preferRelativeResize="0"/>
          <p:nvPr/>
        </p:nvPicPr>
        <p:blipFill rotWithShape="1">
          <a:blip r:embed="rId4">
            <a:alphaModFix/>
          </a:blip>
          <a:srcRect b="0" l="0" r="0" t="0"/>
          <a:stretch/>
        </p:blipFill>
        <p:spPr>
          <a:xfrm>
            <a:off x="5793325" y="3722550"/>
            <a:ext cx="2881700" cy="2853500"/>
          </a:xfrm>
          <a:prstGeom prst="rect">
            <a:avLst/>
          </a:prstGeom>
          <a:noFill/>
          <a:ln>
            <a:noFill/>
          </a:ln>
        </p:spPr>
      </p:pic>
      <p:pic>
        <p:nvPicPr>
          <p:cNvPr descr="Dressed for success (Provided by Getty Images)" id="217" name="Google Shape;217;g390c5ac42cb_0_195"/>
          <p:cNvPicPr preferRelativeResize="0"/>
          <p:nvPr/>
        </p:nvPicPr>
        <p:blipFill rotWithShape="1">
          <a:blip r:embed="rId5">
            <a:alphaModFix/>
          </a:blip>
          <a:srcRect b="0" l="0" r="0" t="0"/>
          <a:stretch/>
        </p:blipFill>
        <p:spPr>
          <a:xfrm>
            <a:off x="9667700" y="3722550"/>
            <a:ext cx="2881700" cy="2853499"/>
          </a:xfrm>
          <a:prstGeom prst="rect">
            <a:avLst/>
          </a:prstGeom>
          <a:noFill/>
          <a:ln>
            <a:noFill/>
          </a:ln>
        </p:spPr>
      </p:pic>
      <p:sp>
        <p:nvSpPr>
          <p:cNvPr id="218" name="Google Shape;218;g390c5ac42cb_0_195"/>
          <p:cNvSpPr/>
          <p:nvPr/>
        </p:nvSpPr>
        <p:spPr>
          <a:xfrm>
            <a:off x="13376958" y="3698887"/>
            <a:ext cx="2881693" cy="2853500"/>
          </a:xfrm>
          <a:custGeom>
            <a:rect b="b" l="l" r="r" t="t"/>
            <a:pathLst>
              <a:path extrusionOk="0" h="3804666" w="3842258">
                <a:moveTo>
                  <a:pt x="86868" y="254"/>
                </a:moveTo>
                <a:lnTo>
                  <a:pt x="3808857" y="42291"/>
                </a:lnTo>
                <a:cubicBezTo>
                  <a:pt x="3827399" y="42545"/>
                  <a:pt x="3842258" y="57785"/>
                  <a:pt x="3842004" y="76327"/>
                </a:cubicBezTo>
                <a:lnTo>
                  <a:pt x="3789426" y="3771265"/>
                </a:lnTo>
                <a:cubicBezTo>
                  <a:pt x="3789172" y="3789807"/>
                  <a:pt x="3773805" y="3804666"/>
                  <a:pt x="3755263" y="3804285"/>
                </a:cubicBezTo>
                <a:lnTo>
                  <a:pt x="33147" y="3730625"/>
                </a:lnTo>
                <a:cubicBezTo>
                  <a:pt x="14732" y="3730244"/>
                  <a:pt x="0" y="3715004"/>
                  <a:pt x="254" y="3696589"/>
                </a:cubicBezTo>
                <a:lnTo>
                  <a:pt x="52959" y="33274"/>
                </a:lnTo>
                <a:cubicBezTo>
                  <a:pt x="53213" y="14732"/>
                  <a:pt x="68326" y="0"/>
                  <a:pt x="86868" y="254"/>
                </a:cubicBezTo>
                <a:close/>
              </a:path>
            </a:pathLst>
          </a:custGeom>
          <a:blipFill rotWithShape="1">
            <a:blip r:embed="rId6">
              <a:alphaModFix/>
            </a:blip>
            <a:stretch>
              <a:fillRect b="-25239" l="0" r="-10" t="-25229"/>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g390c5ac42cb_0_195"/>
          <p:cNvSpPr txBox="1"/>
          <p:nvPr/>
        </p:nvSpPr>
        <p:spPr>
          <a:xfrm>
            <a:off x="2051442" y="6984151"/>
            <a:ext cx="2735400" cy="307800"/>
          </a:xfrm>
          <a:prstGeom prst="rect">
            <a:avLst/>
          </a:prstGeom>
          <a:noFill/>
          <a:ln>
            <a:noFill/>
          </a:ln>
        </p:spPr>
        <p:txBody>
          <a:bodyPr anchorCtr="0" anchor="t" bIns="0" lIns="0" spcFirstLastPara="1" rIns="0" wrap="square" tIns="0">
            <a:spAutoFit/>
          </a:bodyPr>
          <a:lstStyle/>
          <a:p>
            <a:pPr indent="0" lvl="0" marL="0" marR="0" rtl="0" algn="ctr">
              <a:lnSpc>
                <a:spcPct val="167984"/>
              </a:lnSpc>
              <a:spcBef>
                <a:spcPts val="0"/>
              </a:spcBef>
              <a:spcAft>
                <a:spcPts val="0"/>
              </a:spcAft>
              <a:buClr>
                <a:srgbClr val="000000"/>
              </a:buClr>
              <a:buSzPts val="1999"/>
              <a:buFont typeface="Arial"/>
              <a:buNone/>
            </a:pPr>
            <a:r>
              <a:rPr b="1" lang="en-US" sz="1999">
                <a:solidFill>
                  <a:srgbClr val="B89A7C"/>
                </a:solidFill>
                <a:latin typeface="Open Sans"/>
                <a:ea typeface="Open Sans"/>
                <a:cs typeface="Open Sans"/>
                <a:sym typeface="Open Sans"/>
              </a:rPr>
              <a:t>Elena Vargas</a:t>
            </a:r>
            <a:endParaRPr b="0" i="0" sz="1400" u="none" cap="none" strike="noStrike">
              <a:solidFill>
                <a:srgbClr val="000000"/>
              </a:solidFill>
              <a:latin typeface="Arial"/>
              <a:ea typeface="Arial"/>
              <a:cs typeface="Arial"/>
              <a:sym typeface="Arial"/>
            </a:endParaRPr>
          </a:p>
        </p:txBody>
      </p:sp>
      <p:sp>
        <p:nvSpPr>
          <p:cNvPr id="220" name="Google Shape;220;g390c5ac42cb_0_195"/>
          <p:cNvSpPr txBox="1"/>
          <p:nvPr/>
        </p:nvSpPr>
        <p:spPr>
          <a:xfrm>
            <a:off x="1984970" y="7628676"/>
            <a:ext cx="3049500" cy="2737200"/>
          </a:xfrm>
          <a:prstGeom prst="rect">
            <a:avLst/>
          </a:prstGeom>
          <a:noFill/>
          <a:ln>
            <a:noFill/>
          </a:ln>
        </p:spPr>
        <p:txBody>
          <a:bodyPr anchorCtr="0" anchor="t" bIns="0" lIns="0" spcFirstLastPara="1" rIns="0" wrap="square" tIns="0">
            <a:spAutoFit/>
          </a:bodyPr>
          <a:lstStyle/>
          <a:p>
            <a:pPr indent="0" lvl="0" marL="0" rtl="0" algn="ctr">
              <a:lnSpc>
                <a:spcPct val="167984"/>
              </a:lnSpc>
              <a:spcBef>
                <a:spcPts val="0"/>
              </a:spcBef>
              <a:spcAft>
                <a:spcPts val="0"/>
              </a:spcAft>
              <a:buClr>
                <a:schemeClr val="dk1"/>
              </a:buClr>
              <a:buSzPts val="1999"/>
              <a:buFont typeface="Arial"/>
              <a:buNone/>
            </a:pPr>
            <a:r>
              <a:rPr b="1" lang="en-US" sz="1999">
                <a:solidFill>
                  <a:srgbClr val="B89A7C"/>
                </a:solidFill>
                <a:latin typeface="Open Sans"/>
                <a:ea typeface="Open Sans"/>
                <a:cs typeface="Open Sans"/>
                <a:sym typeface="Open Sans"/>
              </a:rPr>
              <a:t>CEO &amp; Executive Chairwoman of the Board </a:t>
            </a:r>
            <a:endParaRPr>
              <a:solidFill>
                <a:schemeClr val="dk1"/>
              </a:solidFill>
            </a:endParaRPr>
          </a:p>
          <a:p>
            <a:pPr indent="0" lvl="0" marL="0" marR="0" rtl="0" algn="ctr">
              <a:lnSpc>
                <a:spcPct val="167984"/>
              </a:lnSpc>
              <a:spcBef>
                <a:spcPts val="0"/>
              </a:spcBef>
              <a:spcAft>
                <a:spcPts val="0"/>
              </a:spcAft>
              <a:buClr>
                <a:srgbClr val="000000"/>
              </a:buClr>
              <a:buSzPts val="1999"/>
              <a:buFont typeface="Arial"/>
              <a:buNone/>
            </a:pPr>
            <a:r>
              <a:t/>
            </a:r>
            <a:endParaRPr sz="1999">
              <a:solidFill>
                <a:srgbClr val="FFFFFF"/>
              </a:solidFill>
              <a:latin typeface="Open Sans"/>
              <a:ea typeface="Open Sans"/>
              <a:cs typeface="Open Sans"/>
              <a:sym typeface="Open Sans"/>
            </a:endParaRPr>
          </a:p>
          <a:p>
            <a:pPr indent="0" lvl="0" marL="0" marR="0" rtl="0" algn="ctr">
              <a:lnSpc>
                <a:spcPct val="117658"/>
              </a:lnSpc>
              <a:spcBef>
                <a:spcPts val="0"/>
              </a:spcBef>
              <a:spcAft>
                <a:spcPts val="0"/>
              </a:spcAft>
              <a:buClr>
                <a:srgbClr val="000000"/>
              </a:buClr>
              <a:buSzPts val="1999"/>
              <a:buFont typeface="Arial"/>
              <a:buNone/>
            </a:pPr>
            <a:r>
              <a:t/>
            </a:r>
            <a:endParaRPr b="0" i="0" sz="1999" u="none" cap="none" strike="noStrike">
              <a:solidFill>
                <a:srgbClr val="FFFFFF"/>
              </a:solidFill>
              <a:latin typeface="Open Sans"/>
              <a:ea typeface="Open Sans"/>
              <a:cs typeface="Open Sans"/>
              <a:sym typeface="Open Sans"/>
            </a:endParaRPr>
          </a:p>
          <a:p>
            <a:pPr indent="0" lvl="0" marL="0" marR="0" rtl="0" algn="ctr">
              <a:lnSpc>
                <a:spcPct val="117658"/>
              </a:lnSpc>
              <a:spcBef>
                <a:spcPts val="0"/>
              </a:spcBef>
              <a:spcAft>
                <a:spcPts val="0"/>
              </a:spcAft>
              <a:buClr>
                <a:srgbClr val="000000"/>
              </a:buClr>
              <a:buSzPts val="1999"/>
              <a:buFont typeface="Arial"/>
              <a:buNone/>
            </a:pPr>
            <a:r>
              <a:t/>
            </a:r>
            <a:endParaRPr b="0" i="0" sz="1999" u="none" cap="none" strike="noStrike">
              <a:solidFill>
                <a:srgbClr val="FFFFFF"/>
              </a:solidFill>
              <a:latin typeface="Open Sans"/>
              <a:ea typeface="Open Sans"/>
              <a:cs typeface="Open Sans"/>
              <a:sym typeface="Open Sans"/>
            </a:endParaRPr>
          </a:p>
        </p:txBody>
      </p:sp>
      <p:sp>
        <p:nvSpPr>
          <p:cNvPr id="221" name="Google Shape;221;g390c5ac42cb_0_195"/>
          <p:cNvSpPr txBox="1"/>
          <p:nvPr/>
        </p:nvSpPr>
        <p:spPr>
          <a:xfrm>
            <a:off x="5867974" y="6984151"/>
            <a:ext cx="2735400" cy="307800"/>
          </a:xfrm>
          <a:prstGeom prst="rect">
            <a:avLst/>
          </a:prstGeom>
          <a:noFill/>
          <a:ln>
            <a:noFill/>
          </a:ln>
        </p:spPr>
        <p:txBody>
          <a:bodyPr anchorCtr="0" anchor="t" bIns="0" lIns="0" spcFirstLastPara="1" rIns="0" wrap="square" tIns="0">
            <a:spAutoFit/>
          </a:bodyPr>
          <a:lstStyle/>
          <a:p>
            <a:pPr indent="0" lvl="0" marL="0" marR="0" rtl="0" algn="ctr">
              <a:lnSpc>
                <a:spcPct val="167984"/>
              </a:lnSpc>
              <a:spcBef>
                <a:spcPts val="0"/>
              </a:spcBef>
              <a:spcAft>
                <a:spcPts val="0"/>
              </a:spcAft>
              <a:buClr>
                <a:srgbClr val="000000"/>
              </a:buClr>
              <a:buSzPts val="1999"/>
              <a:buFont typeface="Arial"/>
              <a:buNone/>
            </a:pPr>
            <a:r>
              <a:rPr b="1" lang="en-US" sz="1999">
                <a:solidFill>
                  <a:srgbClr val="B89A7C"/>
                </a:solidFill>
                <a:latin typeface="Open Sans"/>
                <a:ea typeface="Open Sans"/>
                <a:cs typeface="Open Sans"/>
                <a:sym typeface="Open Sans"/>
              </a:rPr>
              <a:t>Marcus Lee</a:t>
            </a:r>
            <a:endParaRPr b="0" i="0" sz="1400" u="none" cap="none" strike="noStrike">
              <a:solidFill>
                <a:srgbClr val="000000"/>
              </a:solidFill>
              <a:latin typeface="Arial"/>
              <a:ea typeface="Arial"/>
              <a:cs typeface="Arial"/>
              <a:sym typeface="Arial"/>
            </a:endParaRPr>
          </a:p>
        </p:txBody>
      </p:sp>
      <p:sp>
        <p:nvSpPr>
          <p:cNvPr id="222" name="Google Shape;222;g390c5ac42cb_0_195"/>
          <p:cNvSpPr txBox="1"/>
          <p:nvPr/>
        </p:nvSpPr>
        <p:spPr>
          <a:xfrm>
            <a:off x="9684506" y="6984151"/>
            <a:ext cx="2735400" cy="307800"/>
          </a:xfrm>
          <a:prstGeom prst="rect">
            <a:avLst/>
          </a:prstGeom>
          <a:noFill/>
          <a:ln>
            <a:noFill/>
          </a:ln>
        </p:spPr>
        <p:txBody>
          <a:bodyPr anchorCtr="0" anchor="t" bIns="0" lIns="0" spcFirstLastPara="1" rIns="0" wrap="square" tIns="0">
            <a:spAutoFit/>
          </a:bodyPr>
          <a:lstStyle/>
          <a:p>
            <a:pPr indent="0" lvl="0" marL="0" marR="0" rtl="0" algn="ctr">
              <a:lnSpc>
                <a:spcPct val="167984"/>
              </a:lnSpc>
              <a:spcBef>
                <a:spcPts val="0"/>
              </a:spcBef>
              <a:spcAft>
                <a:spcPts val="0"/>
              </a:spcAft>
              <a:buClr>
                <a:srgbClr val="000000"/>
              </a:buClr>
              <a:buSzPts val="1999"/>
              <a:buFont typeface="Arial"/>
              <a:buNone/>
            </a:pPr>
            <a:r>
              <a:rPr b="1" lang="en-US" sz="1999">
                <a:solidFill>
                  <a:srgbClr val="B89A7C"/>
                </a:solidFill>
                <a:latin typeface="Open Sans"/>
                <a:ea typeface="Open Sans"/>
                <a:cs typeface="Open Sans"/>
                <a:sym typeface="Open Sans"/>
              </a:rPr>
              <a:t>Sophia Patel</a:t>
            </a:r>
            <a:endParaRPr b="0" i="0" sz="1400" u="none" cap="none" strike="noStrike">
              <a:solidFill>
                <a:srgbClr val="000000"/>
              </a:solidFill>
              <a:latin typeface="Arial"/>
              <a:ea typeface="Arial"/>
              <a:cs typeface="Arial"/>
              <a:sym typeface="Arial"/>
            </a:endParaRPr>
          </a:p>
        </p:txBody>
      </p:sp>
      <p:sp>
        <p:nvSpPr>
          <p:cNvPr id="223" name="Google Shape;223;g390c5ac42cb_0_195"/>
          <p:cNvSpPr txBox="1"/>
          <p:nvPr/>
        </p:nvSpPr>
        <p:spPr>
          <a:xfrm>
            <a:off x="13501037" y="6984151"/>
            <a:ext cx="2735400" cy="307800"/>
          </a:xfrm>
          <a:prstGeom prst="rect">
            <a:avLst/>
          </a:prstGeom>
          <a:noFill/>
          <a:ln>
            <a:noFill/>
          </a:ln>
        </p:spPr>
        <p:txBody>
          <a:bodyPr anchorCtr="0" anchor="t" bIns="0" lIns="0" spcFirstLastPara="1" rIns="0" wrap="square" tIns="0">
            <a:spAutoFit/>
          </a:bodyPr>
          <a:lstStyle/>
          <a:p>
            <a:pPr indent="0" lvl="0" marL="0" marR="0" rtl="0" algn="ctr">
              <a:lnSpc>
                <a:spcPct val="167984"/>
              </a:lnSpc>
              <a:spcBef>
                <a:spcPts val="0"/>
              </a:spcBef>
              <a:spcAft>
                <a:spcPts val="0"/>
              </a:spcAft>
              <a:buClr>
                <a:srgbClr val="000000"/>
              </a:buClr>
              <a:buSzPts val="1999"/>
              <a:buFont typeface="Arial"/>
              <a:buNone/>
            </a:pPr>
            <a:r>
              <a:rPr b="1" lang="en-US" sz="1999">
                <a:solidFill>
                  <a:srgbClr val="B89A7C"/>
                </a:solidFill>
                <a:latin typeface="Open Sans"/>
                <a:ea typeface="Open Sans"/>
                <a:cs typeface="Open Sans"/>
                <a:sym typeface="Open Sans"/>
              </a:rPr>
              <a:t>Jordan Hale</a:t>
            </a:r>
            <a:endParaRPr b="0" i="0" sz="1400" u="none" cap="none" strike="noStrike">
              <a:solidFill>
                <a:srgbClr val="000000"/>
              </a:solidFill>
              <a:latin typeface="Arial"/>
              <a:ea typeface="Arial"/>
              <a:cs typeface="Arial"/>
              <a:sym typeface="Arial"/>
            </a:endParaRPr>
          </a:p>
        </p:txBody>
      </p:sp>
      <p:sp>
        <p:nvSpPr>
          <p:cNvPr id="224" name="Google Shape;224;g390c5ac42cb_0_195"/>
          <p:cNvSpPr txBox="1"/>
          <p:nvPr/>
        </p:nvSpPr>
        <p:spPr>
          <a:xfrm>
            <a:off x="5709420" y="7628676"/>
            <a:ext cx="3049500" cy="1703400"/>
          </a:xfrm>
          <a:prstGeom prst="rect">
            <a:avLst/>
          </a:prstGeom>
          <a:noFill/>
          <a:ln>
            <a:noFill/>
          </a:ln>
        </p:spPr>
        <p:txBody>
          <a:bodyPr anchorCtr="0" anchor="t" bIns="0" lIns="0" spcFirstLastPara="1" rIns="0" wrap="square" tIns="0">
            <a:spAutoFit/>
          </a:bodyPr>
          <a:lstStyle/>
          <a:p>
            <a:pPr indent="0" lvl="0" marL="0" rtl="0" algn="ctr">
              <a:lnSpc>
                <a:spcPct val="167984"/>
              </a:lnSpc>
              <a:spcBef>
                <a:spcPts val="0"/>
              </a:spcBef>
              <a:spcAft>
                <a:spcPts val="0"/>
              </a:spcAft>
              <a:buClr>
                <a:schemeClr val="dk1"/>
              </a:buClr>
              <a:buSzPts val="1999"/>
              <a:buFont typeface="Arial"/>
              <a:buNone/>
            </a:pPr>
            <a:r>
              <a:rPr b="1" lang="en-US" sz="1999">
                <a:solidFill>
                  <a:srgbClr val="B89A7C"/>
                </a:solidFill>
                <a:latin typeface="Open Sans"/>
                <a:ea typeface="Open Sans"/>
                <a:cs typeface="Open Sans"/>
                <a:sym typeface="Open Sans"/>
              </a:rPr>
              <a:t>Chief Financial Officer</a:t>
            </a:r>
            <a:endParaRPr>
              <a:solidFill>
                <a:schemeClr val="dk1"/>
              </a:solidFill>
            </a:endParaRPr>
          </a:p>
          <a:p>
            <a:pPr indent="0" lvl="0" marL="0" marR="0" rtl="0" algn="ctr">
              <a:lnSpc>
                <a:spcPct val="167984"/>
              </a:lnSpc>
              <a:spcBef>
                <a:spcPts val="0"/>
              </a:spcBef>
              <a:spcAft>
                <a:spcPts val="0"/>
              </a:spcAft>
              <a:buClr>
                <a:srgbClr val="000000"/>
              </a:buClr>
              <a:buSzPts val="1999"/>
              <a:buFont typeface="Arial"/>
              <a:buNone/>
            </a:pPr>
            <a:r>
              <a:t/>
            </a:r>
            <a:endParaRPr sz="1999">
              <a:solidFill>
                <a:srgbClr val="FFFFFF"/>
              </a:solidFill>
              <a:latin typeface="Open Sans"/>
              <a:ea typeface="Open Sans"/>
              <a:cs typeface="Open Sans"/>
              <a:sym typeface="Open Sans"/>
            </a:endParaRPr>
          </a:p>
          <a:p>
            <a:pPr indent="0" lvl="0" marL="0" marR="0" rtl="0" algn="ctr">
              <a:lnSpc>
                <a:spcPct val="117658"/>
              </a:lnSpc>
              <a:spcBef>
                <a:spcPts val="0"/>
              </a:spcBef>
              <a:spcAft>
                <a:spcPts val="0"/>
              </a:spcAft>
              <a:buClr>
                <a:srgbClr val="000000"/>
              </a:buClr>
              <a:buSzPts val="1999"/>
              <a:buFont typeface="Arial"/>
              <a:buNone/>
            </a:pPr>
            <a:r>
              <a:t/>
            </a:r>
            <a:endParaRPr b="0" i="0" sz="1999" u="none" cap="none" strike="noStrike">
              <a:solidFill>
                <a:srgbClr val="FFFFFF"/>
              </a:solidFill>
              <a:latin typeface="Open Sans"/>
              <a:ea typeface="Open Sans"/>
              <a:cs typeface="Open Sans"/>
              <a:sym typeface="Open Sans"/>
            </a:endParaRPr>
          </a:p>
          <a:p>
            <a:pPr indent="0" lvl="0" marL="0" marR="0" rtl="0" algn="ctr">
              <a:lnSpc>
                <a:spcPct val="117658"/>
              </a:lnSpc>
              <a:spcBef>
                <a:spcPts val="0"/>
              </a:spcBef>
              <a:spcAft>
                <a:spcPts val="0"/>
              </a:spcAft>
              <a:buClr>
                <a:srgbClr val="000000"/>
              </a:buClr>
              <a:buSzPts val="1999"/>
              <a:buFont typeface="Arial"/>
              <a:buNone/>
            </a:pPr>
            <a:r>
              <a:t/>
            </a:r>
            <a:endParaRPr b="0" i="0" sz="1999" u="none" cap="none" strike="noStrike">
              <a:solidFill>
                <a:srgbClr val="FFFFFF"/>
              </a:solidFill>
              <a:latin typeface="Open Sans"/>
              <a:ea typeface="Open Sans"/>
              <a:cs typeface="Open Sans"/>
              <a:sym typeface="Open Sans"/>
            </a:endParaRPr>
          </a:p>
        </p:txBody>
      </p:sp>
      <p:sp>
        <p:nvSpPr>
          <p:cNvPr id="225" name="Google Shape;225;g390c5ac42cb_0_195"/>
          <p:cNvSpPr txBox="1"/>
          <p:nvPr/>
        </p:nvSpPr>
        <p:spPr>
          <a:xfrm>
            <a:off x="9583795" y="7628676"/>
            <a:ext cx="3049500" cy="2220300"/>
          </a:xfrm>
          <a:prstGeom prst="rect">
            <a:avLst/>
          </a:prstGeom>
          <a:noFill/>
          <a:ln>
            <a:noFill/>
          </a:ln>
        </p:spPr>
        <p:txBody>
          <a:bodyPr anchorCtr="0" anchor="t" bIns="0" lIns="0" spcFirstLastPara="1" rIns="0" wrap="square" tIns="0">
            <a:spAutoFit/>
          </a:bodyPr>
          <a:lstStyle/>
          <a:p>
            <a:pPr indent="0" lvl="0" marL="0" rtl="0" algn="ctr">
              <a:lnSpc>
                <a:spcPct val="167984"/>
              </a:lnSpc>
              <a:spcBef>
                <a:spcPts val="0"/>
              </a:spcBef>
              <a:spcAft>
                <a:spcPts val="0"/>
              </a:spcAft>
              <a:buClr>
                <a:schemeClr val="dk1"/>
              </a:buClr>
              <a:buSzPts val="1999"/>
              <a:buFont typeface="Arial"/>
              <a:buNone/>
            </a:pPr>
            <a:r>
              <a:rPr b="1" lang="en-US" sz="1999">
                <a:solidFill>
                  <a:srgbClr val="B89A7C"/>
                </a:solidFill>
                <a:latin typeface="Open Sans"/>
                <a:ea typeface="Open Sans"/>
                <a:cs typeface="Open Sans"/>
                <a:sym typeface="Open Sans"/>
              </a:rPr>
              <a:t>Chief Operating Officer</a:t>
            </a:r>
            <a:endParaRPr>
              <a:solidFill>
                <a:schemeClr val="dk1"/>
              </a:solidFill>
            </a:endParaRPr>
          </a:p>
          <a:p>
            <a:pPr indent="0" lvl="0" marL="0" rtl="0" algn="ctr">
              <a:lnSpc>
                <a:spcPct val="167984"/>
              </a:lnSpc>
              <a:spcBef>
                <a:spcPts val="0"/>
              </a:spcBef>
              <a:spcAft>
                <a:spcPts val="0"/>
              </a:spcAft>
              <a:buClr>
                <a:schemeClr val="dk1"/>
              </a:buClr>
              <a:buSzPts val="1999"/>
              <a:buFont typeface="Arial"/>
              <a:buNone/>
            </a:pPr>
            <a:r>
              <a:t/>
            </a:r>
            <a:endParaRPr b="1" sz="1999">
              <a:solidFill>
                <a:srgbClr val="B89A7C"/>
              </a:solidFill>
              <a:latin typeface="Open Sans"/>
              <a:ea typeface="Open Sans"/>
              <a:cs typeface="Open Sans"/>
              <a:sym typeface="Open Sans"/>
            </a:endParaRPr>
          </a:p>
          <a:p>
            <a:pPr indent="0" lvl="0" marL="0" marR="0" rtl="0" algn="ctr">
              <a:lnSpc>
                <a:spcPct val="167984"/>
              </a:lnSpc>
              <a:spcBef>
                <a:spcPts val="0"/>
              </a:spcBef>
              <a:spcAft>
                <a:spcPts val="0"/>
              </a:spcAft>
              <a:buClr>
                <a:srgbClr val="000000"/>
              </a:buClr>
              <a:buSzPts val="1999"/>
              <a:buFont typeface="Arial"/>
              <a:buNone/>
            </a:pPr>
            <a:r>
              <a:t/>
            </a:r>
            <a:endParaRPr sz="1999">
              <a:solidFill>
                <a:srgbClr val="FFFFFF"/>
              </a:solidFill>
              <a:latin typeface="Open Sans"/>
              <a:ea typeface="Open Sans"/>
              <a:cs typeface="Open Sans"/>
              <a:sym typeface="Open Sans"/>
            </a:endParaRPr>
          </a:p>
          <a:p>
            <a:pPr indent="0" lvl="0" marL="0" marR="0" rtl="0" algn="ctr">
              <a:lnSpc>
                <a:spcPct val="117658"/>
              </a:lnSpc>
              <a:spcBef>
                <a:spcPts val="0"/>
              </a:spcBef>
              <a:spcAft>
                <a:spcPts val="0"/>
              </a:spcAft>
              <a:buClr>
                <a:srgbClr val="000000"/>
              </a:buClr>
              <a:buSzPts val="1999"/>
              <a:buFont typeface="Arial"/>
              <a:buNone/>
            </a:pPr>
            <a:r>
              <a:t/>
            </a:r>
            <a:endParaRPr b="0" i="0" sz="1999" u="none" cap="none" strike="noStrike">
              <a:solidFill>
                <a:srgbClr val="FFFFFF"/>
              </a:solidFill>
              <a:latin typeface="Open Sans"/>
              <a:ea typeface="Open Sans"/>
              <a:cs typeface="Open Sans"/>
              <a:sym typeface="Open Sans"/>
            </a:endParaRPr>
          </a:p>
          <a:p>
            <a:pPr indent="0" lvl="0" marL="0" marR="0" rtl="0" algn="ctr">
              <a:lnSpc>
                <a:spcPct val="117658"/>
              </a:lnSpc>
              <a:spcBef>
                <a:spcPts val="0"/>
              </a:spcBef>
              <a:spcAft>
                <a:spcPts val="0"/>
              </a:spcAft>
              <a:buClr>
                <a:srgbClr val="000000"/>
              </a:buClr>
              <a:buSzPts val="1999"/>
              <a:buFont typeface="Arial"/>
              <a:buNone/>
            </a:pPr>
            <a:r>
              <a:t/>
            </a:r>
            <a:endParaRPr b="0" i="0" sz="1999" u="none" cap="none" strike="noStrike">
              <a:solidFill>
                <a:srgbClr val="FFFFFF"/>
              </a:solidFill>
              <a:latin typeface="Open Sans"/>
              <a:ea typeface="Open Sans"/>
              <a:cs typeface="Open Sans"/>
              <a:sym typeface="Open Sans"/>
            </a:endParaRPr>
          </a:p>
        </p:txBody>
      </p:sp>
      <p:sp>
        <p:nvSpPr>
          <p:cNvPr id="226" name="Google Shape;226;g390c5ac42cb_0_195"/>
          <p:cNvSpPr txBox="1"/>
          <p:nvPr/>
        </p:nvSpPr>
        <p:spPr>
          <a:xfrm>
            <a:off x="13343970" y="7628676"/>
            <a:ext cx="3049500" cy="1341300"/>
          </a:xfrm>
          <a:prstGeom prst="rect">
            <a:avLst/>
          </a:prstGeom>
          <a:noFill/>
          <a:ln>
            <a:noFill/>
          </a:ln>
        </p:spPr>
        <p:txBody>
          <a:bodyPr anchorCtr="0" anchor="t" bIns="0" lIns="0" spcFirstLastPara="1" rIns="0" wrap="square" tIns="0">
            <a:spAutoFit/>
          </a:bodyPr>
          <a:lstStyle/>
          <a:p>
            <a:pPr indent="0" lvl="0" marL="0" rtl="0" algn="ctr">
              <a:lnSpc>
                <a:spcPct val="167984"/>
              </a:lnSpc>
              <a:spcBef>
                <a:spcPts val="0"/>
              </a:spcBef>
              <a:spcAft>
                <a:spcPts val="0"/>
              </a:spcAft>
              <a:buClr>
                <a:schemeClr val="dk1"/>
              </a:buClr>
              <a:buSzPts val="1999"/>
              <a:buFont typeface="Arial"/>
              <a:buNone/>
            </a:pPr>
            <a:r>
              <a:rPr b="1" lang="en-US" sz="1999">
                <a:solidFill>
                  <a:srgbClr val="B89A7C"/>
                </a:solidFill>
                <a:latin typeface="Open Sans"/>
                <a:ea typeface="Open Sans"/>
                <a:cs typeface="Open Sans"/>
                <a:sym typeface="Open Sans"/>
              </a:rPr>
              <a:t>Chief Revenue Officer</a:t>
            </a:r>
            <a:endParaRPr b="1" sz="1999">
              <a:solidFill>
                <a:srgbClr val="B89A7C"/>
              </a:solidFill>
              <a:latin typeface="Open Sans"/>
              <a:ea typeface="Open Sans"/>
              <a:cs typeface="Open Sans"/>
              <a:sym typeface="Open Sans"/>
            </a:endParaRPr>
          </a:p>
          <a:p>
            <a:pPr indent="0" lvl="0" marL="0" rtl="0" algn="ctr">
              <a:lnSpc>
                <a:spcPct val="167984"/>
              </a:lnSpc>
              <a:spcBef>
                <a:spcPts val="0"/>
              </a:spcBef>
              <a:spcAft>
                <a:spcPts val="0"/>
              </a:spcAft>
              <a:buClr>
                <a:schemeClr val="dk1"/>
              </a:buClr>
              <a:buSzPts val="1999"/>
              <a:buFont typeface="Arial"/>
              <a:buNone/>
            </a:pPr>
            <a:r>
              <a:t/>
            </a:r>
            <a:endParaRPr b="1" sz="1999">
              <a:solidFill>
                <a:srgbClr val="B89A7C"/>
              </a:solidFill>
              <a:latin typeface="Open Sans"/>
              <a:ea typeface="Open Sans"/>
              <a:cs typeface="Open Sans"/>
              <a:sym typeface="Open Sans"/>
            </a:endParaRPr>
          </a:p>
          <a:p>
            <a:pPr indent="0" lvl="0" marL="0" marR="0" rtl="0" algn="ctr">
              <a:lnSpc>
                <a:spcPct val="117658"/>
              </a:lnSpc>
              <a:spcBef>
                <a:spcPts val="0"/>
              </a:spcBef>
              <a:spcAft>
                <a:spcPts val="0"/>
              </a:spcAft>
              <a:buClr>
                <a:srgbClr val="000000"/>
              </a:buClr>
              <a:buSzPts val="1999"/>
              <a:buFont typeface="Arial"/>
              <a:buNone/>
            </a:pPr>
            <a:r>
              <a:t/>
            </a:r>
            <a:endParaRPr b="0" i="0" sz="1999" u="none" cap="none" strike="noStrike">
              <a:solidFill>
                <a:srgbClr val="FFFFFF"/>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230" name="Shape 230"/>
        <p:cNvGrpSpPr/>
        <p:nvPr/>
      </p:nvGrpSpPr>
      <p:grpSpPr>
        <a:xfrm>
          <a:off x="0" y="0"/>
          <a:ext cx="0" cy="0"/>
          <a:chOff x="0" y="0"/>
          <a:chExt cx="0" cy="0"/>
        </a:xfrm>
      </p:grpSpPr>
      <p:grpSp>
        <p:nvGrpSpPr>
          <p:cNvPr id="231" name="Google Shape;231;g390c5ac42cb_0_48"/>
          <p:cNvGrpSpPr/>
          <p:nvPr/>
        </p:nvGrpSpPr>
        <p:grpSpPr>
          <a:xfrm>
            <a:off x="666750" y="716749"/>
            <a:ext cx="16230375" cy="8841108"/>
            <a:chOff x="0" y="66667"/>
            <a:chExt cx="21640500" cy="7200186"/>
          </a:xfrm>
        </p:grpSpPr>
        <p:sp>
          <p:nvSpPr>
            <p:cNvPr id="232" name="Google Shape;232;g390c5ac42cb_0_48"/>
            <p:cNvSpPr txBox="1"/>
            <p:nvPr/>
          </p:nvSpPr>
          <p:spPr>
            <a:xfrm>
              <a:off x="0" y="2378053"/>
              <a:ext cx="20718600" cy="4888800"/>
            </a:xfrm>
            <a:prstGeom prst="rect">
              <a:avLst/>
            </a:prstGeom>
            <a:noFill/>
            <a:ln>
              <a:noFill/>
            </a:ln>
          </p:spPr>
          <p:txBody>
            <a:bodyPr anchorCtr="0" anchor="t" bIns="0" lIns="0" spcFirstLastPara="1" rIns="0" wrap="square" tIns="0">
              <a:spAutoFit/>
            </a:bodyPr>
            <a:lstStyle/>
            <a:p>
              <a:pPr indent="0" lvl="0" marL="0" rtl="0" algn="just">
                <a:lnSpc>
                  <a:spcPct val="120000"/>
                </a:lnSpc>
                <a:spcBef>
                  <a:spcPts val="0"/>
                </a:spcBef>
                <a:spcAft>
                  <a:spcPts val="0"/>
                </a:spcAft>
                <a:buSzPts val="1100"/>
                <a:buNone/>
              </a:pPr>
              <a:r>
                <a:t/>
              </a:r>
              <a:endParaRPr b="1" sz="3000">
                <a:solidFill>
                  <a:srgbClr val="B3C7F9"/>
                </a:solidFill>
                <a:latin typeface="Proxima Nova"/>
                <a:ea typeface="Proxima Nova"/>
                <a:cs typeface="Proxima Nova"/>
                <a:sym typeface="Proxima Nova"/>
              </a:endParaRPr>
            </a:p>
            <a:p>
              <a:pPr indent="0" lvl="0" marL="0" rtl="0" algn="just">
                <a:lnSpc>
                  <a:spcPct val="120000"/>
                </a:lnSpc>
                <a:spcBef>
                  <a:spcPts val="0"/>
                </a:spcBef>
                <a:spcAft>
                  <a:spcPts val="0"/>
                </a:spcAft>
                <a:buSzPts val="1100"/>
                <a:buNone/>
              </a:pPr>
              <a:r>
                <a:t/>
              </a:r>
              <a:endParaRPr b="1" sz="3000">
                <a:solidFill>
                  <a:srgbClr val="B3C7F9"/>
                </a:solidFill>
                <a:latin typeface="Proxima Nova"/>
                <a:ea typeface="Proxima Nova"/>
                <a:cs typeface="Proxima Nova"/>
                <a:sym typeface="Proxima Nova"/>
              </a:endParaRPr>
            </a:p>
            <a:p>
              <a:pPr indent="0" lvl="0" marL="0" rtl="0" algn="l">
                <a:lnSpc>
                  <a:spcPct val="120000"/>
                </a:lnSpc>
                <a:spcBef>
                  <a:spcPts val="0"/>
                </a:spcBef>
                <a:spcAft>
                  <a:spcPts val="0"/>
                </a:spcAft>
                <a:buSzPts val="1100"/>
                <a:buNone/>
              </a:pPr>
              <a:r>
                <a:rPr b="1" lang="en-US" sz="4800">
                  <a:solidFill>
                    <a:srgbClr val="B3C7F9"/>
                  </a:solidFill>
                  <a:latin typeface="Proxima Nova"/>
                  <a:ea typeface="Proxima Nova"/>
                  <a:cs typeface="Proxima Nova"/>
                  <a:sym typeface="Proxima Nova"/>
                </a:rPr>
                <a:t>Be the world’s most trusted and comprehensive technology platform that simplifies the entire investment lifecycle... </a:t>
              </a:r>
              <a:endParaRPr b="1" sz="4800">
                <a:solidFill>
                  <a:srgbClr val="B3C7F9"/>
                </a:solidFill>
                <a:latin typeface="Proxima Nova"/>
                <a:ea typeface="Proxima Nova"/>
                <a:cs typeface="Proxima Nova"/>
                <a:sym typeface="Proxima Nova"/>
              </a:endParaRPr>
            </a:p>
            <a:p>
              <a:pPr indent="0" lvl="0" marL="0" rtl="0" algn="l">
                <a:lnSpc>
                  <a:spcPct val="120000"/>
                </a:lnSpc>
                <a:spcBef>
                  <a:spcPts val="0"/>
                </a:spcBef>
                <a:spcAft>
                  <a:spcPts val="0"/>
                </a:spcAft>
                <a:buSzPts val="1100"/>
                <a:buNone/>
              </a:pPr>
              <a:r>
                <a:t/>
              </a:r>
              <a:endParaRPr b="1" sz="4800">
                <a:solidFill>
                  <a:srgbClr val="B3C7F9"/>
                </a:solidFill>
                <a:latin typeface="Proxima Nova"/>
                <a:ea typeface="Proxima Nova"/>
                <a:cs typeface="Proxima Nova"/>
                <a:sym typeface="Proxima Nova"/>
              </a:endParaRPr>
            </a:p>
            <a:p>
              <a:pPr indent="0" lvl="0" marL="0" rtl="0" algn="l">
                <a:lnSpc>
                  <a:spcPct val="120000"/>
                </a:lnSpc>
                <a:spcBef>
                  <a:spcPts val="0"/>
                </a:spcBef>
                <a:spcAft>
                  <a:spcPts val="0"/>
                </a:spcAft>
                <a:buClr>
                  <a:schemeClr val="dk1"/>
                </a:buClr>
                <a:buSzPts val="1100"/>
                <a:buFont typeface="Arial"/>
                <a:buNone/>
              </a:pPr>
              <a:r>
                <a:rPr b="1" lang="en-US" sz="4800">
                  <a:solidFill>
                    <a:srgbClr val="B3C7F9"/>
                  </a:solidFill>
                  <a:latin typeface="Proxima Nova"/>
                  <a:ea typeface="Proxima Nova"/>
                  <a:cs typeface="Proxima Nova"/>
                  <a:sym typeface="Proxima Nova"/>
                </a:rPr>
                <a:t>and eventually </a:t>
              </a:r>
              <a:r>
                <a:rPr b="1" lang="en-US" sz="4800">
                  <a:solidFill>
                    <a:srgbClr val="073763"/>
                  </a:solidFill>
                  <a:highlight>
                    <a:srgbClr val="3D85C6"/>
                  </a:highlight>
                  <a:latin typeface="Proxima Nova"/>
                  <a:ea typeface="Proxima Nova"/>
                  <a:cs typeface="Proxima Nova"/>
                  <a:sym typeface="Proxima Nova"/>
                </a:rPr>
                <a:t>revolutionize the world of investing</a:t>
              </a:r>
              <a:r>
                <a:rPr b="1" lang="en-US" sz="4800">
                  <a:solidFill>
                    <a:srgbClr val="B3C7F9"/>
                  </a:solidFill>
                  <a:latin typeface="Proxima Nova"/>
                  <a:ea typeface="Proxima Nova"/>
                  <a:cs typeface="Proxima Nova"/>
                  <a:sym typeface="Proxima Nova"/>
                </a:rPr>
                <a:t>.</a:t>
              </a:r>
              <a:endParaRPr b="1" sz="4800">
                <a:solidFill>
                  <a:srgbClr val="B3C7F9"/>
                </a:solidFill>
                <a:latin typeface="Proxima Nova"/>
                <a:ea typeface="Proxima Nova"/>
                <a:cs typeface="Proxima Nova"/>
                <a:sym typeface="Proxima Nova"/>
              </a:endParaRPr>
            </a:p>
            <a:p>
              <a:pPr indent="0" lvl="0" marL="0" marR="0" rtl="0" algn="just">
                <a:lnSpc>
                  <a:spcPct val="120000"/>
                </a:lnSpc>
                <a:spcBef>
                  <a:spcPts val="0"/>
                </a:spcBef>
                <a:spcAft>
                  <a:spcPts val="0"/>
                </a:spcAft>
                <a:buNone/>
              </a:pPr>
              <a:r>
                <a:t/>
              </a:r>
              <a:endParaRPr b="1" sz="3000">
                <a:solidFill>
                  <a:srgbClr val="B3C7F9"/>
                </a:solidFill>
                <a:latin typeface="Proxima Nova"/>
                <a:ea typeface="Proxima Nova"/>
                <a:cs typeface="Proxima Nova"/>
                <a:sym typeface="Proxima Nova"/>
              </a:endParaRPr>
            </a:p>
          </p:txBody>
        </p:sp>
        <p:sp>
          <p:nvSpPr>
            <p:cNvPr id="233" name="Google Shape;233;g390c5ac42cb_0_48"/>
            <p:cNvSpPr txBox="1"/>
            <p:nvPr/>
          </p:nvSpPr>
          <p:spPr>
            <a:xfrm>
              <a:off x="0" y="66667"/>
              <a:ext cx="21640500" cy="200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8000">
                  <a:solidFill>
                    <a:srgbClr val="FFFFFF"/>
                  </a:solidFill>
                  <a:latin typeface="Poppins"/>
                  <a:ea typeface="Poppins"/>
                  <a:cs typeface="Poppins"/>
                  <a:sym typeface="Poppins"/>
                </a:rPr>
                <a:t>Our vision for the future remains the same</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44"/>
        </a:solidFill>
      </p:bgPr>
    </p:bg>
    <p:spTree>
      <p:nvGrpSpPr>
        <p:cNvPr id="237" name="Shape 237"/>
        <p:cNvGrpSpPr/>
        <p:nvPr/>
      </p:nvGrpSpPr>
      <p:grpSpPr>
        <a:xfrm>
          <a:off x="0" y="0"/>
          <a:ext cx="0" cy="0"/>
          <a:chOff x="0" y="0"/>
          <a:chExt cx="0" cy="0"/>
        </a:xfrm>
      </p:grpSpPr>
      <p:grpSp>
        <p:nvGrpSpPr>
          <p:cNvPr id="238" name="Google Shape;238;p7"/>
          <p:cNvGrpSpPr/>
          <p:nvPr/>
        </p:nvGrpSpPr>
        <p:grpSpPr>
          <a:xfrm>
            <a:off x="10734675" y="6919913"/>
            <a:ext cx="5448375" cy="838463"/>
            <a:chOff x="0" y="-19050"/>
            <a:chExt cx="7264500" cy="1117951"/>
          </a:xfrm>
        </p:grpSpPr>
        <p:sp>
          <p:nvSpPr>
            <p:cNvPr id="239" name="Google Shape;239;p7"/>
            <p:cNvSpPr txBox="1"/>
            <p:nvPr/>
          </p:nvSpPr>
          <p:spPr>
            <a:xfrm>
              <a:off x="0" y="606601"/>
              <a:ext cx="7264500" cy="492300"/>
            </a:xfrm>
            <a:prstGeom prst="rect">
              <a:avLst/>
            </a:prstGeom>
            <a:noFill/>
            <a:ln>
              <a:noFill/>
            </a:ln>
          </p:spPr>
          <p:txBody>
            <a:bodyPr anchorCtr="0" anchor="t" bIns="0" lIns="0" spcFirstLastPara="1" rIns="0" wrap="square" tIns="0">
              <a:spAutoFit/>
            </a:bodyPr>
            <a:lstStyle/>
            <a:p>
              <a:pPr indent="0" lvl="0" marL="0" marR="0" rtl="0" algn="l">
                <a:lnSpc>
                  <a:spcPct val="130012"/>
                </a:lnSpc>
                <a:spcBef>
                  <a:spcPts val="0"/>
                </a:spcBef>
                <a:spcAft>
                  <a:spcPts val="0"/>
                </a:spcAft>
                <a:buNone/>
              </a:pPr>
              <a:r>
                <a:rPr lang="en-US" sz="2399">
                  <a:solidFill>
                    <a:srgbClr val="D9E6FB"/>
                  </a:solidFill>
                  <a:latin typeface="Proxima Nova"/>
                  <a:ea typeface="Proxima Nova"/>
                  <a:cs typeface="Proxima Nova"/>
                  <a:sym typeface="Proxima Nova"/>
                </a:rPr>
                <a:t>(650) 555-0001</a:t>
              </a:r>
              <a:endParaRPr/>
            </a:p>
          </p:txBody>
        </p:sp>
        <p:sp>
          <p:nvSpPr>
            <p:cNvPr id="240" name="Google Shape;240;p7"/>
            <p:cNvSpPr txBox="1"/>
            <p:nvPr/>
          </p:nvSpPr>
          <p:spPr>
            <a:xfrm>
              <a:off x="0" y="-19050"/>
              <a:ext cx="7264400" cy="4991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2400" u="none" cap="none" strike="noStrike">
                  <a:solidFill>
                    <a:srgbClr val="B3C7F9"/>
                  </a:solidFill>
                  <a:latin typeface="Proxima Nova"/>
                  <a:ea typeface="Proxima Nova"/>
                  <a:cs typeface="Proxima Nova"/>
                  <a:sym typeface="Proxima Nova"/>
                </a:rPr>
                <a:t>Phone Number</a:t>
              </a:r>
              <a:endParaRPr/>
            </a:p>
          </p:txBody>
        </p:sp>
      </p:grpSp>
      <p:grpSp>
        <p:nvGrpSpPr>
          <p:cNvPr id="241" name="Google Shape;241;p7"/>
          <p:cNvGrpSpPr/>
          <p:nvPr/>
        </p:nvGrpSpPr>
        <p:grpSpPr>
          <a:xfrm>
            <a:off x="10753244" y="5129213"/>
            <a:ext cx="5429731" cy="838463"/>
            <a:chOff x="0" y="-19050"/>
            <a:chExt cx="7239641" cy="1117951"/>
          </a:xfrm>
        </p:grpSpPr>
        <p:sp>
          <p:nvSpPr>
            <p:cNvPr id="242" name="Google Shape;242;p7"/>
            <p:cNvSpPr txBox="1"/>
            <p:nvPr/>
          </p:nvSpPr>
          <p:spPr>
            <a:xfrm>
              <a:off x="0" y="606601"/>
              <a:ext cx="7239600" cy="492300"/>
            </a:xfrm>
            <a:prstGeom prst="rect">
              <a:avLst/>
            </a:prstGeom>
            <a:noFill/>
            <a:ln>
              <a:noFill/>
            </a:ln>
          </p:spPr>
          <p:txBody>
            <a:bodyPr anchorCtr="0" anchor="t" bIns="0" lIns="0" spcFirstLastPara="1" rIns="0" wrap="square" tIns="0">
              <a:spAutoFit/>
            </a:bodyPr>
            <a:lstStyle/>
            <a:p>
              <a:pPr indent="0" lvl="0" marL="0" marR="0" rtl="0" algn="l">
                <a:lnSpc>
                  <a:spcPct val="130012"/>
                </a:lnSpc>
                <a:spcBef>
                  <a:spcPts val="0"/>
                </a:spcBef>
                <a:spcAft>
                  <a:spcPts val="0"/>
                </a:spcAft>
                <a:buNone/>
              </a:pPr>
              <a:r>
                <a:rPr lang="en-US" sz="2399">
                  <a:solidFill>
                    <a:srgbClr val="D9E6FB"/>
                  </a:solidFill>
                  <a:latin typeface="Proxima Nova"/>
                  <a:ea typeface="Proxima Nova"/>
                  <a:cs typeface="Proxima Nova"/>
                  <a:sym typeface="Proxima Nova"/>
                </a:rPr>
                <a:t>info@quantiva.com</a:t>
              </a:r>
              <a:endParaRPr/>
            </a:p>
          </p:txBody>
        </p:sp>
        <p:sp>
          <p:nvSpPr>
            <p:cNvPr id="243" name="Google Shape;243;p7"/>
            <p:cNvSpPr txBox="1"/>
            <p:nvPr/>
          </p:nvSpPr>
          <p:spPr>
            <a:xfrm>
              <a:off x="0" y="-19050"/>
              <a:ext cx="7239641" cy="4991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2400" u="none" cap="none" strike="noStrike">
                  <a:solidFill>
                    <a:srgbClr val="B3C7F9"/>
                  </a:solidFill>
                  <a:latin typeface="Proxima Nova"/>
                  <a:ea typeface="Proxima Nova"/>
                  <a:cs typeface="Proxima Nova"/>
                  <a:sym typeface="Proxima Nova"/>
                </a:rPr>
                <a:t>Email</a:t>
              </a:r>
              <a:endParaRPr/>
            </a:p>
          </p:txBody>
        </p:sp>
      </p:grpSp>
      <p:grpSp>
        <p:nvGrpSpPr>
          <p:cNvPr id="244" name="Google Shape;244;p7"/>
          <p:cNvGrpSpPr/>
          <p:nvPr/>
        </p:nvGrpSpPr>
        <p:grpSpPr>
          <a:xfrm>
            <a:off x="10753244" y="8711221"/>
            <a:ext cx="5429731" cy="838463"/>
            <a:chOff x="0" y="-19050"/>
            <a:chExt cx="7239641" cy="1117951"/>
          </a:xfrm>
        </p:grpSpPr>
        <p:sp>
          <p:nvSpPr>
            <p:cNvPr id="245" name="Google Shape;245;p7"/>
            <p:cNvSpPr txBox="1"/>
            <p:nvPr/>
          </p:nvSpPr>
          <p:spPr>
            <a:xfrm>
              <a:off x="0" y="606601"/>
              <a:ext cx="7239600" cy="492300"/>
            </a:xfrm>
            <a:prstGeom prst="rect">
              <a:avLst/>
            </a:prstGeom>
            <a:noFill/>
            <a:ln>
              <a:noFill/>
            </a:ln>
          </p:spPr>
          <p:txBody>
            <a:bodyPr anchorCtr="0" anchor="t" bIns="0" lIns="0" spcFirstLastPara="1" rIns="0" wrap="square" tIns="0">
              <a:spAutoFit/>
            </a:bodyPr>
            <a:lstStyle/>
            <a:p>
              <a:pPr indent="0" lvl="0" marL="0" marR="0" rtl="0" algn="l">
                <a:lnSpc>
                  <a:spcPct val="130012"/>
                </a:lnSpc>
                <a:spcBef>
                  <a:spcPts val="0"/>
                </a:spcBef>
                <a:spcAft>
                  <a:spcPts val="0"/>
                </a:spcAft>
                <a:buNone/>
              </a:pPr>
              <a:r>
                <a:rPr lang="en-US" sz="2399">
                  <a:solidFill>
                    <a:srgbClr val="D9E6FB"/>
                  </a:solidFill>
                  <a:latin typeface="Proxima Nova"/>
                  <a:ea typeface="Proxima Nova"/>
                  <a:cs typeface="Proxima Nova"/>
                  <a:sym typeface="Proxima Nova"/>
                </a:rPr>
                <a:t>www.quantiva.com</a:t>
              </a:r>
              <a:endParaRPr/>
            </a:p>
          </p:txBody>
        </p:sp>
        <p:sp>
          <p:nvSpPr>
            <p:cNvPr id="246" name="Google Shape;246;p7"/>
            <p:cNvSpPr txBox="1"/>
            <p:nvPr/>
          </p:nvSpPr>
          <p:spPr>
            <a:xfrm>
              <a:off x="0" y="-19050"/>
              <a:ext cx="7239641" cy="4991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i="0" lang="en-US" sz="2400" u="none" cap="none" strike="noStrike">
                  <a:solidFill>
                    <a:srgbClr val="B3C7F9"/>
                  </a:solidFill>
                  <a:latin typeface="Proxima Nova"/>
                  <a:ea typeface="Proxima Nova"/>
                  <a:cs typeface="Proxima Nova"/>
                  <a:sym typeface="Proxima Nova"/>
                </a:rPr>
                <a:t>Website URL</a:t>
              </a:r>
              <a:endParaRPr/>
            </a:p>
          </p:txBody>
        </p:sp>
      </p:grpSp>
      <p:sp>
        <p:nvSpPr>
          <p:cNvPr id="247" name="Google Shape;247;p7"/>
          <p:cNvSpPr/>
          <p:nvPr/>
        </p:nvSpPr>
        <p:spPr>
          <a:xfrm>
            <a:off x="0" y="-12700"/>
            <a:ext cx="9144000" cy="10299700"/>
          </a:xfrm>
          <a:custGeom>
            <a:rect b="b" l="l" r="r" t="t"/>
            <a:pathLst>
              <a:path extrusionOk="0" h="885799" w="786406">
                <a:moveTo>
                  <a:pt x="0" y="0"/>
                </a:moveTo>
                <a:lnTo>
                  <a:pt x="786406" y="0"/>
                </a:lnTo>
                <a:lnTo>
                  <a:pt x="786406" y="885799"/>
                </a:lnTo>
                <a:lnTo>
                  <a:pt x="0" y="885799"/>
                </a:lnTo>
                <a:close/>
              </a:path>
            </a:pathLst>
          </a:custGeom>
          <a:blipFill rotWithShape="1">
            <a:blip r:embed="rId3">
              <a:alphaModFix/>
            </a:blip>
            <a:stretch>
              <a:fillRect b="-155" l="0" r="0" t="-156"/>
            </a:stretch>
          </a:blipFill>
          <a:ln>
            <a:noFill/>
          </a:ln>
        </p:spPr>
        <p:txBody>
          <a:bodyPr/>
          <a:p/>
        </p:txBody>
      </p:sp>
      <p:grpSp>
        <p:nvGrpSpPr>
          <p:cNvPr id="248" name="Google Shape;248;p7"/>
          <p:cNvGrpSpPr/>
          <p:nvPr/>
        </p:nvGrpSpPr>
        <p:grpSpPr>
          <a:xfrm>
            <a:off x="10734675" y="659606"/>
            <a:ext cx="6886575" cy="2484871"/>
            <a:chOff x="0" y="-9525"/>
            <a:chExt cx="9182100" cy="3313161"/>
          </a:xfrm>
        </p:grpSpPr>
        <p:sp>
          <p:nvSpPr>
            <p:cNvPr id="249" name="Google Shape;249;p7"/>
            <p:cNvSpPr txBox="1"/>
            <p:nvPr/>
          </p:nvSpPr>
          <p:spPr>
            <a:xfrm>
              <a:off x="0" y="-9525"/>
              <a:ext cx="9182100" cy="1630892"/>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FFFFFF"/>
                  </a:solidFill>
                  <a:latin typeface="Poppins"/>
                  <a:ea typeface="Poppins"/>
                  <a:cs typeface="Poppins"/>
                  <a:sym typeface="Poppins"/>
                </a:rPr>
                <a:t>Conclusion</a:t>
              </a:r>
              <a:endParaRPr/>
            </a:p>
          </p:txBody>
        </p:sp>
        <p:sp>
          <p:nvSpPr>
            <p:cNvPr id="250" name="Google Shape;250;p7"/>
            <p:cNvSpPr txBox="1"/>
            <p:nvPr/>
          </p:nvSpPr>
          <p:spPr>
            <a:xfrm>
              <a:off x="0" y="1887636"/>
              <a:ext cx="9182100" cy="1416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000" u="none" cap="none" strike="noStrike">
                  <a:solidFill>
                    <a:srgbClr val="B3C7F9"/>
                  </a:solidFill>
                  <a:latin typeface="Proxima Nova"/>
                  <a:ea typeface="Proxima Nova"/>
                  <a:cs typeface="Proxima Nova"/>
                  <a:sym typeface="Proxima Nova"/>
                </a:rPr>
                <a:t>Next steps for participation and engagement in </a:t>
              </a:r>
              <a:r>
                <a:rPr lang="en-US" sz="3000">
                  <a:solidFill>
                    <a:srgbClr val="B3C7F9"/>
                  </a:solidFill>
                  <a:latin typeface="Proxima Nova"/>
                  <a:ea typeface="Proxima Nova"/>
                  <a:cs typeface="Proxima Nova"/>
                  <a:sym typeface="Proxima Nova"/>
                </a:rPr>
                <a:t>QNTA</a:t>
              </a:r>
              <a:r>
                <a:rPr b="0" i="0" lang="en-US" sz="3000" u="none" cap="none" strike="noStrike">
                  <a:solidFill>
                    <a:srgbClr val="B3C7F9"/>
                  </a:solidFill>
                  <a:latin typeface="Proxima Nova"/>
                  <a:ea typeface="Proxima Nova"/>
                  <a:cs typeface="Proxima Nova"/>
                  <a:sym typeface="Proxima Nova"/>
                </a:rPr>
                <a:t>'s growth</a:t>
              </a:r>
              <a:endParaRPr/>
            </a:p>
          </p:txBody>
        </p:sp>
      </p:grpSp>
      <p:grpSp>
        <p:nvGrpSpPr>
          <p:cNvPr id="251" name="Google Shape;251;p7"/>
          <p:cNvGrpSpPr/>
          <p:nvPr/>
        </p:nvGrpSpPr>
        <p:grpSpPr>
          <a:xfrm>
            <a:off x="681785" y="8189492"/>
            <a:ext cx="2861516" cy="1430758"/>
            <a:chOff x="0" y="0"/>
            <a:chExt cx="3815354" cy="1907677"/>
          </a:xfrm>
        </p:grpSpPr>
        <p:grpSp>
          <p:nvGrpSpPr>
            <p:cNvPr id="252" name="Google Shape;252;p7"/>
            <p:cNvGrpSpPr/>
            <p:nvPr/>
          </p:nvGrpSpPr>
          <p:grpSpPr>
            <a:xfrm>
              <a:off x="0" y="0"/>
              <a:ext cx="1907677" cy="1907677"/>
              <a:chOff x="0" y="0"/>
              <a:chExt cx="812800" cy="812800"/>
            </a:xfrm>
          </p:grpSpPr>
          <p:sp>
            <p:nvSpPr>
              <p:cNvPr id="253" name="Google Shape;253;p7"/>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0B2044"/>
              </a:solidFill>
              <a:ln>
                <a:noFill/>
              </a:ln>
            </p:spPr>
          </p:sp>
          <p:sp>
            <p:nvSpPr>
              <p:cNvPr id="254" name="Google Shape;254;p7"/>
              <p:cNvSpPr txBox="1"/>
              <p:nvPr/>
            </p:nvSpPr>
            <p:spPr>
              <a:xfrm>
                <a:off x="0" y="9525"/>
                <a:ext cx="812800" cy="803275"/>
              </a:xfrm>
              <a:prstGeom prst="rect">
                <a:avLst/>
              </a:prstGeom>
              <a:noFill/>
              <a:ln>
                <a:noFill/>
              </a:ln>
            </p:spPr>
            <p:txBody>
              <a:bodyPr anchorCtr="0" anchor="ctr" bIns="50800" lIns="50800" spcFirstLastPara="1" rIns="50800" wrap="square" tIns="50800">
                <a:noAutofit/>
              </a:bodyPr>
              <a:lstStyle/>
              <a:p>
                <a:pPr indent="0" lvl="0" marL="0" marR="0" rtl="0" algn="ctr">
                  <a:lnSpc>
                    <a:spcPct val="159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5" name="Google Shape;255;p7"/>
            <p:cNvGrpSpPr/>
            <p:nvPr/>
          </p:nvGrpSpPr>
          <p:grpSpPr>
            <a:xfrm>
              <a:off x="1907677" y="0"/>
              <a:ext cx="1907677" cy="1907677"/>
              <a:chOff x="0" y="0"/>
              <a:chExt cx="812800" cy="812800"/>
            </a:xfrm>
          </p:grpSpPr>
          <p:sp>
            <p:nvSpPr>
              <p:cNvPr id="256" name="Google Shape;256;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20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7"/>
              <p:cNvSpPr txBox="1"/>
              <p:nvPr/>
            </p:nvSpPr>
            <p:spPr>
              <a:xfrm>
                <a:off x="76200" y="85725"/>
                <a:ext cx="660400" cy="650875"/>
              </a:xfrm>
              <a:prstGeom prst="rect">
                <a:avLst/>
              </a:prstGeom>
              <a:noFill/>
              <a:ln>
                <a:noFill/>
              </a:ln>
            </p:spPr>
            <p:txBody>
              <a:bodyPr anchorCtr="0" anchor="ctr" bIns="50800" lIns="50800" spcFirstLastPara="1" rIns="50800" wrap="square" tIns="50800">
                <a:noAutofit/>
              </a:bodyPr>
              <a:lstStyle/>
              <a:p>
                <a:pPr indent="0" lvl="0" marL="0" marR="0" rtl="0" algn="ctr">
                  <a:lnSpc>
                    <a:spcPct val="159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cp:lastModifiedBy/>
  <dc:title/>
  <dc:subject/>
  <cp:keywords/>
  <dc:description/>
  <cp:category/>
  <cp:contentStatus/>
  <dc:identifier/>
  <cp:revision>1</cp:revision>
  <cp:version>None</cp:version>
</cp:coreProperties>
</file>
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oboto Slab"/>
      <p:regular r:id="rId16"/>
      <p:bold r:id="rId17"/>
    </p:embeddedFont>
    <p:embeddedFont>
      <p:font typeface="Roboto"/>
      <p:regular r:id="rId18"/>
      <p:bold r:id="rId19"/>
      <p:italic r:id="rId20"/>
      <p:boldItalic r:id="rId21"/>
    </p:embeddedFont>
    <p:embeddedFont>
      <p:font typeface="Proxima Nova"/>
      <p:regular r:id="rId22"/>
      <p:bold r:id="rId23"/>
      <p:italic r:id="rId24"/>
      <p:boldItalic r:id="rId25"/>
    </p:embeddedFont>
    <p:embeddedFont>
      <p:font typeface="Poppins"/>
      <p:regular r:id="rId26"/>
      <p:bold r:id="rId27"/>
      <p:italic r:id="rId28"/>
      <p:boldItalic r:id="rId29"/>
    </p:embeddedFont>
    <p:embeddedFont>
      <p:font typeface="Open Sans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4" roundtripDataSignature="AMtx7mjbHKwibmXkxxJmPdK8t53dtzHJE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font" Target="fonts/RobotoSlab-regular.fntdata"/><Relationship Id="rId17" Type="http://schemas.openxmlformats.org/officeDocument/2006/relationships/font" Target="fonts/RobotoSlab-bold.fntdata"/><Relationship Id="rId18" Type="http://schemas.openxmlformats.org/officeDocument/2006/relationships/font" Target="fonts/Roboto-regular.fntdata"/><Relationship Id="rId19" Type="http://schemas.openxmlformats.org/officeDocument/2006/relationships/font" Target="fonts/Roboto-bold.fntdata"/><Relationship Id="rId20" Type="http://schemas.openxmlformats.org/officeDocument/2006/relationships/font" Target="fonts/Roboto-italic.fntdata"/><Relationship Id="rId21" Type="http://schemas.openxmlformats.org/officeDocument/2006/relationships/font" Target="fonts/Roboto-boldItalic.fntdata"/><Relationship Id="rId22" Type="http://schemas.openxmlformats.org/officeDocument/2006/relationships/font" Target="fonts/ProximaNova-regular.fntdata"/><Relationship Id="rId23" Type="http://schemas.openxmlformats.org/officeDocument/2006/relationships/font" Target="fonts/ProximaNova-bold.fntdata"/><Relationship Id="rId24" Type="http://schemas.openxmlformats.org/officeDocument/2006/relationships/font" Target="fonts/ProximaNova-italic.fntdata"/><Relationship Id="rId25" Type="http://schemas.openxmlformats.org/officeDocument/2006/relationships/font" Target="fonts/ProximaNova-boldItalic.fntdata"/><Relationship Id="rId26" Type="http://schemas.openxmlformats.org/officeDocument/2006/relationships/font" Target="fonts/Poppins-regular.fntdata"/><Relationship Id="rId27" Type="http://schemas.openxmlformats.org/officeDocument/2006/relationships/font" Target="fonts/Poppins-bold.fntdata"/><Relationship Id="rId28" Type="http://schemas.openxmlformats.org/officeDocument/2006/relationships/font" Target="fonts/Poppins-italic.fntdata"/><Relationship Id="rId29" Type="http://schemas.openxmlformats.org/officeDocument/2006/relationships/font" Target="fonts/Poppins-boldItalic.fntdata"/><Relationship Id="rId30" Type="http://schemas.openxmlformats.org/officeDocument/2006/relationships/font" Target="fonts/OpenSans-regular.fntdata"/><Relationship Id="rId31" Type="http://schemas.openxmlformats.org/officeDocument/2006/relationships/font" Target="fonts/OpenSans-bold.fntdata"/><Relationship Id="rId32" Type="http://schemas.openxmlformats.org/officeDocument/2006/relationships/font" Target="fonts/OpenSans-italic.fntdata"/><Relationship Id="rId33" Type="http://schemas.openxmlformats.org/officeDocument/2006/relationships/font" Target="fonts/OpenSans-boldItalic.fntdata"/><Relationship Id="rId34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90d351b5d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1" name="Google Shape;61;g390d351b5d0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90c796c2b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7" name="Google Shape;77;g390c796c2bd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90d351b5d0_1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5" name="Google Shape;85;g390d351b5d0_1_9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90d351b5d0_1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3" name="Google Shape;93;g390d351b5d0_1_10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90d351b5d0_1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2" name="Google Shape;102;g390d351b5d0_1_18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90d3a6dfd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0" name="Google Shape;110;g390d3a6dfd9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90d3a6dfd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8" name="Google Shape;118;g390d3a6dfd9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90d3a6dfd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90d3a6dfd9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90d60615e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90d60615e4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90d3a6dfd9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g390d3a6dfd9_0_1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90c5fcd36f_0_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Google Shape;12;g390c5fcd36f_0_1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g390c5fcd36f_0_1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" name="Google Shape;14;g390c5fcd36f_0_15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5" name="Google Shape;15;g390c5fcd36f_0_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390c5fcd36f_0_4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g390c5fcd36f_0_4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9" name="Google Shape;19;g390c5fcd36f_0_4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" name="Google Shape;20;g390c5fcd36f_0_4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1" name="Google Shape;21;g390c5fcd36f_0_4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22" name="Google Shape;22;g390c5fcd36f_0_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Google Shape;24;g390c5fcd36f_0_11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g390c5fcd36f_0_11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6" name="Google Shape;26;g390c5fcd36f_0_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Google Shape;28;g390c5fcd36f_0_20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" name="Google Shape;29;g390c5fcd36f_0_2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" name="Google Shape;30;g390c5fcd36f_0_20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g390c5fcd36f_0_20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g390c5fcd36f_0_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90c5fcd36f_0_2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5" name="Google Shape;35;g390c5fcd36f_0_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Google Shape;37;g390c5fcd36f_0_29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" name="Google Shape;38;g390c5fcd36f_0_29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" name="Google Shape;39;g390c5fcd36f_0_29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" name="Google Shape;40;g390c5fcd36f_0_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90c5fcd36f_0_34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3" name="Google Shape;43;g390c5fcd36f_0_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90c5fcd36f_0_37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" name="Google Shape;46;g390c5fcd36f_0_37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" name="Google Shape;47;g390c5fcd36f_0_37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8" name="Google Shape;48;g390c5fcd36f_0_37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9" name="Google Shape;49;g390c5fcd36f_0_37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0" name="Google Shape;50;g390c5fcd36f_0_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90c5fcd36f_0_44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3" name="Google Shape;53;g390c5fcd36f_0_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90c5fcd36f_0_47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g390c5fcd36f_0_47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7" name="Google Shape;57;g390c5fcd36f_0_47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8" name="Google Shape;58;g390c5fcd36f_0_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90c5fcd36f_0_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g390c5fcd36f_0_0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g390c5fcd36f_0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Relationship Id="rId4" Type="http://schemas.openxmlformats.org/officeDocument/2006/relationships/image" Target="../media/image2.jpg"/><Relationship Id="rId5" Type="http://schemas.openxmlformats.org/officeDocument/2006/relationships/image" Target="../media/image4.jpg"/><Relationship Id="rId6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2044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90d351b5d0_1_0"/>
          <p:cNvSpPr/>
          <p:nvPr/>
        </p:nvSpPr>
        <p:spPr>
          <a:xfrm>
            <a:off x="4572000" y="-6350"/>
            <a:ext cx="4572951" cy="5150921"/>
          </a:xfrm>
          <a:custGeom>
            <a:rect b="b" l="l" r="r" t="t"/>
            <a:pathLst>
              <a:path extrusionOk="0" h="885799" w="786406">
                <a:moveTo>
                  <a:pt x="0" y="0"/>
                </a:moveTo>
                <a:lnTo>
                  <a:pt x="786406" y="0"/>
                </a:lnTo>
                <a:lnTo>
                  <a:pt x="786406" y="885799"/>
                </a:lnTo>
                <a:lnTo>
                  <a:pt x="0" y="885799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47" l="0" r="0" t="-158"/>
            </a:stretch>
          </a:blipFill>
          <a:ln>
            <a:noFill/>
          </a:ln>
        </p:spPr>
        <p:txBody>
          <a:bodyPr/>
          <a:p/>
        </p:txBody>
      </p:sp>
      <p:grpSp>
        <p:nvGrpSpPr>
          <p:cNvPr id="64" name="Google Shape;64;g390d351b5d0_1_0"/>
          <p:cNvGrpSpPr/>
          <p:nvPr/>
        </p:nvGrpSpPr>
        <p:grpSpPr>
          <a:xfrm>
            <a:off x="340888" y="329800"/>
            <a:ext cx="3812949" cy="3358710"/>
            <a:chOff x="-14" y="-9533"/>
            <a:chExt cx="9707100" cy="8956560"/>
          </a:xfrm>
        </p:grpSpPr>
        <p:sp>
          <p:nvSpPr>
            <p:cNvPr id="65" name="Google Shape;65;g390d351b5d0_1_0"/>
            <p:cNvSpPr txBox="1"/>
            <p:nvPr/>
          </p:nvSpPr>
          <p:spPr>
            <a:xfrm>
              <a:off x="-14" y="-9533"/>
              <a:ext cx="9707100" cy="34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1" i="0" lang="en" sz="4000" u="none" cap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Quantiva Technologies</a:t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g390d351b5d0_1_0"/>
            <p:cNvSpPr txBox="1"/>
            <p:nvPr/>
          </p:nvSpPr>
          <p:spPr>
            <a:xfrm>
              <a:off x="88933" y="6607327"/>
              <a:ext cx="9182100" cy="233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1" i="0" lang="en" sz="1500" u="none" cap="none" strike="noStrike">
                  <a:solidFill>
                    <a:srgbClr val="B3C7F9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Cloud-native investment, accounting, and reporting platform</a:t>
              </a:r>
              <a:endParaRPr b="1" i="0" sz="1500" u="none" cap="none" strike="noStrike">
                <a:solidFill>
                  <a:srgbClr val="B3C7F9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t/>
              </a:r>
              <a:endParaRPr b="1" i="0" sz="1500" u="none" cap="none" strike="noStrike">
                <a:solidFill>
                  <a:srgbClr val="B3C7F9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grpSp>
        <p:nvGrpSpPr>
          <p:cNvPr id="67" name="Google Shape;67;g390d351b5d0_1_0"/>
          <p:cNvGrpSpPr/>
          <p:nvPr/>
        </p:nvGrpSpPr>
        <p:grpSpPr>
          <a:xfrm>
            <a:off x="7379868" y="333375"/>
            <a:ext cx="1430744" cy="715476"/>
            <a:chOff x="0" y="0"/>
            <a:chExt cx="3815319" cy="1907935"/>
          </a:xfrm>
        </p:grpSpPr>
        <p:grpSp>
          <p:nvGrpSpPr>
            <p:cNvPr id="68" name="Google Shape;68;g390d351b5d0_1_0"/>
            <p:cNvGrpSpPr/>
            <p:nvPr/>
          </p:nvGrpSpPr>
          <p:grpSpPr>
            <a:xfrm>
              <a:off x="0" y="0"/>
              <a:ext cx="1907642" cy="1907935"/>
              <a:chOff x="0" y="0"/>
              <a:chExt cx="812800" cy="812925"/>
            </a:xfrm>
          </p:grpSpPr>
          <p:sp>
            <p:nvSpPr>
              <p:cNvPr id="69" name="Google Shape;69;g390d351b5d0_1_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0B2044"/>
              </a:solidFill>
              <a:ln>
                <a:noFill/>
              </a:ln>
            </p:spPr>
          </p:sp>
          <p:sp>
            <p:nvSpPr>
              <p:cNvPr id="70" name="Google Shape;70;g390d351b5d0_1_0"/>
              <p:cNvSpPr txBox="1"/>
              <p:nvPr/>
            </p:nvSpPr>
            <p:spPr>
              <a:xfrm>
                <a:off x="0" y="9525"/>
                <a:ext cx="812700" cy="80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59944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1" name="Google Shape;71;g390d351b5d0_1_0"/>
            <p:cNvGrpSpPr/>
            <p:nvPr/>
          </p:nvGrpSpPr>
          <p:grpSpPr>
            <a:xfrm>
              <a:off x="1907677" y="0"/>
              <a:ext cx="1907642" cy="1907642"/>
              <a:chOff x="0" y="0"/>
              <a:chExt cx="812800" cy="812800"/>
            </a:xfrm>
          </p:grpSpPr>
          <p:sp>
            <p:nvSpPr>
              <p:cNvPr id="72" name="Google Shape;72;g390d351b5d0_1_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B2044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" name="Google Shape;73;g390d351b5d0_1_0"/>
              <p:cNvSpPr txBox="1"/>
              <p:nvPr/>
            </p:nvSpPr>
            <p:spPr>
              <a:xfrm>
                <a:off x="76200" y="85725"/>
                <a:ext cx="660300" cy="65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59944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4" name="Google Shape;74;g390d351b5d0_1_0"/>
          <p:cNvSpPr txBox="1"/>
          <p:nvPr/>
        </p:nvSpPr>
        <p:spPr>
          <a:xfrm>
            <a:off x="0" y="4631525"/>
            <a:ext cx="4572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Disclaimer: Content is only for institutional US-based investors. 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Past performance is no guarantee of future results.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2044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90c796c2bd_0_0"/>
          <p:cNvSpPr/>
          <p:nvPr/>
        </p:nvSpPr>
        <p:spPr>
          <a:xfrm>
            <a:off x="4572000" y="0"/>
            <a:ext cx="4574459" cy="5146266"/>
          </a:xfrm>
          <a:custGeom>
            <a:rect b="b" l="l" r="r" t="t"/>
            <a:pathLst>
              <a:path extrusionOk="0" h="1640244" w="1457995">
                <a:moveTo>
                  <a:pt x="0" y="0"/>
                </a:moveTo>
                <a:lnTo>
                  <a:pt x="1457995" y="0"/>
                </a:lnTo>
                <a:lnTo>
                  <a:pt x="1457995" y="1640244"/>
                </a:lnTo>
                <a:lnTo>
                  <a:pt x="0" y="1640244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17" l="0" r="0" t="-217"/>
            </a:stretch>
          </a:blipFill>
          <a:ln>
            <a:noFill/>
          </a:ln>
        </p:spPr>
        <p:txBody>
          <a:bodyPr/>
          <a:p/>
        </p:txBody>
      </p:sp>
      <p:grpSp>
        <p:nvGrpSpPr>
          <p:cNvPr id="80" name="Google Shape;80;g390c796c2bd_0_0"/>
          <p:cNvGrpSpPr/>
          <p:nvPr/>
        </p:nvGrpSpPr>
        <p:grpSpPr>
          <a:xfrm>
            <a:off x="299525" y="329800"/>
            <a:ext cx="4125518" cy="4538618"/>
            <a:chOff x="0" y="-9525"/>
            <a:chExt cx="9182100" cy="12102982"/>
          </a:xfrm>
        </p:grpSpPr>
        <p:sp>
          <p:nvSpPr>
            <p:cNvPr id="81" name="Google Shape;81;g390c796c2bd_0_0"/>
            <p:cNvSpPr txBox="1"/>
            <p:nvPr/>
          </p:nvSpPr>
          <p:spPr>
            <a:xfrm>
              <a:off x="0" y="1996057"/>
              <a:ext cx="9182100" cy="1009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304800" lvl="0" marL="45720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9E6FB"/>
                </a:buClr>
                <a:buSzPts val="1200"/>
                <a:buFont typeface="Proxima Nova"/>
                <a:buChar char="●"/>
              </a:pPr>
              <a:r>
                <a:rPr b="1" i="0" lang="en" sz="1200" u="none" cap="none" strike="noStrike">
                  <a:solidFill>
                    <a:srgbClr val="D9E6F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Quantiva centralizes daily investment data from custodians, banks, and trading systems.</a:t>
              </a:r>
              <a:endParaRPr b="1" i="0" sz="1200" u="none" cap="none" strike="noStrike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0" lvl="0" marL="91440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1" i="0" sz="1200" u="none" cap="none" strike="noStrike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-304800" lvl="0" marL="45720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9E6FB"/>
                </a:buClr>
                <a:buSzPts val="1200"/>
                <a:buFont typeface="Proxima Nova"/>
                <a:buChar char="●"/>
              </a:pPr>
              <a:r>
                <a:rPr b="1" i="0" lang="en" sz="1200" u="none" cap="none" strike="noStrike">
                  <a:solidFill>
                    <a:srgbClr val="D9E6F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Automates reconciliation, investment accounting, and reporting — reducing manual finance/ops work.</a:t>
              </a:r>
              <a:endParaRPr b="1" i="0" sz="1200" u="none" cap="none" strike="noStrike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0" lvl="0" marL="91440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1" i="0" sz="1200" u="none" cap="none" strike="noStrike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-304800" lvl="0" marL="45720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9E6FB"/>
                </a:buClr>
                <a:buSzPts val="1200"/>
                <a:buFont typeface="Proxima Nova"/>
                <a:buChar char="●"/>
              </a:pPr>
              <a:r>
                <a:rPr b="1" i="0" lang="en" sz="1200" u="none" cap="none" strike="noStrike">
                  <a:solidFill>
                    <a:srgbClr val="D9E6F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Mission-critical for insurers, asset managers, corporates, and public entities that require audit-ready data.</a:t>
              </a:r>
              <a:endParaRPr b="1" i="0" sz="1200" u="none" cap="none" strike="noStrike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0" lvl="0" marL="91440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1" i="0" sz="1200" u="none" cap="none" strike="noStrike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-304800" lvl="0" marL="45720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9E6FB"/>
                </a:buClr>
                <a:buSzPts val="1200"/>
                <a:buFont typeface="Proxima Nova"/>
                <a:buChar char="●"/>
              </a:pPr>
              <a:r>
                <a:rPr b="1" i="0" lang="en" sz="1200" u="none" cap="none" strike="noStrike">
                  <a:solidFill>
                    <a:srgbClr val="D9E6F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Delivered as multi-tenant SaaS to speed onboarding and lower total cost of ownership.</a:t>
              </a:r>
              <a:endParaRPr b="1" i="0" sz="1200" u="none" cap="none" strike="noStrike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0" lvl="0" marL="91440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1" i="0" sz="1200" u="none" cap="none" strike="noStrike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-304800" lvl="0" marL="45720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9E6FB"/>
                </a:buClr>
                <a:buSzPts val="1200"/>
                <a:buFont typeface="Proxima Nova"/>
                <a:buChar char="●"/>
              </a:pPr>
              <a:r>
                <a:rPr b="1" i="0" lang="en" sz="1200" u="none" cap="none" strike="noStrike">
                  <a:solidFill>
                    <a:srgbClr val="D9E6F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Modelled on the operating approach of leading investment-accounting platforms.</a:t>
              </a:r>
              <a:endParaRPr b="1" i="0" sz="1200" u="none" cap="none" strike="noStrike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0" lvl="0" marL="45720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1" i="0" sz="1200" u="none" cap="none" strike="noStrike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82" name="Google Shape;82;g390c796c2bd_0_0"/>
            <p:cNvSpPr txBox="1"/>
            <p:nvPr/>
          </p:nvSpPr>
          <p:spPr>
            <a:xfrm>
              <a:off x="0" y="-9525"/>
              <a:ext cx="9174900" cy="123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1" i="0" lang="en" sz="3000" u="none" cap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Business Overview</a:t>
              </a:r>
              <a:endParaRPr b="0" i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2044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90d351b5d0_1_91"/>
          <p:cNvSpPr/>
          <p:nvPr/>
        </p:nvSpPr>
        <p:spPr>
          <a:xfrm>
            <a:off x="4572000" y="0"/>
            <a:ext cx="4574459" cy="5146266"/>
          </a:xfrm>
          <a:custGeom>
            <a:rect b="b" l="l" r="r" t="t"/>
            <a:pathLst>
              <a:path extrusionOk="0" h="1640244" w="1457995">
                <a:moveTo>
                  <a:pt x="0" y="0"/>
                </a:moveTo>
                <a:lnTo>
                  <a:pt x="1457995" y="0"/>
                </a:lnTo>
                <a:lnTo>
                  <a:pt x="1457995" y="1640244"/>
                </a:lnTo>
                <a:lnTo>
                  <a:pt x="0" y="1640244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17" l="0" r="0" t="-217"/>
            </a:stretch>
          </a:blipFill>
          <a:ln>
            <a:noFill/>
          </a:ln>
        </p:spPr>
        <p:txBody>
          <a:bodyPr/>
          <a:p/>
        </p:txBody>
      </p:sp>
      <p:grpSp>
        <p:nvGrpSpPr>
          <p:cNvPr id="88" name="Google Shape;88;g390d351b5d0_1_91"/>
          <p:cNvGrpSpPr/>
          <p:nvPr/>
        </p:nvGrpSpPr>
        <p:grpSpPr>
          <a:xfrm>
            <a:off x="222950" y="329800"/>
            <a:ext cx="4349044" cy="4214912"/>
            <a:chOff x="0" y="-9525"/>
            <a:chExt cx="9427800" cy="11239765"/>
          </a:xfrm>
        </p:grpSpPr>
        <p:sp>
          <p:nvSpPr>
            <p:cNvPr id="89" name="Google Shape;89;g390d351b5d0_1_91"/>
            <p:cNvSpPr txBox="1"/>
            <p:nvPr/>
          </p:nvSpPr>
          <p:spPr>
            <a:xfrm>
              <a:off x="0" y="2413540"/>
              <a:ext cx="9182100" cy="881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304800" lvl="0" marL="371475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9E6FB"/>
                </a:buClr>
                <a:buSzPts val="1200"/>
                <a:buFont typeface="Proxima Nova"/>
                <a:buChar char="●"/>
              </a:pPr>
              <a:r>
                <a:rPr b="1" i="0" lang="en" sz="1200" u="none" cap="none" strike="noStrike">
                  <a:solidFill>
                    <a:srgbClr val="D9E6F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Data Ingestion: daily feeds from global custodians, banks, and market systems.</a:t>
              </a:r>
              <a:endParaRPr b="1" i="0" sz="1200" u="none" cap="none" strike="noStrike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-228600" lvl="0" marL="371475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1" i="0" sz="1200" u="none" cap="none" strike="noStrike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-304800" lvl="0" marL="371475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9E6FB"/>
                </a:buClr>
                <a:buSzPts val="1200"/>
                <a:buFont typeface="Proxima Nova"/>
                <a:buChar char="●"/>
              </a:pPr>
              <a:r>
                <a:rPr b="1" i="0" lang="en" sz="1200" u="none" cap="none" strike="noStrike">
                  <a:solidFill>
                    <a:srgbClr val="D9E6F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Normalization: rules-based mapping into a canonical investment data model.</a:t>
              </a:r>
              <a:endParaRPr b="1" i="0" sz="1200" u="none" cap="none" strike="noStrike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-228600" lvl="0" marL="371475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1" i="0" sz="1200" u="none" cap="none" strike="noStrike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-304800" lvl="0" marL="371475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9E6FB"/>
                </a:buClr>
                <a:buSzPts val="1200"/>
                <a:buFont typeface="Proxima Nova"/>
                <a:buChar char="●"/>
              </a:pPr>
              <a:r>
                <a:rPr b="1" i="0" lang="en" sz="1200" u="none" cap="none" strike="noStrike">
                  <a:solidFill>
                    <a:srgbClr val="D9E6F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Reconciliation: automated cash, position, and transaction matching with exception workflows.</a:t>
              </a:r>
              <a:endParaRPr b="1" i="0" sz="1200" u="none" cap="none" strike="noStrike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-228600" lvl="0" marL="371475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1" i="0" sz="1200" u="none" cap="none" strike="noStrike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-304800" lvl="0" marL="371475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9E6FB"/>
                </a:buClr>
                <a:buSzPts val="1200"/>
                <a:buFont typeface="Proxima Nova"/>
                <a:buChar char="●"/>
              </a:pPr>
              <a:r>
                <a:rPr b="1" i="0" lang="en" sz="1200" u="none" cap="none" strike="noStrike">
                  <a:solidFill>
                    <a:srgbClr val="D9E6F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Investment Accounting: support for multiple bases and regulatory regimes.</a:t>
              </a:r>
              <a:endParaRPr b="1" i="0" sz="1200" u="none" cap="none" strike="noStrike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-228600" lvl="0" marL="371475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1" i="0" sz="1200" u="none" cap="none" strike="noStrike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-304800" lvl="0" marL="371475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9E6FB"/>
                </a:buClr>
                <a:buSzPts val="1200"/>
                <a:buFont typeface="Proxima Nova"/>
                <a:buChar char="●"/>
              </a:pPr>
              <a:r>
                <a:rPr b="1" i="0" lang="en" sz="1200" u="none" cap="none" strike="noStrike">
                  <a:solidFill>
                    <a:srgbClr val="D9E6F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Reporting &amp; Dashboards: management, regulatory/statutory, and client-facing reporting.</a:t>
              </a:r>
              <a:endParaRPr b="1" i="0" sz="1200" u="none" cap="none" strike="noStrike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90" name="Google Shape;90;g390d351b5d0_1_91"/>
            <p:cNvSpPr txBox="1"/>
            <p:nvPr/>
          </p:nvSpPr>
          <p:spPr>
            <a:xfrm>
              <a:off x="0" y="-9525"/>
              <a:ext cx="9427800" cy="123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1" i="0" lang="en" sz="3000" u="none" cap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Platform Capabilities</a:t>
              </a:r>
              <a:endParaRPr b="0" i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2044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oogle Shape;95;g390d351b5d0_1_101"/>
          <p:cNvGrpSpPr/>
          <p:nvPr/>
        </p:nvGrpSpPr>
        <p:grpSpPr>
          <a:xfrm>
            <a:off x="333375" y="284187"/>
            <a:ext cx="4238629" cy="4636128"/>
            <a:chOff x="0" y="-4005823"/>
            <a:chExt cx="11562000" cy="9634515"/>
          </a:xfrm>
        </p:grpSpPr>
        <p:sp>
          <p:nvSpPr>
            <p:cNvPr id="96" name="Google Shape;96;g390d351b5d0_1_101"/>
            <p:cNvSpPr txBox="1"/>
            <p:nvPr/>
          </p:nvSpPr>
          <p:spPr>
            <a:xfrm>
              <a:off x="0" y="-1568608"/>
              <a:ext cx="11291100" cy="719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304800" lvl="0" marL="45720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●"/>
              </a:pPr>
              <a:r>
                <a:rPr b="1" lang="en" sz="1200">
                  <a:solidFill>
                    <a:srgbClr val="D9E6F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Insurance: daily, accurate investment accounting to meet statutory/regulatory needs.</a:t>
              </a:r>
              <a:endParaRPr b="1" sz="1200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0" lvl="0" marL="45720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1" sz="1200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-304800" lvl="0" marL="45720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●"/>
              </a:pPr>
              <a:r>
                <a:rPr b="1" lang="en" sz="1200">
                  <a:solidFill>
                    <a:srgbClr val="D9E6F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Asset &amp; Wealth Managers: consolidated, reconciled portfolios for client reporting.</a:t>
              </a:r>
              <a:endParaRPr b="1" sz="1200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0" lvl="0" marL="45720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1" sz="1200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-304800" lvl="0" marL="45720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●"/>
              </a:pPr>
              <a:r>
                <a:rPr b="1" lang="en" sz="1200">
                  <a:solidFill>
                    <a:srgbClr val="D9E6F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Corporates &amp; Treasury: transparency into investment sleeves across multiple banks.</a:t>
              </a:r>
              <a:endParaRPr b="1" sz="1200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0" lvl="0" marL="45720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1" sz="1200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-304800" lvl="0" marL="45720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●"/>
              </a:pPr>
              <a:r>
                <a:rPr b="1" lang="en" sz="1200">
                  <a:solidFill>
                    <a:srgbClr val="D9E6F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Public entities: audit-ready investment reporting and controls.</a:t>
              </a:r>
              <a:endParaRPr b="1" sz="1200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0" lvl="0" marL="45720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1" sz="1200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-304800" lvl="0" marL="45720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●"/>
              </a:pPr>
              <a:r>
                <a:rPr b="1" lang="en" sz="1200">
                  <a:solidFill>
                    <a:srgbClr val="D9E6F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Land-and-expand: start with reporting or reconciliation, then add accounting and analytics.</a:t>
              </a:r>
              <a:r>
                <a:rPr b="1" i="0" lang="en" sz="1200" u="none" cap="none" strike="noStrike">
                  <a:solidFill>
                    <a:srgbClr val="D9E6F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 </a:t>
              </a:r>
              <a:endParaRPr b="1" i="0" sz="1200" u="none" cap="none" strike="noStrike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1" i="0" sz="1200" u="none" cap="none" strike="noStrike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1" i="0" sz="1800" u="none" cap="none" strike="noStrike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97" name="Google Shape;97;g390d351b5d0_1_101"/>
            <p:cNvSpPr txBox="1"/>
            <p:nvPr/>
          </p:nvSpPr>
          <p:spPr>
            <a:xfrm>
              <a:off x="0" y="-4005823"/>
              <a:ext cx="11562000" cy="191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" sz="3000" u="none" cap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Customers &amp; Use Cases</a:t>
              </a:r>
              <a:endParaRPr b="1" i="0" sz="3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98" name="Google Shape;98;g390d351b5d0_1_101"/>
          <p:cNvSpPr/>
          <p:nvPr/>
        </p:nvSpPr>
        <p:spPr>
          <a:xfrm>
            <a:off x="4572000" y="0"/>
            <a:ext cx="4572000" cy="5143500"/>
          </a:xfrm>
          <a:custGeom>
            <a:rect b="b" l="l" r="r" t="t"/>
            <a:pathLst>
              <a:path extrusionOk="0" h="914400" w="812800">
                <a:moveTo>
                  <a:pt x="0" y="0"/>
                </a:moveTo>
                <a:lnTo>
                  <a:pt x="812800" y="0"/>
                </a:lnTo>
                <a:lnTo>
                  <a:pt x="812800" y="914400"/>
                </a:lnTo>
                <a:lnTo>
                  <a:pt x="0" y="9144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17" l="0" r="0" t="-217"/>
            </a:stretch>
          </a:blipFill>
          <a:ln>
            <a:noFill/>
          </a:ln>
        </p:spPr>
        <p:txBody>
          <a:bodyPr/>
          <a:p/>
        </p:txBody>
      </p:sp>
      <p:sp>
        <p:nvSpPr>
          <p:cNvPr id="99" name="Google Shape;99;g390d351b5d0_1_101"/>
          <p:cNvSpPr txBox="1"/>
          <p:nvPr/>
        </p:nvSpPr>
        <p:spPr>
          <a:xfrm>
            <a:off x="4832950" y="633825"/>
            <a:ext cx="4113000" cy="14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73763"/>
                </a:solidFill>
                <a:latin typeface="Proxima Nova"/>
                <a:ea typeface="Proxima Nova"/>
                <a:cs typeface="Proxima Nova"/>
                <a:sym typeface="Proxima Nova"/>
              </a:rPr>
              <a:t>Quantiva is a trusted partner, </a:t>
            </a:r>
            <a:endParaRPr b="1" i="0" sz="1800" u="none" cap="none" strike="noStrike">
              <a:solidFill>
                <a:srgbClr val="07376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73763"/>
                </a:solidFill>
                <a:latin typeface="Proxima Nova"/>
                <a:ea typeface="Proxima Nova"/>
                <a:cs typeface="Proxima Nova"/>
                <a:sym typeface="Proxima Nova"/>
              </a:rPr>
              <a:t>helping our clients tackle operational challenges across the investment ecosystem.</a:t>
            </a:r>
            <a:endParaRPr b="0" i="0" sz="1400" u="none" cap="none" strike="noStrike">
              <a:solidFill>
                <a:srgbClr val="07376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2044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90d351b5d0_1_187"/>
          <p:cNvSpPr/>
          <p:nvPr/>
        </p:nvSpPr>
        <p:spPr>
          <a:xfrm>
            <a:off x="4572000" y="0"/>
            <a:ext cx="4574459" cy="5146266"/>
          </a:xfrm>
          <a:custGeom>
            <a:rect b="b" l="l" r="r" t="t"/>
            <a:pathLst>
              <a:path extrusionOk="0" h="1640244" w="1457995">
                <a:moveTo>
                  <a:pt x="0" y="0"/>
                </a:moveTo>
                <a:lnTo>
                  <a:pt x="1457995" y="0"/>
                </a:lnTo>
                <a:lnTo>
                  <a:pt x="1457995" y="1640244"/>
                </a:lnTo>
                <a:lnTo>
                  <a:pt x="0" y="1640244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17" l="0" r="0" t="-217"/>
            </a:stretch>
          </a:blipFill>
          <a:ln>
            <a:noFill/>
          </a:ln>
        </p:spPr>
        <p:txBody>
          <a:bodyPr/>
          <a:p/>
        </p:txBody>
      </p:sp>
      <p:grpSp>
        <p:nvGrpSpPr>
          <p:cNvPr id="105" name="Google Shape;105;g390d351b5d0_1_187"/>
          <p:cNvGrpSpPr/>
          <p:nvPr/>
        </p:nvGrpSpPr>
        <p:grpSpPr>
          <a:xfrm>
            <a:off x="299525" y="329800"/>
            <a:ext cx="4125518" cy="3818281"/>
            <a:chOff x="0" y="-9525"/>
            <a:chExt cx="9182100" cy="10182082"/>
          </a:xfrm>
        </p:grpSpPr>
        <p:sp>
          <p:nvSpPr>
            <p:cNvPr id="106" name="Google Shape;106;g390d351b5d0_1_187"/>
            <p:cNvSpPr txBox="1"/>
            <p:nvPr/>
          </p:nvSpPr>
          <p:spPr>
            <a:xfrm>
              <a:off x="0" y="1996057"/>
              <a:ext cx="9182100" cy="81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304800" lvl="0" marL="45720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9E6FB"/>
                </a:buClr>
                <a:buSzPts val="1200"/>
                <a:buFont typeface="Proxima Nova"/>
                <a:buChar char="●"/>
              </a:pPr>
              <a:r>
                <a:rPr b="1" lang="en" sz="1200">
                  <a:solidFill>
                    <a:srgbClr val="D9E6F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Single daily source of truth across all investment data.</a:t>
              </a:r>
              <a:endParaRPr b="1" sz="1200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0" lvl="0" marL="45720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-304800" lvl="0" marL="45720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9E6FB"/>
                </a:buClr>
                <a:buSzPts val="1200"/>
                <a:buFont typeface="Proxima Nova"/>
                <a:buChar char="●"/>
              </a:pPr>
              <a:r>
                <a:rPr b="1" lang="en" sz="1200">
                  <a:solidFill>
                    <a:srgbClr val="D9E6F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Service + software delivery reduces client operational burden.</a:t>
              </a:r>
              <a:endParaRPr b="1" sz="1200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-304800" lvl="0" marL="45720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9E6FB"/>
                </a:buClr>
                <a:buSzPts val="1200"/>
                <a:buFont typeface="Proxima Nova"/>
                <a:buChar char="●"/>
              </a:pPr>
              <a:r>
                <a:rPr b="1" lang="en" sz="1200">
                  <a:solidFill>
                    <a:srgbClr val="D9E6F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Cloud-native, secure, and scalable architecture.</a:t>
              </a:r>
              <a:endParaRPr b="1" sz="1200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0" lvl="0" marL="45720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-304800" lvl="0" marL="45720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9E6FB"/>
                </a:buClr>
                <a:buSzPts val="1200"/>
                <a:buFont typeface="Proxima Nova"/>
                <a:buChar char="●"/>
              </a:pPr>
              <a:r>
                <a:rPr b="1" lang="en" sz="1200">
                  <a:solidFill>
                    <a:srgbClr val="D9E6F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Deep domain capabilities for investment accounting and reporting.</a:t>
              </a:r>
              <a:endParaRPr b="1" sz="1200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0" lvl="0" marL="45720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-304800" lvl="0" marL="45720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9E6FB"/>
                </a:buClr>
                <a:buSzPts val="1200"/>
                <a:buFont typeface="Proxima Nova"/>
                <a:buChar char="●"/>
              </a:pPr>
              <a:r>
                <a:rPr b="1" lang="en" sz="1200">
                  <a:solidFill>
                    <a:srgbClr val="D9E6F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Strong retention potential as workflows become embedded.</a:t>
              </a:r>
              <a:endParaRPr b="1" sz="1200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0" lvl="0" marL="45720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1" i="0" sz="1200" u="none" cap="none" strike="noStrike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107" name="Google Shape;107;g390d351b5d0_1_187"/>
            <p:cNvSpPr txBox="1"/>
            <p:nvPr/>
          </p:nvSpPr>
          <p:spPr>
            <a:xfrm>
              <a:off x="0" y="-9525"/>
              <a:ext cx="9174900" cy="98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1" i="0" lang="en" sz="2400" u="none" cap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Competitive Advantages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2044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90d3a6dfd9_0_1"/>
          <p:cNvSpPr/>
          <p:nvPr/>
        </p:nvSpPr>
        <p:spPr>
          <a:xfrm>
            <a:off x="4572000" y="0"/>
            <a:ext cx="4574459" cy="5146266"/>
          </a:xfrm>
          <a:custGeom>
            <a:rect b="b" l="l" r="r" t="t"/>
            <a:pathLst>
              <a:path extrusionOk="0" h="1640244" w="1457995">
                <a:moveTo>
                  <a:pt x="0" y="0"/>
                </a:moveTo>
                <a:lnTo>
                  <a:pt x="1457995" y="0"/>
                </a:lnTo>
                <a:lnTo>
                  <a:pt x="1457995" y="1640244"/>
                </a:lnTo>
                <a:lnTo>
                  <a:pt x="0" y="1640244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19" l="0" r="0" t="-219"/>
            </a:stretch>
          </a:blipFill>
          <a:ln>
            <a:noFill/>
          </a:ln>
        </p:spPr>
        <p:txBody>
          <a:bodyPr/>
          <a:p/>
        </p:txBody>
      </p:sp>
      <p:grpSp>
        <p:nvGrpSpPr>
          <p:cNvPr id="113" name="Google Shape;113;g390d3a6dfd9_0_1"/>
          <p:cNvGrpSpPr/>
          <p:nvPr/>
        </p:nvGrpSpPr>
        <p:grpSpPr>
          <a:xfrm>
            <a:off x="222950" y="329800"/>
            <a:ext cx="4349044" cy="4363900"/>
            <a:chOff x="0" y="-9525"/>
            <a:chExt cx="9427800" cy="11637067"/>
          </a:xfrm>
        </p:grpSpPr>
        <p:sp>
          <p:nvSpPr>
            <p:cNvPr id="114" name="Google Shape;114;g390d3a6dfd9_0_1"/>
            <p:cNvSpPr txBox="1"/>
            <p:nvPr/>
          </p:nvSpPr>
          <p:spPr>
            <a:xfrm>
              <a:off x="0" y="2170342"/>
              <a:ext cx="9182100" cy="9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304800" lvl="0" marL="45720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9E6FB"/>
                </a:buClr>
                <a:buSzPts val="1200"/>
                <a:buFont typeface="Proxima Nova"/>
                <a:buChar char="●"/>
              </a:pPr>
              <a:r>
                <a:rPr b="1" lang="en" sz="1200">
                  <a:solidFill>
                    <a:srgbClr val="D9E6F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Structure: combined primary (Quantiva) and secondary (existing shareholders) offering.</a:t>
              </a:r>
              <a:endParaRPr b="1" sz="1200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0" lvl="0" marL="45720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-304800" lvl="0" marL="45720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9E6FB"/>
                </a:buClr>
                <a:buSzPts val="1200"/>
                <a:buFont typeface="Proxima Nova"/>
                <a:buChar char="●"/>
              </a:pPr>
              <a:r>
                <a:rPr b="1" lang="en" sz="1200">
                  <a:solidFill>
                    <a:srgbClr val="D9E6F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Underwriting discount typically applies to total shares sold and is allocated issuer/sellers.</a:t>
              </a:r>
              <a:endParaRPr b="1" sz="1200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0" lvl="0" marL="45720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-304800" lvl="0" marL="45720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9E6FB"/>
                </a:buClr>
                <a:buSzPts val="1200"/>
                <a:buFont typeface="Proxima Nova"/>
                <a:buChar char="●"/>
              </a:pPr>
              <a:r>
                <a:rPr b="1" lang="en" sz="1200">
                  <a:solidFill>
                    <a:srgbClr val="D9E6F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Proceeds to Quantiva: fund product R&amp;D, add custodian/bank connectors, expand onboarding capacity.</a:t>
              </a:r>
              <a:endParaRPr b="1" sz="1200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0" lvl="0" marL="45720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-304800" lvl="0" marL="45720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9E6FB"/>
                </a:buClr>
                <a:buSzPts val="1200"/>
                <a:buFont typeface="Proxima Nova"/>
                <a:buChar char="●"/>
              </a:pPr>
              <a:r>
                <a:rPr b="1" lang="en" sz="1200">
                  <a:solidFill>
                    <a:srgbClr val="D9E6F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Proceeds to selling holders: provide liquidity to early backers/founders.</a:t>
              </a:r>
              <a:endParaRPr b="1" sz="1200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0" lvl="0" marL="45720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-304800" lvl="0" marL="45720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9E6FB"/>
                </a:buClr>
                <a:buSzPts val="1200"/>
                <a:buFont typeface="Proxima Nova"/>
                <a:buChar char="●"/>
              </a:pPr>
              <a:r>
                <a:rPr b="1" lang="en" sz="1200">
                  <a:solidFill>
                    <a:srgbClr val="D9E6F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Supports long-term growth of asset management data and accounting platform.</a:t>
              </a:r>
              <a:endParaRPr b="1" sz="1200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115" name="Google Shape;115;g390d3a6dfd9_0_1"/>
            <p:cNvSpPr txBox="1"/>
            <p:nvPr/>
          </p:nvSpPr>
          <p:spPr>
            <a:xfrm>
              <a:off x="0" y="-9525"/>
              <a:ext cx="9427800" cy="98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Offering Structure</a:t>
              </a:r>
              <a:endParaRPr b="1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2044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Google Shape;120;g390d3a6dfd9_0_10"/>
          <p:cNvGrpSpPr/>
          <p:nvPr/>
        </p:nvGrpSpPr>
        <p:grpSpPr>
          <a:xfrm>
            <a:off x="333375" y="284187"/>
            <a:ext cx="4238629" cy="4239167"/>
            <a:chOff x="0" y="-4005823"/>
            <a:chExt cx="11562000" cy="8809574"/>
          </a:xfrm>
        </p:grpSpPr>
        <p:sp>
          <p:nvSpPr>
            <p:cNvPr id="121" name="Google Shape;121;g390d3a6dfd9_0_10"/>
            <p:cNvSpPr txBox="1"/>
            <p:nvPr/>
          </p:nvSpPr>
          <p:spPr>
            <a:xfrm>
              <a:off x="0" y="-2642849"/>
              <a:ext cx="11291100" cy="744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●"/>
              </a:pPr>
              <a:r>
                <a:rPr b="1" lang="en" sz="1200">
                  <a:solidFill>
                    <a:srgbClr val="D9E6F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Secondary offering of equity: 40 million shares (25 million primary and 15 million selling shareholders)</a:t>
              </a:r>
              <a:endParaRPr b="1" sz="1200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●"/>
              </a:pPr>
              <a:r>
                <a:rPr b="1" lang="en" sz="1200">
                  <a:solidFill>
                    <a:srgbClr val="D9E6F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Public offering price: $15.37</a:t>
              </a:r>
              <a:endParaRPr b="1" sz="1200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●"/>
              </a:pPr>
              <a:r>
                <a:rPr b="1" lang="en" sz="1200">
                  <a:solidFill>
                    <a:srgbClr val="D9E6F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Proceeds: $615 million ($384 million to Quintiva and $231 million to selling shareholders)</a:t>
              </a:r>
              <a:endParaRPr b="1" sz="1200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●"/>
              </a:pPr>
              <a:r>
                <a:rPr b="1" lang="en" sz="1200">
                  <a:solidFill>
                    <a:srgbClr val="D9E6F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Underwriters: AAABB. LLC, BBBCC Securities, DDDFF Securities LLC as Joint Book-Running Managers</a:t>
              </a:r>
              <a:endParaRPr b="1" sz="1200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●"/>
              </a:pPr>
              <a:r>
                <a:rPr b="1" lang="en" sz="1200">
                  <a:solidFill>
                    <a:srgbClr val="D9E6F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Use of Proceeds: Infrastructure investment and general corporate purposes</a:t>
              </a:r>
              <a:endParaRPr b="1" sz="1200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●"/>
              </a:pPr>
              <a:r>
                <a:rPr b="1" lang="en" sz="1200">
                  <a:solidFill>
                    <a:srgbClr val="D9E6F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Selling shareholders - YG Partners L.P. funds and certain executives</a:t>
              </a:r>
              <a:endParaRPr b="1" i="0" sz="1800" u="none" cap="none" strike="noStrike">
                <a:solidFill>
                  <a:srgbClr val="D9E6FB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122" name="Google Shape;122;g390d3a6dfd9_0_10"/>
            <p:cNvSpPr txBox="1"/>
            <p:nvPr/>
          </p:nvSpPr>
          <p:spPr>
            <a:xfrm>
              <a:off x="0" y="-4005823"/>
              <a:ext cx="11562000" cy="76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lang="en" sz="24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Transaction Information</a:t>
              </a:r>
              <a:endParaRPr b="1" i="0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123" name="Google Shape;123;g390d3a6dfd9_0_10"/>
          <p:cNvSpPr/>
          <p:nvPr/>
        </p:nvSpPr>
        <p:spPr>
          <a:xfrm>
            <a:off x="4572000" y="0"/>
            <a:ext cx="4572000" cy="5143500"/>
          </a:xfrm>
          <a:custGeom>
            <a:rect b="b" l="l" r="r" t="t"/>
            <a:pathLst>
              <a:path extrusionOk="0" h="914400" w="812800">
                <a:moveTo>
                  <a:pt x="0" y="0"/>
                </a:moveTo>
                <a:lnTo>
                  <a:pt x="812800" y="0"/>
                </a:lnTo>
                <a:lnTo>
                  <a:pt x="812800" y="914400"/>
                </a:lnTo>
                <a:lnTo>
                  <a:pt x="0" y="9144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19" l="0" r="0" t="-219"/>
            </a:stretch>
          </a:blipFill>
          <a:ln>
            <a:noFill/>
          </a:ln>
        </p:spPr>
        <p:txBody>
          <a:bodyPr/>
          <a:p/>
        </p:txBody>
      </p:sp>
      <p:sp>
        <p:nvSpPr>
          <p:cNvPr id="124" name="Google Shape;124;g390d3a6dfd9_0_10"/>
          <p:cNvSpPr txBox="1"/>
          <p:nvPr/>
        </p:nvSpPr>
        <p:spPr>
          <a:xfrm>
            <a:off x="4832950" y="633825"/>
            <a:ext cx="41130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" sz="1800">
                <a:solidFill>
                  <a:srgbClr val="073763"/>
                </a:solidFill>
                <a:latin typeface="Proxima Nova"/>
                <a:ea typeface="Proxima Nova"/>
                <a:cs typeface="Proxima Nova"/>
                <a:sym typeface="Proxima Nova"/>
              </a:rPr>
              <a:t>Robust liquidity &amp; the capital needed to supercharge our growth</a:t>
            </a:r>
            <a:endParaRPr b="0" i="0" sz="1400" u="none" cap="none" strike="noStrike">
              <a:solidFill>
                <a:srgbClr val="07376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2044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Google Shape;129;g390d3a6dfd9_0_20"/>
          <p:cNvGrpSpPr/>
          <p:nvPr/>
        </p:nvGrpSpPr>
        <p:grpSpPr>
          <a:xfrm>
            <a:off x="5115825" y="571775"/>
            <a:ext cx="3379500" cy="809045"/>
            <a:chOff x="-670683" y="-9533"/>
            <a:chExt cx="9012000" cy="2157453"/>
          </a:xfrm>
        </p:grpSpPr>
        <p:sp>
          <p:nvSpPr>
            <p:cNvPr id="130" name="Google Shape;130;g390d3a6dfd9_0_20"/>
            <p:cNvSpPr txBox="1"/>
            <p:nvPr/>
          </p:nvSpPr>
          <p:spPr>
            <a:xfrm>
              <a:off x="-50" y="1532319"/>
              <a:ext cx="76707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500" u="none" cap="none" strike="noStrike">
                  <a:solidFill>
                    <a:srgbClr val="D9E6F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Total Shares Offered</a:t>
              </a:r>
              <a:endParaRPr sz="1500"/>
            </a:p>
          </p:txBody>
        </p:sp>
        <p:sp>
          <p:nvSpPr>
            <p:cNvPr id="131" name="Google Shape;131;g390d3a6dfd9_0_20"/>
            <p:cNvSpPr txBox="1"/>
            <p:nvPr/>
          </p:nvSpPr>
          <p:spPr>
            <a:xfrm>
              <a:off x="-670683" y="-9533"/>
              <a:ext cx="9012000" cy="123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40</a:t>
              </a:r>
              <a:r>
                <a:rPr b="1" i="0" lang="en" sz="3000" u="none" cap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,000,000</a:t>
              </a:r>
              <a:endParaRPr sz="3000"/>
            </a:p>
          </p:txBody>
        </p:sp>
      </p:grpSp>
      <p:grpSp>
        <p:nvGrpSpPr>
          <p:cNvPr id="132" name="Google Shape;132;g390d3a6dfd9_0_20"/>
          <p:cNvGrpSpPr/>
          <p:nvPr/>
        </p:nvGrpSpPr>
        <p:grpSpPr>
          <a:xfrm>
            <a:off x="5367338" y="2637709"/>
            <a:ext cx="2969663" cy="692666"/>
            <a:chOff x="0" y="1625808"/>
            <a:chExt cx="7919100" cy="1847109"/>
          </a:xfrm>
        </p:grpSpPr>
        <p:sp>
          <p:nvSpPr>
            <p:cNvPr id="133" name="Google Shape;133;g390d3a6dfd9_0_20"/>
            <p:cNvSpPr txBox="1"/>
            <p:nvPr/>
          </p:nvSpPr>
          <p:spPr>
            <a:xfrm>
              <a:off x="0" y="2857317"/>
              <a:ext cx="79191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rgbClr val="D9E6F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Increase in Shares Outstanding</a:t>
              </a:r>
              <a:endParaRPr sz="1500"/>
            </a:p>
          </p:txBody>
        </p:sp>
        <p:sp>
          <p:nvSpPr>
            <p:cNvPr id="134" name="Google Shape;134;g390d3a6dfd9_0_20"/>
            <p:cNvSpPr txBox="1"/>
            <p:nvPr/>
          </p:nvSpPr>
          <p:spPr>
            <a:xfrm>
              <a:off x="0" y="1625808"/>
              <a:ext cx="7670700" cy="123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8.7</a:t>
              </a:r>
              <a:r>
                <a:rPr b="1" i="0" lang="en" sz="3000" u="none" cap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%</a:t>
              </a:r>
              <a:endParaRPr sz="3000"/>
            </a:p>
          </p:txBody>
        </p:sp>
      </p:grpSp>
      <p:grpSp>
        <p:nvGrpSpPr>
          <p:cNvPr id="135" name="Google Shape;135;g390d3a6dfd9_0_20"/>
          <p:cNvGrpSpPr/>
          <p:nvPr/>
        </p:nvGrpSpPr>
        <p:grpSpPr>
          <a:xfrm>
            <a:off x="5367319" y="3648277"/>
            <a:ext cx="2876525" cy="697656"/>
            <a:chOff x="0" y="-550408"/>
            <a:chExt cx="7670733" cy="1860417"/>
          </a:xfrm>
        </p:grpSpPr>
        <p:sp>
          <p:nvSpPr>
            <p:cNvPr id="136" name="Google Shape;136;g390d3a6dfd9_0_20"/>
            <p:cNvSpPr txBox="1"/>
            <p:nvPr/>
          </p:nvSpPr>
          <p:spPr>
            <a:xfrm>
              <a:off x="0" y="694409"/>
              <a:ext cx="76707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500" u="none" cap="none" strike="noStrike">
                  <a:solidFill>
                    <a:srgbClr val="D9E6F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Anticipated Offering Timeline</a:t>
              </a:r>
              <a:endParaRPr sz="1500"/>
            </a:p>
          </p:txBody>
        </p:sp>
        <p:sp>
          <p:nvSpPr>
            <p:cNvPr id="137" name="Google Shape;137;g390d3a6dfd9_0_20"/>
            <p:cNvSpPr txBox="1"/>
            <p:nvPr/>
          </p:nvSpPr>
          <p:spPr>
            <a:xfrm>
              <a:off x="33" y="-550408"/>
              <a:ext cx="7670700" cy="123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3000" u="none" cap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Q4 2025</a:t>
              </a:r>
              <a:endParaRPr sz="3000"/>
            </a:p>
          </p:txBody>
        </p:sp>
      </p:grpSp>
      <p:sp>
        <p:nvSpPr>
          <p:cNvPr id="138" name="Google Shape;138;g390d3a6dfd9_0_20"/>
          <p:cNvSpPr/>
          <p:nvPr/>
        </p:nvSpPr>
        <p:spPr>
          <a:xfrm>
            <a:off x="0" y="0"/>
            <a:ext cx="4571508" cy="5142947"/>
          </a:xfrm>
          <a:custGeom>
            <a:rect b="b" l="l" r="r" t="t"/>
            <a:pathLst>
              <a:path extrusionOk="0" h="1725821" w="1534063">
                <a:moveTo>
                  <a:pt x="0" y="0"/>
                </a:moveTo>
                <a:lnTo>
                  <a:pt x="1534063" y="0"/>
                </a:lnTo>
                <a:lnTo>
                  <a:pt x="1534063" y="1725821"/>
                </a:lnTo>
                <a:lnTo>
                  <a:pt x="0" y="1725821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19" l="0" r="0" t="-219"/>
            </a:stretch>
          </a:blipFill>
          <a:ln>
            <a:noFill/>
          </a:ln>
        </p:spPr>
        <p:txBody>
          <a:bodyPr/>
          <a:p/>
        </p:txBody>
      </p:sp>
      <p:sp>
        <p:nvSpPr>
          <p:cNvPr id="139" name="Google Shape;139;g390d3a6dfd9_0_20"/>
          <p:cNvSpPr txBox="1"/>
          <p:nvPr/>
        </p:nvSpPr>
        <p:spPr>
          <a:xfrm>
            <a:off x="336025" y="329800"/>
            <a:ext cx="40671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Share Offering Overview</a:t>
            </a:r>
            <a:endParaRPr sz="700"/>
          </a:p>
        </p:txBody>
      </p:sp>
      <p:grpSp>
        <p:nvGrpSpPr>
          <p:cNvPr id="140" name="Google Shape;140;g390d3a6dfd9_0_20"/>
          <p:cNvGrpSpPr/>
          <p:nvPr/>
        </p:nvGrpSpPr>
        <p:grpSpPr>
          <a:xfrm>
            <a:off x="5367331" y="1682090"/>
            <a:ext cx="2876525" cy="692654"/>
            <a:chOff x="-33" y="-9525"/>
            <a:chExt cx="7670733" cy="1847077"/>
          </a:xfrm>
        </p:grpSpPr>
        <p:sp>
          <p:nvSpPr>
            <p:cNvPr id="141" name="Google Shape;141;g390d3a6dfd9_0_20"/>
            <p:cNvSpPr txBox="1"/>
            <p:nvPr/>
          </p:nvSpPr>
          <p:spPr>
            <a:xfrm>
              <a:off x="-33" y="1221952"/>
              <a:ext cx="76707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rgbClr val="D9E6F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Offering Price</a:t>
              </a:r>
              <a:endParaRPr sz="1500"/>
            </a:p>
          </p:txBody>
        </p:sp>
        <p:sp>
          <p:nvSpPr>
            <p:cNvPr id="142" name="Google Shape;142;g390d3a6dfd9_0_20"/>
            <p:cNvSpPr txBox="1"/>
            <p:nvPr/>
          </p:nvSpPr>
          <p:spPr>
            <a:xfrm>
              <a:off x="0" y="-9525"/>
              <a:ext cx="7670700" cy="123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$15.37</a:t>
              </a:r>
              <a:endParaRPr sz="3000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2044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90d60615e4_1_0"/>
          <p:cNvSpPr txBox="1"/>
          <p:nvPr/>
        </p:nvSpPr>
        <p:spPr>
          <a:xfrm>
            <a:off x="333375" y="358375"/>
            <a:ext cx="8441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Meet the Leadership Team</a:t>
            </a:r>
            <a:endParaRPr sz="700"/>
          </a:p>
        </p:txBody>
      </p:sp>
      <p:pic>
        <p:nvPicPr>
          <p:cNvPr descr="Smiling confident young business woman in suit with hands folded (Provided by Getty Images)" id="148" name="Google Shape;148;g390d60615e4_1_0"/>
          <p:cNvPicPr preferRelativeResize="0"/>
          <p:nvPr/>
        </p:nvPicPr>
        <p:blipFill rotWithShape="1">
          <a:blip r:embed="rId3">
            <a:alphaModFix/>
          </a:blip>
          <a:srcRect b="0" l="0" r="-16306" t="0"/>
          <a:stretch/>
        </p:blipFill>
        <p:spPr>
          <a:xfrm>
            <a:off x="992487" y="1853313"/>
            <a:ext cx="1666515" cy="14267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spired afro-american man with crossed arms (Provided by Getty Images)" id="149" name="Google Shape;149;g390d60615e4_1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96663" y="1861275"/>
            <a:ext cx="1440850" cy="14267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ressed for success (Provided by Getty Images)" id="150" name="Google Shape;150;g390d60615e4_1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33850" y="1861275"/>
            <a:ext cx="1440850" cy="1426749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g390d60615e4_1_0"/>
          <p:cNvSpPr/>
          <p:nvPr/>
        </p:nvSpPr>
        <p:spPr>
          <a:xfrm>
            <a:off x="6688479" y="1849443"/>
            <a:ext cx="1440847" cy="1426750"/>
          </a:xfrm>
          <a:custGeom>
            <a:rect b="b" l="l" r="r" t="t"/>
            <a:pathLst>
              <a:path extrusionOk="0" h="3804666" w="3842258">
                <a:moveTo>
                  <a:pt x="86868" y="254"/>
                </a:moveTo>
                <a:lnTo>
                  <a:pt x="3808857" y="42291"/>
                </a:lnTo>
                <a:cubicBezTo>
                  <a:pt x="3827399" y="42545"/>
                  <a:pt x="3842258" y="57785"/>
                  <a:pt x="3842004" y="76327"/>
                </a:cubicBezTo>
                <a:lnTo>
                  <a:pt x="3789426" y="3771265"/>
                </a:lnTo>
                <a:cubicBezTo>
                  <a:pt x="3789172" y="3789807"/>
                  <a:pt x="3773805" y="3804666"/>
                  <a:pt x="3755263" y="3804285"/>
                </a:cubicBezTo>
                <a:lnTo>
                  <a:pt x="33147" y="3730625"/>
                </a:lnTo>
                <a:cubicBezTo>
                  <a:pt x="14732" y="3730244"/>
                  <a:pt x="0" y="3715004"/>
                  <a:pt x="254" y="3696589"/>
                </a:cubicBezTo>
                <a:lnTo>
                  <a:pt x="52959" y="33274"/>
                </a:lnTo>
                <a:cubicBezTo>
                  <a:pt x="53213" y="14732"/>
                  <a:pt x="68326" y="0"/>
                  <a:pt x="86868" y="254"/>
                </a:cubicBez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25239" l="0" r="-10" t="-25229"/>
            </a:stretch>
          </a:blip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g390d60615e4_1_0"/>
          <p:cNvSpPr txBox="1"/>
          <p:nvPr/>
        </p:nvSpPr>
        <p:spPr>
          <a:xfrm>
            <a:off x="1025721" y="3492075"/>
            <a:ext cx="1367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798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B89A7C"/>
                </a:solidFill>
                <a:latin typeface="Open Sans"/>
                <a:ea typeface="Open Sans"/>
                <a:cs typeface="Open Sans"/>
                <a:sym typeface="Open Sans"/>
              </a:rPr>
              <a:t>Elena Vargas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g390d60615e4_1_0"/>
          <p:cNvSpPr txBox="1"/>
          <p:nvPr/>
        </p:nvSpPr>
        <p:spPr>
          <a:xfrm>
            <a:off x="992485" y="3814338"/>
            <a:ext cx="1524900" cy="13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6798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B89A7C"/>
                </a:solidFill>
                <a:latin typeface="Open Sans"/>
                <a:ea typeface="Open Sans"/>
                <a:cs typeface="Open Sans"/>
                <a:sym typeface="Open Sans"/>
              </a:rPr>
              <a:t>CEO &amp; Executive Chairwoman of the Board </a:t>
            </a:r>
            <a:endParaRPr sz="7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6798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sz="10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176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176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4" name="Google Shape;154;g390d60615e4_1_0"/>
          <p:cNvSpPr txBox="1"/>
          <p:nvPr/>
        </p:nvSpPr>
        <p:spPr>
          <a:xfrm>
            <a:off x="2933987" y="3492075"/>
            <a:ext cx="1367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798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B89A7C"/>
                </a:solidFill>
                <a:latin typeface="Open Sans"/>
                <a:ea typeface="Open Sans"/>
                <a:cs typeface="Open Sans"/>
                <a:sym typeface="Open Sans"/>
              </a:rPr>
              <a:t>Marcus Lee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g390d60615e4_1_0"/>
          <p:cNvSpPr txBox="1"/>
          <p:nvPr/>
        </p:nvSpPr>
        <p:spPr>
          <a:xfrm>
            <a:off x="4842253" y="3492075"/>
            <a:ext cx="1367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798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B89A7C"/>
                </a:solidFill>
                <a:latin typeface="Open Sans"/>
                <a:ea typeface="Open Sans"/>
                <a:cs typeface="Open Sans"/>
                <a:sym typeface="Open Sans"/>
              </a:rPr>
              <a:t>Sophia Patel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g390d60615e4_1_0"/>
          <p:cNvSpPr txBox="1"/>
          <p:nvPr/>
        </p:nvSpPr>
        <p:spPr>
          <a:xfrm>
            <a:off x="6750519" y="3492075"/>
            <a:ext cx="1367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798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B89A7C"/>
                </a:solidFill>
                <a:latin typeface="Open Sans"/>
                <a:ea typeface="Open Sans"/>
                <a:cs typeface="Open Sans"/>
                <a:sym typeface="Open Sans"/>
              </a:rPr>
              <a:t>Jordan Hale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g390d60615e4_1_0"/>
          <p:cNvSpPr txBox="1"/>
          <p:nvPr/>
        </p:nvSpPr>
        <p:spPr>
          <a:xfrm>
            <a:off x="2854710" y="3814338"/>
            <a:ext cx="1524900" cy="8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6798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B89A7C"/>
                </a:solidFill>
                <a:latin typeface="Open Sans"/>
                <a:ea typeface="Open Sans"/>
                <a:cs typeface="Open Sans"/>
                <a:sym typeface="Open Sans"/>
              </a:rPr>
              <a:t>Chief Financial Officer</a:t>
            </a:r>
            <a:endParaRPr sz="7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6798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sz="10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176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176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8" name="Google Shape;158;g390d60615e4_1_0"/>
          <p:cNvSpPr txBox="1"/>
          <p:nvPr/>
        </p:nvSpPr>
        <p:spPr>
          <a:xfrm>
            <a:off x="4791898" y="3814338"/>
            <a:ext cx="1524900" cy="11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6798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B89A7C"/>
                </a:solidFill>
                <a:latin typeface="Open Sans"/>
                <a:ea typeface="Open Sans"/>
                <a:cs typeface="Open Sans"/>
                <a:sym typeface="Open Sans"/>
              </a:rPr>
              <a:t>Chief Operating Officer</a:t>
            </a:r>
            <a:endParaRPr sz="7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6798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1" sz="1000">
              <a:solidFill>
                <a:srgbClr val="B89A7C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6798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sz="10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176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176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9" name="Google Shape;159;g390d60615e4_1_0"/>
          <p:cNvSpPr txBox="1"/>
          <p:nvPr/>
        </p:nvSpPr>
        <p:spPr>
          <a:xfrm>
            <a:off x="6671985" y="3814338"/>
            <a:ext cx="1524900" cy="6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6798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B89A7C"/>
                </a:solidFill>
                <a:latin typeface="Open Sans"/>
                <a:ea typeface="Open Sans"/>
                <a:cs typeface="Open Sans"/>
                <a:sym typeface="Open Sans"/>
              </a:rPr>
              <a:t>Chief Revenue Officer</a:t>
            </a:r>
            <a:endParaRPr b="1" sz="1000">
              <a:solidFill>
                <a:srgbClr val="B89A7C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lnSpc>
                <a:spcPct val="16798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1" sz="1000">
              <a:solidFill>
                <a:srgbClr val="B89A7C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176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2044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" name="Google Shape;164;g390d3a6dfd9_0_112"/>
          <p:cNvGrpSpPr/>
          <p:nvPr/>
        </p:nvGrpSpPr>
        <p:grpSpPr>
          <a:xfrm>
            <a:off x="5367338" y="3459956"/>
            <a:ext cx="2724188" cy="419344"/>
            <a:chOff x="0" y="-19050"/>
            <a:chExt cx="7264500" cy="1118251"/>
          </a:xfrm>
        </p:grpSpPr>
        <p:sp>
          <p:nvSpPr>
            <p:cNvPr id="165" name="Google Shape;165;g390d3a6dfd9_0_112"/>
            <p:cNvSpPr txBox="1"/>
            <p:nvPr/>
          </p:nvSpPr>
          <p:spPr>
            <a:xfrm>
              <a:off x="0" y="606601"/>
              <a:ext cx="7264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D9E6F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(650) 555-0001</a:t>
              </a:r>
              <a:endParaRPr sz="700"/>
            </a:p>
          </p:txBody>
        </p:sp>
        <p:sp>
          <p:nvSpPr>
            <p:cNvPr id="166" name="Google Shape;166;g390d3a6dfd9_0_112"/>
            <p:cNvSpPr txBox="1"/>
            <p:nvPr/>
          </p:nvSpPr>
          <p:spPr>
            <a:xfrm>
              <a:off x="0" y="-19050"/>
              <a:ext cx="7264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200" u="none" cap="none" strike="noStrike">
                  <a:solidFill>
                    <a:srgbClr val="B3C7F9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Phone Number</a:t>
              </a:r>
              <a:endParaRPr sz="700"/>
            </a:p>
          </p:txBody>
        </p:sp>
      </p:grpSp>
      <p:grpSp>
        <p:nvGrpSpPr>
          <p:cNvPr id="167" name="Google Shape;167;g390d3a6dfd9_0_112"/>
          <p:cNvGrpSpPr/>
          <p:nvPr/>
        </p:nvGrpSpPr>
        <p:grpSpPr>
          <a:xfrm>
            <a:off x="5376622" y="2564606"/>
            <a:ext cx="2714850" cy="419344"/>
            <a:chOff x="0" y="-19050"/>
            <a:chExt cx="7239600" cy="1118251"/>
          </a:xfrm>
        </p:grpSpPr>
        <p:sp>
          <p:nvSpPr>
            <p:cNvPr id="168" name="Google Shape;168;g390d3a6dfd9_0_112"/>
            <p:cNvSpPr txBox="1"/>
            <p:nvPr/>
          </p:nvSpPr>
          <p:spPr>
            <a:xfrm>
              <a:off x="0" y="606601"/>
              <a:ext cx="72396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D9E6F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info@quantiva.com</a:t>
              </a:r>
              <a:endParaRPr sz="700"/>
            </a:p>
          </p:txBody>
        </p:sp>
        <p:sp>
          <p:nvSpPr>
            <p:cNvPr id="169" name="Google Shape;169;g390d3a6dfd9_0_112"/>
            <p:cNvSpPr txBox="1"/>
            <p:nvPr/>
          </p:nvSpPr>
          <p:spPr>
            <a:xfrm>
              <a:off x="0" y="-19050"/>
              <a:ext cx="72396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200" u="none" cap="none" strike="noStrike">
                  <a:solidFill>
                    <a:srgbClr val="B3C7F9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Email</a:t>
              </a:r>
              <a:endParaRPr sz="700"/>
            </a:p>
          </p:txBody>
        </p:sp>
      </p:grpSp>
      <p:grpSp>
        <p:nvGrpSpPr>
          <p:cNvPr id="170" name="Google Shape;170;g390d3a6dfd9_0_112"/>
          <p:cNvGrpSpPr/>
          <p:nvPr/>
        </p:nvGrpSpPr>
        <p:grpSpPr>
          <a:xfrm>
            <a:off x="5376622" y="4355610"/>
            <a:ext cx="2714850" cy="419344"/>
            <a:chOff x="0" y="-19050"/>
            <a:chExt cx="7239600" cy="1118251"/>
          </a:xfrm>
        </p:grpSpPr>
        <p:sp>
          <p:nvSpPr>
            <p:cNvPr id="171" name="Google Shape;171;g390d3a6dfd9_0_112"/>
            <p:cNvSpPr txBox="1"/>
            <p:nvPr/>
          </p:nvSpPr>
          <p:spPr>
            <a:xfrm>
              <a:off x="0" y="606601"/>
              <a:ext cx="72396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D9E6F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www.quantiva.com</a:t>
              </a:r>
              <a:endParaRPr sz="700"/>
            </a:p>
          </p:txBody>
        </p:sp>
        <p:sp>
          <p:nvSpPr>
            <p:cNvPr id="172" name="Google Shape;172;g390d3a6dfd9_0_112"/>
            <p:cNvSpPr txBox="1"/>
            <p:nvPr/>
          </p:nvSpPr>
          <p:spPr>
            <a:xfrm>
              <a:off x="0" y="-19050"/>
              <a:ext cx="72396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200" u="none" cap="none" strike="noStrike">
                  <a:solidFill>
                    <a:srgbClr val="B3C7F9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Website URL</a:t>
              </a:r>
              <a:endParaRPr sz="700"/>
            </a:p>
          </p:txBody>
        </p:sp>
      </p:grpSp>
      <p:sp>
        <p:nvSpPr>
          <p:cNvPr id="173" name="Google Shape;173;g390d3a6dfd9_0_112"/>
          <p:cNvSpPr/>
          <p:nvPr/>
        </p:nvSpPr>
        <p:spPr>
          <a:xfrm>
            <a:off x="0" y="-6350"/>
            <a:ext cx="4572951" cy="5150921"/>
          </a:xfrm>
          <a:custGeom>
            <a:rect b="b" l="l" r="r" t="t"/>
            <a:pathLst>
              <a:path extrusionOk="0" h="885799" w="786406">
                <a:moveTo>
                  <a:pt x="0" y="0"/>
                </a:moveTo>
                <a:lnTo>
                  <a:pt x="786406" y="0"/>
                </a:lnTo>
                <a:lnTo>
                  <a:pt x="786406" y="885799"/>
                </a:lnTo>
                <a:lnTo>
                  <a:pt x="0" y="885799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49" l="0" r="0" t="-159"/>
            </a:stretch>
          </a:blipFill>
          <a:ln>
            <a:noFill/>
          </a:ln>
        </p:spPr>
        <p:txBody>
          <a:bodyPr/>
          <a:p/>
        </p:txBody>
      </p:sp>
      <p:sp>
        <p:nvSpPr>
          <p:cNvPr id="174" name="Google Shape;174;g390d3a6dfd9_0_112"/>
          <p:cNvSpPr txBox="1"/>
          <p:nvPr/>
        </p:nvSpPr>
        <p:spPr>
          <a:xfrm>
            <a:off x="4572000" y="498625"/>
            <a:ext cx="45729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B3C7F9"/>
                </a:solidFill>
                <a:latin typeface="Proxima Nova"/>
                <a:ea typeface="Proxima Nova"/>
                <a:cs typeface="Proxima Nova"/>
                <a:sym typeface="Proxima Nova"/>
              </a:rPr>
              <a:t>Participate in the future of</a:t>
            </a:r>
            <a:r>
              <a:rPr b="0" i="0" lang="en" sz="1500" u="none" cap="none" strike="noStrike">
                <a:solidFill>
                  <a:srgbClr val="B3C7F9"/>
                </a:solidFill>
                <a:latin typeface="Proxima Nova"/>
                <a:ea typeface="Proxima Nova"/>
                <a:cs typeface="Proxima Nova"/>
                <a:sym typeface="Proxima Nova"/>
              </a:rPr>
              <a:t> cutt</a:t>
            </a:r>
            <a:r>
              <a:rPr lang="en" sz="1500">
                <a:solidFill>
                  <a:srgbClr val="B3C7F9"/>
                </a:solidFill>
                <a:latin typeface="Proxima Nova"/>
                <a:ea typeface="Proxima Nova"/>
                <a:cs typeface="Proxima Nova"/>
                <a:sym typeface="Proxima Nova"/>
              </a:rPr>
              <a:t>ing edge </a:t>
            </a:r>
            <a:endParaRPr b="0" i="0" sz="1500" u="none" cap="none" strike="noStrike">
              <a:solidFill>
                <a:srgbClr val="B3C7F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B3C7F9"/>
                </a:solidFill>
                <a:latin typeface="Proxima Nova"/>
                <a:ea typeface="Proxima Nova"/>
                <a:cs typeface="Proxima Nova"/>
                <a:sym typeface="Proxima Nova"/>
              </a:rPr>
              <a:t>f</a:t>
            </a:r>
            <a:r>
              <a:rPr b="0" i="0" lang="en" sz="1500" u="none" cap="none" strike="noStrike">
                <a:solidFill>
                  <a:srgbClr val="B3C7F9"/>
                </a:solidFill>
                <a:latin typeface="Proxima Nova"/>
                <a:ea typeface="Proxima Nova"/>
                <a:cs typeface="Proxima Nova"/>
                <a:sym typeface="Proxima Nova"/>
              </a:rPr>
              <a:t>inancial technology s</a:t>
            </a:r>
            <a:r>
              <a:rPr lang="en" sz="1500">
                <a:solidFill>
                  <a:srgbClr val="B3C7F9"/>
                </a:solidFill>
                <a:latin typeface="Proxima Nova"/>
                <a:ea typeface="Proxima Nova"/>
                <a:cs typeface="Proxima Nova"/>
                <a:sym typeface="Proxima Nova"/>
              </a:rPr>
              <a:t>olutions with</a:t>
            </a:r>
            <a:endParaRPr sz="700"/>
          </a:p>
        </p:txBody>
      </p:sp>
      <p:grpSp>
        <p:nvGrpSpPr>
          <p:cNvPr id="175" name="Google Shape;175;g390d3a6dfd9_0_112"/>
          <p:cNvGrpSpPr/>
          <p:nvPr/>
        </p:nvGrpSpPr>
        <p:grpSpPr>
          <a:xfrm>
            <a:off x="340892" y="4094746"/>
            <a:ext cx="1430744" cy="715476"/>
            <a:chOff x="0" y="0"/>
            <a:chExt cx="3815319" cy="1907935"/>
          </a:xfrm>
        </p:grpSpPr>
        <p:grpSp>
          <p:nvGrpSpPr>
            <p:cNvPr id="176" name="Google Shape;176;g390d3a6dfd9_0_112"/>
            <p:cNvGrpSpPr/>
            <p:nvPr/>
          </p:nvGrpSpPr>
          <p:grpSpPr>
            <a:xfrm>
              <a:off x="0" y="0"/>
              <a:ext cx="1907642" cy="1907935"/>
              <a:chOff x="0" y="0"/>
              <a:chExt cx="812800" cy="812925"/>
            </a:xfrm>
          </p:grpSpPr>
          <p:sp>
            <p:nvSpPr>
              <p:cNvPr id="177" name="Google Shape;177;g390d3a6dfd9_0_1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0B2044"/>
              </a:solidFill>
              <a:ln>
                <a:noFill/>
              </a:ln>
            </p:spPr>
          </p:sp>
          <p:sp>
            <p:nvSpPr>
              <p:cNvPr id="178" name="Google Shape;178;g390d3a6dfd9_0_112"/>
              <p:cNvSpPr txBox="1"/>
              <p:nvPr/>
            </p:nvSpPr>
            <p:spPr>
              <a:xfrm>
                <a:off x="0" y="9525"/>
                <a:ext cx="812700" cy="80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59944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9" name="Google Shape;179;g390d3a6dfd9_0_112"/>
            <p:cNvGrpSpPr/>
            <p:nvPr/>
          </p:nvGrpSpPr>
          <p:grpSpPr>
            <a:xfrm>
              <a:off x="1907677" y="0"/>
              <a:ext cx="1907642" cy="1907642"/>
              <a:chOff x="0" y="0"/>
              <a:chExt cx="812800" cy="812800"/>
            </a:xfrm>
          </p:grpSpPr>
          <p:sp>
            <p:nvSpPr>
              <p:cNvPr id="180" name="Google Shape;180;g390d3a6dfd9_0_1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B2044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g390d3a6dfd9_0_112"/>
              <p:cNvSpPr txBox="1"/>
              <p:nvPr/>
            </p:nvSpPr>
            <p:spPr>
              <a:xfrm>
                <a:off x="76200" y="85725"/>
                <a:ext cx="660300" cy="65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59944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82" name="Google Shape;182;g390d3a6dfd9_0_112"/>
          <p:cNvSpPr txBox="1"/>
          <p:nvPr/>
        </p:nvSpPr>
        <p:spPr>
          <a:xfrm>
            <a:off x="4572950" y="1273950"/>
            <a:ext cx="45729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Quantiva </a:t>
            </a:r>
            <a:endParaRPr b="1" sz="3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Technologies</a:t>
            </a:r>
            <a:endParaRPr sz="3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/>
  <cp:lastModifiedBy/>
  <cp:revision>1</cp:revision>
  <dcterms:modified xsi:type="dcterms:W3CDTF">2025-11-17T16:40:22Z</dcterms:modified>
  <dc:creator/>
  <dc:subject/>
  <cp:keywords/>
  <dc:description/>
  <cp:category/>
  <cp:contentStatus/>
  <dc:identifier/>
  <cp:version>None</cp:version>
</cp:coreProperties>
</file>
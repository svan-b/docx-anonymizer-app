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9olcG10wVVY/1ASf1CmzUcoKL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4D8B30-9154-43A4-BCA1-84A1C8C4D046}">
  <a:tblStyle styleId="{EC4D8B30-9154-43A4-BCA1-84A1C8C4D04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Offering Structure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</c:dPt>
          <c:dPt>
            <c:idx val="1"/>
            <c:bubble3D val="0"/>
            <c:spPr>
              <a:solidFill>
                <a:srgbClr val="AAB7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Primary Offering</c:v>
                </c:pt>
                <c:pt idx="1">
                  <c:v>Secondary Offering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62.5</c:v>
                </c:pt>
                <c:pt idx="1">
                  <c:v>37.5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Weeks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2-3</c:v>
                  </c:pt>
                  <c:pt idx="2">
                    <c:v>Week 4</c:v>
                  </c:pt>
                  <c:pt idx="3">
                    <c:v>Week 5</c:v>
                  </c:pt>
                  <c:pt idx="4">
                    <c:v>Week 6</c:v>
                  </c:pt>
                  <c:pt idx="5">
                    <c:v>Week 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76c05a87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229262" y="1118592"/>
            <a:ext cx="66853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Due Diligence Kickoff Meeting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19500" y="1918692"/>
            <a:ext cx="1905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08294" y="2394942"/>
            <a:ext cx="3727412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Quantiva Technologies Inc.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596656" y="3305026"/>
            <a:ext cx="1950538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Follow-on Public Offering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990436" y="3773537"/>
            <a:ext cx="116312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NASDAQ: QNTA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2"/>
          <p:cNvCxnSpPr/>
          <p:nvPr/>
        </p:nvCxnSpPr>
        <p:spPr>
          <a:xfrm>
            <a:off x="0" y="93345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2"/>
          <p:cNvSpPr/>
          <p:nvPr/>
        </p:nvSpPr>
        <p:spPr>
          <a:xfrm>
            <a:off x="285750" y="285750"/>
            <a:ext cx="43816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Meeting Agenda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71500" y="2228850"/>
            <a:ext cx="8001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Transaction Overview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Offering Structure &amp; Terms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Meeting Participants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Due Diligence Timeline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Key Deliverables &amp; Responsibilities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3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3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Transaction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76250" y="1003250"/>
            <a:ext cx="3943350" cy="1272332"/>
          </a:xfrm>
          <a:prstGeom prst="roundRect">
            <a:avLst>
              <a:gd fmla="val 598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3"/>
          <p:cNvCxnSpPr/>
          <p:nvPr/>
        </p:nvCxnSpPr>
        <p:spPr>
          <a:xfrm>
            <a:off x="504825" y="1003250"/>
            <a:ext cx="0" cy="1272332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3"/>
          <p:cNvSpPr/>
          <p:nvPr/>
        </p:nvSpPr>
        <p:spPr>
          <a:xfrm>
            <a:off x="771525" y="1241375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Company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71525" y="1589931"/>
            <a:ext cx="347814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Quantiva Technologies Inc.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71525" y="1850827"/>
            <a:ext cx="347814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NASDAQ: QNTA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724400" y="1003250"/>
            <a:ext cx="3943350" cy="1272332"/>
          </a:xfrm>
          <a:prstGeom prst="roundRect">
            <a:avLst>
              <a:gd fmla="val 598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3"/>
          <p:cNvCxnSpPr/>
          <p:nvPr/>
        </p:nvCxnSpPr>
        <p:spPr>
          <a:xfrm>
            <a:off x="4752975" y="1003250"/>
            <a:ext cx="0" cy="1272332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3"/>
          <p:cNvSpPr/>
          <p:nvPr/>
        </p:nvSpPr>
        <p:spPr>
          <a:xfrm>
            <a:off x="5019675" y="1241375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Industry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019675" y="1589931"/>
            <a:ext cx="347814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Technology - SaaS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019675" y="1850827"/>
            <a:ext cx="347814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Cloud Infrastructure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76250" y="2580382"/>
            <a:ext cx="3943350" cy="1272332"/>
          </a:xfrm>
          <a:prstGeom prst="roundRect">
            <a:avLst>
              <a:gd fmla="val 598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504825" y="2580382"/>
            <a:ext cx="0" cy="1272332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771525" y="2818507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Offering Type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71525" y="3167063"/>
            <a:ext cx="347814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Follow-on Public Offering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71525" y="3427958"/>
            <a:ext cx="347814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Mixed Primary &amp; Secondary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724400" y="2580382"/>
            <a:ext cx="3943350" cy="1272332"/>
          </a:xfrm>
          <a:prstGeom prst="roundRect">
            <a:avLst>
              <a:gd fmla="val 598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3"/>
          <p:cNvCxnSpPr/>
          <p:nvPr/>
        </p:nvCxnSpPr>
        <p:spPr>
          <a:xfrm>
            <a:off x="4752975" y="2580382"/>
            <a:ext cx="0" cy="1272332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3"/>
          <p:cNvSpPr/>
          <p:nvPr/>
        </p:nvSpPr>
        <p:spPr>
          <a:xfrm>
            <a:off x="5019675" y="2818507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Security Offered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019675" y="3167063"/>
            <a:ext cx="347814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Class A Common Stock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019675" y="3427958"/>
            <a:ext cx="347814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Par value $0.0001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250" y="4252764"/>
            <a:ext cx="8191500" cy="620911"/>
          </a:xfrm>
          <a:prstGeom prst="roundRect">
            <a:avLst>
              <a:gd fmla="val 12272" name="adj"/>
            </a:avLst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37223" y="4443264"/>
            <a:ext cx="7869555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Registration: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Form S-3 (File No. 333-987654) |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Lock-Up: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180 days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4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4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Offering Structure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76250" y="1452563"/>
            <a:ext cx="40222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Offering Details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76250" y="2024062"/>
            <a:ext cx="39433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Total Shares: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40,000,000 shares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Primary Offering: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25,000,000 shares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Secondary Offering: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15,000,000 shares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Greenshoe Option: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5,000,000 shares (30 days)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Offering Price: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$15.37 per share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76250" y="3805237"/>
            <a:ext cx="3943350" cy="857101"/>
          </a:xfrm>
          <a:prstGeom prst="roundRect">
            <a:avLst>
              <a:gd fmla="val 8890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4"/>
          <p:cNvCxnSpPr/>
          <p:nvPr/>
        </p:nvCxnSpPr>
        <p:spPr>
          <a:xfrm>
            <a:off x="504825" y="3805237"/>
            <a:ext cx="0" cy="857101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4"/>
          <p:cNvSpPr/>
          <p:nvPr/>
        </p:nvSpPr>
        <p:spPr>
          <a:xfrm>
            <a:off x="723900" y="3995738"/>
            <a:ext cx="357530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Gross Proceeds:</a:t>
            </a: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~$614.8M 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23900" y="4285208"/>
            <a:ext cx="357530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Company: ~$384.3M | Selling Stockholders: ~$230.6M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" name="Google Shape;75;p4"/>
          <p:cNvGraphicFramePr/>
          <p:nvPr/>
        </p:nvGraphicFramePr>
        <p:xfrm>
          <a:off x="4724400" y="1533525"/>
          <a:ext cx="3810000" cy="30480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5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5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Pricing &amp; Proceeds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" name="Google Shape;84;p5"/>
          <p:cNvGraphicFramePr/>
          <p:nvPr/>
        </p:nvGraphicFramePr>
        <p:xfrm>
          <a:off x="476250" y="130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{EC4D8B30-9154-43A4-BCA1-84A1C8C4D046}</a:tableStyleId>
              </a:tblPr>
              <a:tblGrid>
                <a:gridCol w="5029200"/>
                <a:gridCol w="3200400"/>
              </a:tblGrid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Item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74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Amount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74A6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Public Offering Price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$15.37 per share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Discount from 11/7 Close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5% ($16.18)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</a:rPr>
                        <a:t>Gross Proceeds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</a:rPr>
                        <a:t>$614.8M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  Company (Primary)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$384.3M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  Selling Stockholders (Secondary)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$230.6M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Underwriting Discount (4%)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($</a:t>
                      </a:r>
                      <a:r>
                        <a:rPr lang="en-US" sz="1500"/>
                        <a:t>24.6</a:t>
                      </a: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M)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Offering Expenses (1%)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($</a:t>
                      </a:r>
                      <a:r>
                        <a:rPr lang="en-US" sz="1500"/>
                        <a:t>6.1</a:t>
                      </a: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M)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C2833"/>
                          </a:solidFill>
                        </a:rPr>
                        <a:t>Net Proceeds to Company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C2833"/>
                          </a:solidFill>
                        </a:rPr>
                        <a:t>$</a:t>
                      </a:r>
                      <a:r>
                        <a:rPr b="1" lang="en-US" sz="1500">
                          <a:solidFill>
                            <a:srgbClr val="1C2833"/>
                          </a:solidFill>
                        </a:rPr>
                        <a:t>353.5</a:t>
                      </a:r>
                      <a:r>
                        <a:rPr b="1" lang="en-US" sz="1500" u="none" cap="none" strike="noStrike">
                          <a:solidFill>
                            <a:srgbClr val="1C2833"/>
                          </a:solidFill>
                        </a:rPr>
                        <a:t>M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6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6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of Proceeds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76250" y="1206996"/>
            <a:ext cx="8191500" cy="910530"/>
          </a:xfrm>
          <a:prstGeom prst="roundRect">
            <a:avLst>
              <a:gd fmla="val 8369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62000" y="1397496"/>
            <a:ext cx="777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Net Proceeds to Company: ~$3</a:t>
            </a:r>
            <a:r>
              <a:rPr b="1" lang="en-US" sz="1500">
                <a:solidFill>
                  <a:srgbClr val="FFFFFF"/>
                </a:solidFill>
              </a:rPr>
              <a:t>53.5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62000" y="1740396"/>
            <a:ext cx="77724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4% underwriting discount and 1% offering expenses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76250" y="2460427"/>
            <a:ext cx="8355330" cy="251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Primary Uses: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76250" y="3007072"/>
            <a:ext cx="81915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90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Continued investment in </a:t>
            </a: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Quantiva Global Cloud Platform (GCP)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infrastructure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Capital expenditures for </a:t>
            </a: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technology development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Expansion of </a:t>
            </a: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data center capacity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General corporate purposes and </a:t>
            </a: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working capital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76250" y="4340572"/>
            <a:ext cx="8191500" cy="567630"/>
          </a:xfrm>
          <a:prstGeom prst="roundRect">
            <a:avLst>
              <a:gd fmla="val 13424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6"/>
          <p:cNvCxnSpPr/>
          <p:nvPr/>
        </p:nvCxnSpPr>
        <p:spPr>
          <a:xfrm>
            <a:off x="504825" y="4340572"/>
            <a:ext cx="0" cy="567630"/>
          </a:xfrm>
          <a:prstGeom prst="straightConnector1">
            <a:avLst/>
          </a:prstGeom>
          <a:noFill/>
          <a:ln cap="flat" cmpd="sng" w="57150">
            <a:solidFill>
              <a:srgbClr val="AAB7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6"/>
          <p:cNvSpPr/>
          <p:nvPr/>
        </p:nvSpPr>
        <p:spPr>
          <a:xfrm>
            <a:off x="771525" y="4531072"/>
            <a:ext cx="78112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 Selling stockholders include BDCFE Partners LP and certain executives. Secondary proceeds do not benefit the Company.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Underwriting Syndicate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76250" y="1286619"/>
            <a:ext cx="8191500" cy="1326356"/>
          </a:xfrm>
          <a:prstGeom prst="roundRect">
            <a:avLst>
              <a:gd fmla="val 7181" name="adj"/>
            </a:avLst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809625" y="1524744"/>
            <a:ext cx="3847338" cy="253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Left Bookrunner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09625" y="1873895"/>
            <a:ext cx="76752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AAABB LLC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09625" y="2188220"/>
            <a:ext cx="767524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Stabilizing Manager (Reg M Rule 104)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76250" y="2765375"/>
            <a:ext cx="3943350" cy="1367730"/>
          </a:xfrm>
          <a:prstGeom prst="roundRect">
            <a:avLst>
              <a:gd fmla="val 5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7"/>
          <p:cNvCxnSpPr/>
          <p:nvPr/>
        </p:nvCxnSpPr>
        <p:spPr>
          <a:xfrm>
            <a:off x="504825" y="2765375"/>
            <a:ext cx="0" cy="1367730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7"/>
          <p:cNvSpPr/>
          <p:nvPr/>
        </p:nvSpPr>
        <p:spPr>
          <a:xfrm>
            <a:off x="771525" y="3003500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Joint Bookrunners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71525" y="3323481"/>
            <a:ext cx="340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BBBCC Securities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DDDFF Securities LLC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724400" y="2765375"/>
            <a:ext cx="3943350" cy="1367730"/>
          </a:xfrm>
          <a:prstGeom prst="roundRect">
            <a:avLst>
              <a:gd fmla="val 5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7"/>
          <p:cNvCxnSpPr/>
          <p:nvPr/>
        </p:nvCxnSpPr>
        <p:spPr>
          <a:xfrm>
            <a:off x="4752975" y="2765375"/>
            <a:ext cx="0" cy="1367730"/>
          </a:xfrm>
          <a:prstGeom prst="straightConnector1">
            <a:avLst/>
          </a:prstGeom>
          <a:noFill/>
          <a:ln cap="flat" cmpd="sng" w="57150">
            <a:solidFill>
              <a:srgbClr val="AAB7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7"/>
          <p:cNvSpPr/>
          <p:nvPr/>
        </p:nvSpPr>
        <p:spPr>
          <a:xfrm>
            <a:off x="5019675" y="3003500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Co-Managers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019675" y="3323481"/>
            <a:ext cx="340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EEEE Securities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FFFF Capital Markets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76250" y="4285506"/>
            <a:ext cx="8191500" cy="542925"/>
          </a:xfrm>
          <a:prstGeom prst="roundRect">
            <a:avLst>
              <a:gd fmla="val 14035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37223" y="4456956"/>
            <a:ext cx="78695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Underwriting Discount:</a:t>
            </a:r>
            <a:r>
              <a:rPr b="0" i="0" lang="en-US" sz="112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4% (applied to Company portion only)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8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8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Meeting Participants - Issuer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76250" y="1092845"/>
            <a:ext cx="8355330" cy="251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Quantiva Technologies Inc.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76250" y="1639491"/>
            <a:ext cx="3943350" cy="828526"/>
          </a:xfrm>
          <a:prstGeom prst="roundRect">
            <a:avLst>
              <a:gd fmla="val 919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66750" y="1829991"/>
            <a:ext cx="363359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Elena Vargas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66750" y="2090886"/>
            <a:ext cx="363359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CEO &amp; Executive Chairwoman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724400" y="1639491"/>
            <a:ext cx="3943350" cy="828526"/>
          </a:xfrm>
          <a:prstGeom prst="roundRect">
            <a:avLst>
              <a:gd fmla="val 919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914900" y="1829991"/>
            <a:ext cx="363359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Marcus Lee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914900" y="2090886"/>
            <a:ext cx="363359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Chief Financial Officer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76250" y="2620417"/>
            <a:ext cx="3943350" cy="828526"/>
          </a:xfrm>
          <a:prstGeom prst="roundRect">
            <a:avLst>
              <a:gd fmla="val 919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66750" y="2810917"/>
            <a:ext cx="363359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Jordan Hale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66750" y="3071813"/>
            <a:ext cx="363359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Chief Revenue Officer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724400" y="2620417"/>
            <a:ext cx="3943350" cy="828526"/>
          </a:xfrm>
          <a:prstGeom prst="roundRect">
            <a:avLst>
              <a:gd fmla="val 919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914900" y="2810917"/>
            <a:ext cx="363359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Laura Sanders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914900" y="3071813"/>
            <a:ext cx="363359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General Counsel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76250" y="3744218"/>
            <a:ext cx="83553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Advisors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76250" y="4220468"/>
            <a:ext cx="3943350" cy="801886"/>
          </a:xfrm>
          <a:prstGeom prst="roundRect">
            <a:avLst>
              <a:gd fmla="val 9503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8"/>
          <p:cNvCxnSpPr/>
          <p:nvPr/>
        </p:nvCxnSpPr>
        <p:spPr>
          <a:xfrm>
            <a:off x="495300" y="4220468"/>
            <a:ext cx="0" cy="801886"/>
          </a:xfrm>
          <a:prstGeom prst="straightConnector1">
            <a:avLst/>
          </a:prstGeom>
          <a:noFill/>
          <a:ln cap="flat" cmpd="sng" w="3810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8"/>
          <p:cNvSpPr/>
          <p:nvPr/>
        </p:nvSpPr>
        <p:spPr>
          <a:xfrm>
            <a:off x="704850" y="4410968"/>
            <a:ext cx="359473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KWYZ LLP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04850" y="4658618"/>
            <a:ext cx="359473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Auditors - Elena Vasquez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724400" y="4220468"/>
            <a:ext cx="3943350" cy="801886"/>
          </a:xfrm>
          <a:prstGeom prst="roundRect">
            <a:avLst>
              <a:gd fmla="val 9503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8"/>
          <p:cNvCxnSpPr/>
          <p:nvPr/>
        </p:nvCxnSpPr>
        <p:spPr>
          <a:xfrm>
            <a:off x="4743450" y="4220468"/>
            <a:ext cx="0" cy="801886"/>
          </a:xfrm>
          <a:prstGeom prst="straightConnector1">
            <a:avLst/>
          </a:prstGeom>
          <a:noFill/>
          <a:ln cap="flat" cmpd="sng" w="3810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8"/>
          <p:cNvSpPr/>
          <p:nvPr/>
        </p:nvSpPr>
        <p:spPr>
          <a:xfrm>
            <a:off x="4953000" y="4410968"/>
            <a:ext cx="359473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UTLC LLP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953000" y="4658618"/>
            <a:ext cx="359473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Company Counsel - Marcus Blackwell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9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9"/>
          <p:cNvSpPr/>
          <p:nvPr/>
        </p:nvSpPr>
        <p:spPr>
          <a:xfrm>
            <a:off x="381000" y="238125"/>
            <a:ext cx="52366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Meeting Participants - Underwriters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28625" y="1029295"/>
            <a:ext cx="8286750" cy="910530"/>
          </a:xfrm>
          <a:prstGeom prst="roundRect">
            <a:avLst>
              <a:gd fmla="val 8369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66750" y="1200745"/>
            <a:ext cx="796671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AAABB LLC - Lead Left Bookrunner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66750" y="1501676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Alexander Brooks, MD • Victoria Lang, VP • Michael Rivera, MD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28625" y="2092226"/>
            <a:ext cx="4067175" cy="1147763"/>
          </a:xfrm>
          <a:prstGeom prst="roundRect">
            <a:avLst>
              <a:gd fmla="val 663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9"/>
          <p:cNvCxnSpPr/>
          <p:nvPr/>
        </p:nvCxnSpPr>
        <p:spPr>
          <a:xfrm>
            <a:off x="447675" y="2092226"/>
            <a:ext cx="0" cy="1147762"/>
          </a:xfrm>
          <a:prstGeom prst="straightConnector1">
            <a:avLst/>
          </a:prstGeom>
          <a:noFill/>
          <a:ln cap="flat" cmpd="sng" w="3810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9"/>
          <p:cNvSpPr/>
          <p:nvPr/>
        </p:nvSpPr>
        <p:spPr>
          <a:xfrm>
            <a:off x="676275" y="2263676"/>
            <a:ext cx="36821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BBBCC Securities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76275" y="2511326"/>
            <a:ext cx="3682174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Sophia Chen, MD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Ethan Patel, VP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Olivia Grant, VP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648200" y="2092226"/>
            <a:ext cx="4067175" cy="1147763"/>
          </a:xfrm>
          <a:prstGeom prst="roundRect">
            <a:avLst>
              <a:gd fmla="val 663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4667250" y="2092226"/>
            <a:ext cx="0" cy="1147762"/>
          </a:xfrm>
          <a:prstGeom prst="straightConnector1">
            <a:avLst/>
          </a:prstGeom>
          <a:noFill/>
          <a:ln cap="flat" cmpd="sng" w="3810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9"/>
          <p:cNvSpPr/>
          <p:nvPr/>
        </p:nvSpPr>
        <p:spPr>
          <a:xfrm>
            <a:off x="4895850" y="2263676"/>
            <a:ext cx="36821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DDDFF Securities LLC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895850" y="2511326"/>
            <a:ext cx="3682174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James Whitaker, MD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Natalie Ford, VP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Ryan Keller, MD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28625" y="3392388"/>
            <a:ext cx="4067175" cy="763786"/>
          </a:xfrm>
          <a:prstGeom prst="roundRect">
            <a:avLst>
              <a:gd fmla="val 9977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9"/>
          <p:cNvCxnSpPr/>
          <p:nvPr/>
        </p:nvCxnSpPr>
        <p:spPr>
          <a:xfrm>
            <a:off x="447675" y="3392388"/>
            <a:ext cx="0" cy="763786"/>
          </a:xfrm>
          <a:prstGeom prst="straightConnector1">
            <a:avLst/>
          </a:prstGeom>
          <a:noFill/>
          <a:ln cap="flat" cmpd="sng" w="38100">
            <a:solidFill>
              <a:srgbClr val="AAB7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9"/>
          <p:cNvSpPr/>
          <p:nvPr/>
        </p:nvSpPr>
        <p:spPr>
          <a:xfrm>
            <a:off x="676275" y="3563838"/>
            <a:ext cx="36821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EEEE Securities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76275" y="3811488"/>
            <a:ext cx="368217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Isabella Moreno, MD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648200" y="3392388"/>
            <a:ext cx="4067175" cy="763786"/>
          </a:xfrm>
          <a:prstGeom prst="roundRect">
            <a:avLst>
              <a:gd fmla="val 9977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9"/>
          <p:cNvCxnSpPr/>
          <p:nvPr/>
        </p:nvCxnSpPr>
        <p:spPr>
          <a:xfrm>
            <a:off x="4667250" y="3392388"/>
            <a:ext cx="0" cy="763786"/>
          </a:xfrm>
          <a:prstGeom prst="straightConnector1">
            <a:avLst/>
          </a:prstGeom>
          <a:noFill/>
          <a:ln cap="flat" cmpd="sng" w="38100">
            <a:solidFill>
              <a:srgbClr val="AAB7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9"/>
          <p:cNvSpPr/>
          <p:nvPr/>
        </p:nvSpPr>
        <p:spPr>
          <a:xfrm>
            <a:off x="4895850" y="3563838"/>
            <a:ext cx="36821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FFFF Capital Markets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895850" y="3811488"/>
            <a:ext cx="368217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Benjamin Soto, MD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28625" y="4308574"/>
            <a:ext cx="8286750" cy="777180"/>
          </a:xfrm>
          <a:prstGeom prst="roundRect">
            <a:avLst>
              <a:gd fmla="val 9805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66750" y="4480024"/>
            <a:ext cx="79667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Underwriters' Counsel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66750" y="4727674"/>
            <a:ext cx="796671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ABD LLP</a:t>
            </a: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- Gregory Harlan, Lead Attorney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0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0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Due Diligence Timeline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76250" y="1427857"/>
            <a:ext cx="40222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Key Milestones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6250" y="1951732"/>
            <a:ext cx="394335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1: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Kickoff &amp; document request 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2-3: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Financial &amp; legal due diligence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4: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Management presentations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5: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Draft prospectus supplement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6: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Final review &amp; pricing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7: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Closing (T+3 settlement)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76250" y="3894832"/>
            <a:ext cx="3943350" cy="792361"/>
          </a:xfrm>
          <a:prstGeom prst="roundRect">
            <a:avLst>
              <a:gd fmla="val 961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504825" y="3894832"/>
            <a:ext cx="0" cy="792361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0"/>
          <p:cNvSpPr/>
          <p:nvPr/>
        </p:nvSpPr>
        <p:spPr>
          <a:xfrm>
            <a:off x="742950" y="4066282"/>
            <a:ext cx="353644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Settlement Date:</a:t>
            </a: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T+3 from trade 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42950" y="4329113"/>
            <a:ext cx="353644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Lock-Up Expiration:</a:t>
            </a: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 180 days post-closing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10"/>
          <p:cNvGraphicFramePr/>
          <p:nvPr/>
        </p:nvGraphicFramePr>
        <p:xfrm>
          <a:off x="4724400" y="1390650"/>
          <a:ext cx="4000500" cy="333375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11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11"/>
          <p:cNvSpPr/>
          <p:nvPr/>
        </p:nvSpPr>
        <p:spPr>
          <a:xfrm>
            <a:off x="381000" y="238125"/>
            <a:ext cx="52755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Deliverables &amp; Responsibilities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76250" y="805160"/>
            <a:ext cx="8191500" cy="1546771"/>
          </a:xfrm>
          <a:prstGeom prst="roundRect">
            <a:avLst>
              <a:gd fmla="val 4926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1"/>
          <p:cNvCxnSpPr/>
          <p:nvPr/>
        </p:nvCxnSpPr>
        <p:spPr>
          <a:xfrm>
            <a:off x="504825" y="805160"/>
            <a:ext cx="0" cy="1546771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1"/>
          <p:cNvSpPr/>
          <p:nvPr/>
        </p:nvSpPr>
        <p:spPr>
          <a:xfrm>
            <a:off x="771525" y="995660"/>
            <a:ext cx="7811262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Company (Quantiva)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771525" y="1285131"/>
            <a:ext cx="76581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Updated financial statements and MD&amp;A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Risk factors and business description updates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Officers' and directors' questionnaires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76250" y="2504331"/>
            <a:ext cx="8191500" cy="1241971"/>
          </a:xfrm>
          <a:prstGeom prst="roundRect">
            <a:avLst>
              <a:gd fmla="val 6135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1"/>
          <p:cNvCxnSpPr/>
          <p:nvPr/>
        </p:nvCxnSpPr>
        <p:spPr>
          <a:xfrm>
            <a:off x="504825" y="2504331"/>
            <a:ext cx="0" cy="1241971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1"/>
          <p:cNvSpPr/>
          <p:nvPr/>
        </p:nvSpPr>
        <p:spPr>
          <a:xfrm>
            <a:off x="771525" y="2694831"/>
            <a:ext cx="7811262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Auditors (KWYZ LLP)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771525" y="2984302"/>
            <a:ext cx="7658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Comfort letter (SAS 72 procedures)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Consent to use audit reports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76250" y="3898702"/>
            <a:ext cx="8191500" cy="1173212"/>
          </a:xfrm>
          <a:prstGeom prst="roundRect">
            <a:avLst>
              <a:gd fmla="val 6495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1"/>
          <p:cNvCxnSpPr/>
          <p:nvPr/>
        </p:nvCxnSpPr>
        <p:spPr>
          <a:xfrm>
            <a:off x="504825" y="3898702"/>
            <a:ext cx="0" cy="1173212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11"/>
          <p:cNvSpPr/>
          <p:nvPr/>
        </p:nvSpPr>
        <p:spPr>
          <a:xfrm>
            <a:off x="771525" y="4089202"/>
            <a:ext cx="7811262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Legal Counsel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771525" y="4378672"/>
            <a:ext cx="781126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Company Counsel (UTLC):</a:t>
            </a: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Legal opinions, 10b-5 letter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771525" y="4668143"/>
            <a:ext cx="781126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Underwriters' Counsel (ABD):</a:t>
            </a: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Due diligence 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12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2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476250" y="848767"/>
            <a:ext cx="8191500" cy="1943100"/>
          </a:xfrm>
          <a:prstGeom prst="roundRect">
            <a:avLst>
              <a:gd fmla="val 4902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742950" y="1058317"/>
            <a:ext cx="78112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Immediate Actions (Next 48 Hours)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42950" y="1401217"/>
            <a:ext cx="76581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9050" spcFirstLastPara="1" rIns="0" wrap="square" tIns="0">
            <a:noAutofit/>
          </a:bodyPr>
          <a:lstStyle/>
          <a:p>
            <a:pPr indent="-119063" lvl="0" marL="119063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comprehensive due diligence request 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19063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Schedule management Q&amp;A sessions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19063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Establish secure data room access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19063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Initiate comfort letter procedures with KWYZ LLP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76250" y="3096667"/>
            <a:ext cx="835533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Key Coordination Points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76250" y="3683347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Weekly syndicate calls - </a:t>
            </a: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Thursdays at 10:00 AM 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Daily updates via secure email distribution 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76250" y="4559647"/>
            <a:ext cx="8191500" cy="516136"/>
          </a:xfrm>
          <a:prstGeom prst="roundRect">
            <a:avLst>
              <a:gd fmla="val 14764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2"/>
          <p:cNvCxnSpPr/>
          <p:nvPr/>
        </p:nvCxnSpPr>
        <p:spPr>
          <a:xfrm>
            <a:off x="504825" y="4559647"/>
            <a:ext cx="0" cy="516136"/>
          </a:xfrm>
          <a:prstGeom prst="straightConnector1">
            <a:avLst/>
          </a:prstGeom>
          <a:noFill/>
          <a:ln cap="flat" cmpd="sng" w="57150">
            <a:solidFill>
              <a:srgbClr val="AAB7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2"/>
          <p:cNvSpPr/>
          <p:nvPr/>
        </p:nvSpPr>
        <p:spPr>
          <a:xfrm>
            <a:off x="742950" y="4731097"/>
            <a:ext cx="786955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r>
              <a:rPr b="0" i="0" lang="en-US" sz="975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 Alexander Brooks (AAABB LLC) - alexander.brooks@aaabb.com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61b3fce3.png" id="240" name="Google Shape;2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3"/>
          <p:cNvSpPr/>
          <p:nvPr/>
        </p:nvSpPr>
        <p:spPr>
          <a:xfrm>
            <a:off x="3075661" y="1511647"/>
            <a:ext cx="299267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3714750" y="2435572"/>
            <a:ext cx="17145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171575" y="3045172"/>
            <a:ext cx="6800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 for your participation in this due diligence process. We look forward to a successful offering and continued partnership.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2025-11-12T14:55:24Z</dcterms:created>
  <dc:creator/>
  <cp:lastModifiedBy/>
  <dc:title/>
  <dc:subject/>
  <cp:keywords/>
  <dc:description/>
  <cp:category/>
  <cp:contentStatus/>
  <dc:identifier/>
  <cp:revision>1</cp:revision>
  <cp:version>None</cp:version>
</cp:coreProperties>
</file>
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hQlYReYDH5C6NJyWNtxjtgQ5/r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2D02E6-AC2B-4C1D-8049-84B283F6D3D6}">
  <a:tblStyle styleId="{F42D02E6-AC2B-4C1D-8049-84B283F6D3D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57FC3B7-7F70-445F-A3A1-E7F32B3B278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RobotoSlab-regular.fntdata"/><Relationship Id="rId16" Type="http://schemas.openxmlformats.org/officeDocument/2006/relationships/font" Target="fonts/RobotoSlab-bold.fntdata"/><Relationship Id="rId17" Type="http://schemas.openxmlformats.org/officeDocument/2006/relationships/font" Target="fonts/Roboto-regular.fntdata"/><Relationship Id="rId18" Type="http://schemas.openxmlformats.org/officeDocument/2006/relationships/font" Target="fonts/Roboto-bold.fntdata"/><Relationship Id="rId19" Type="http://schemas.openxmlformats.org/officeDocument/2006/relationships/font" Target="fonts/Roboto-italic.fntdata"/><Relationship Id="rId20" Type="http://schemas.openxmlformats.org/officeDocument/2006/relationships/font" Target="fonts/Roboto-boldItalic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9601b99e9_1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9601b99e9_1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9601b99e9_1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9601b99e9_1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9601b99e9_1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9601b99e9_1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9601b99e9_1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9601b99e9_1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9601b99e9_1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9601b99e9_1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9601b99e9_1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9601b99e9_1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9601b99e9_1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9601b99e9_1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9601b99e9_1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9601b99e9_1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9601b99e9_1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9601b99e9_1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9601b99e9_1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9601b99e9_1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9601b99e9_1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9601b99e9_1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9601b99e9_1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9601b99e9_1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9601b99e9_1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9601b99e9_1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9601b99e9_1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9601b99e9_1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9601b99e9_1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9601b99e9_1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9601b99e9_1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9601b99e9_1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9601b99e9_1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9601b99e9_1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9601b99e9_1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9601b99e9_1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9601b99e9_1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9601b99e9_1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9601b99e9_1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9601b99e9_1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9601b99e9_1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9601b99e9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1.6 Offering Economics Summary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627853" y="1208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{F42D02E6-AC2B-4C1D-8049-84B283F6D3D6}</a:tableStyleId>
              </a:tblPr>
              <a:tblGrid>
                <a:gridCol w="3315275"/>
                <a:gridCol w="4573000"/>
              </a:tblGrid>
              <a:tr h="29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 sz="1100" u="none" cap="none" strike="noStrike"/>
                    </a:p>
                  </a:txBody>
                  <a:tcPr marT="48250" marB="48250" marR="24950" marL="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100" u="none" cap="none" strike="noStrike"/>
                    </a:p>
                  </a:txBody>
                  <a:tcPr marT="48250" marB="48250" marR="24950" marL="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Issuer: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Quantiva Technologies Inc. (“Quantiva” or the “Company”)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Ticker / Exchange: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QNTA / NASDAQ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Type: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Follow-on Public Offering (Mixed Primary + Secondary)</a:t>
                      </a:r>
                      <a:endParaRPr sz="1100" u="none" cap="none" strike="noStrike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Securities Offered: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40,000,000 shares (25,000,000 primary / 15,000,000 secondary)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Price: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$15.37 per share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Gross Proceeds: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~$614,800,000 million total (Company: ~$384,250,000 / Selling Stockholders: ~$230,550,000 MM)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Underwriting Discount: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4.0% (Company portion only)</a:t>
                      </a:r>
                      <a:endParaRPr sz="1100" u="none" cap="none" strike="noStrike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Expected Net Proceeds to Company: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Approximately $3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53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MM </a:t>
                      </a:r>
                      <a:endParaRPr sz="1100" u="none" cap="none" strike="noStrike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0" name="Google Shape;7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Overview of Transaction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Overview of Transaction (Cont’d)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76" name="Google Shape;76;p3"/>
          <p:cNvGraphicFramePr/>
          <p:nvPr/>
        </p:nvGraphicFramePr>
        <p:xfrm>
          <a:off x="311700" y="10177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{F42D02E6-AC2B-4C1D-8049-84B283F6D3D6}</a:tableStyleId>
              </a:tblPr>
              <a:tblGrid>
                <a:gridCol w="2432275"/>
                <a:gridCol w="6088325"/>
              </a:tblGrid>
              <a:tr h="39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Use of Proceeds: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Quantiva is deploying $353.5 million over three years (2026-2028) to build a market-leading fund accounting SaaS platform, with 89% ($315.1M) allocated to R&amp;D and infrastructure for product development, AI/ML capabilities, cloud infrastructure, and engineering team expansion. The remaining 11% ($38.4M) supports general corporate purposes including go-to-market activities, international expansion, and corporate infrastructure to scale the business and achieve enterprise-grade operations.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Selling Stockholders: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YG Partners, LP, and certain executives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Form Reference: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Form S-3 (File No. 333-987654)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; Prospectus Supplement filed under Rule 424(b)(5)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Underwriters: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AAABB LLC (Lead Left), BBBCC Securities, DDDFF Securities LLC as Joint Bookrunners; EEEE Securities and FFFF Capital Markets as Co-Managers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Settlement Date: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11/17/2025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(T+3)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Auditors: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KWYZ LLP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Legal Counsel: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UTLC LLP (Company), [Underwriters’ Counsel]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4"/>
          <p:cNvGraphicFramePr/>
          <p:nvPr/>
        </p:nvGraphicFramePr>
        <p:xfrm>
          <a:off x="311700" y="13476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{F42D02E6-AC2B-4C1D-8049-84B283F6D3D6}</a:tableStyleId>
              </a:tblPr>
              <a:tblGrid>
                <a:gridCol w="2793275"/>
                <a:gridCol w="1667775"/>
                <a:gridCol w="4059550"/>
              </a:tblGrid>
              <a:tr h="300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Metric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Value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Notes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Total Shares Outstanding (Pre-Offering)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292.66 million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Includes all outstanding Class A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Class B shares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Total Shares Outstanding (Post-Offering)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317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66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million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Reflects issuance of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.0 million new Class A shares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9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Ownership Dilution to Existing Shareholders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~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.5%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Based on fully diluted post-offering shares.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Public Float Increase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.0 million shares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Driven primarily by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primary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portion.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Coverage (Book Demand)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6.8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Oversubscribed at pricing.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Institutional Allocation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~92%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Remainder distributed to retail/HNW accounts.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Lock-Up Period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180 days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Applies to company, directors, and executive officers.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Over-Allotment (Greenshoe)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00,000 shares (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20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%)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Available to cover overallotments; stabilization managed by AAABB LLC.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2" name="Google Shape;8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Key Offering Metrics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600"/>
              <a:t>Underwriting </a:t>
            </a:r>
            <a:r>
              <a:rPr lang="en" sz="2800"/>
              <a:t>Economics </a:t>
            </a:r>
            <a:endParaRPr/>
          </a:p>
        </p:txBody>
      </p:sp>
      <p:graphicFrame>
        <p:nvGraphicFramePr>
          <p:cNvPr id="88" name="Google Shape;88;p5"/>
          <p:cNvGraphicFramePr/>
          <p:nvPr/>
        </p:nvGraphicFramePr>
        <p:xfrm>
          <a:off x="4351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{857FC3B7-7F70-445F-A3A1-E7F32B3B278F}</a:tableStyleId>
              </a:tblPr>
              <a:tblGrid>
                <a:gridCol w="1185525"/>
                <a:gridCol w="1185525"/>
                <a:gridCol w="1185525"/>
                <a:gridCol w="1185525"/>
                <a:gridCol w="1185525"/>
                <a:gridCol w="1185525"/>
                <a:gridCol w="1185525"/>
              </a:tblGrid>
              <a:tr h="55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Firm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Role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Allocation 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Management Fee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Underwriting Fee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Selling Concession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Total Fees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AAABB LLC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Lead Left Bookrunner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31.00%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$1,905,880.00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$3,811,760.00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$1,905,880.00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$7,623,520.00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BBBCC Securities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Joint Bookrunner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27.00%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$1,659,960.00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$3,319,920.00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$1,659,960.00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$6,639,840.00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DDDFF Securities LLC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Joint Bookrunner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21.00%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$1,291,080.00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$2,582,160.00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$1,291,080.00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$5,164,320.00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EEEE Securities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Co-Manager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12.00%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$737,760.00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$1,475,520.00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$737,760.00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$2,951,040.00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FFFF Capital Markets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Co-Manager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9.00%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$553,320.00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$1,106,640.00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$553,320.00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$2,213,280.00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Total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100.00%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$6,148,000.00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$12,296,000.00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$6,148,000.00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$24,592,000.00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Aftermarket</a:t>
            </a:r>
            <a:r>
              <a:rPr b="1" lang="en" sz="2400"/>
              <a:t> </a:t>
            </a:r>
            <a:r>
              <a:rPr lang="en" sz="2400"/>
              <a:t>and Stabilization Framework</a:t>
            </a:r>
            <a:endParaRPr/>
          </a:p>
        </p:txBody>
      </p:sp>
      <p:grpSp>
        <p:nvGrpSpPr>
          <p:cNvPr id="94" name="Google Shape;94;p6"/>
          <p:cNvGrpSpPr/>
          <p:nvPr/>
        </p:nvGrpSpPr>
        <p:grpSpPr>
          <a:xfrm>
            <a:off x="311700" y="1524464"/>
            <a:ext cx="8520600" cy="2631929"/>
            <a:chOff x="0" y="316239"/>
            <a:chExt cx="8520600" cy="2631929"/>
          </a:xfrm>
        </p:grpSpPr>
        <p:sp>
          <p:nvSpPr>
            <p:cNvPr id="95" name="Google Shape;95;p6"/>
            <p:cNvSpPr/>
            <p:nvPr/>
          </p:nvSpPr>
          <p:spPr>
            <a:xfrm>
              <a:off x="0" y="316239"/>
              <a:ext cx="8520600" cy="1193549"/>
            </a:xfrm>
            <a:prstGeom prst="roundRect">
              <a:avLst>
                <a:gd fmla="val 10000" name="adj"/>
              </a:avLst>
            </a:prstGeom>
            <a:solidFill>
              <a:srgbClr val="C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361048" y="584788"/>
              <a:ext cx="656452" cy="65645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1378549" y="31623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1378549" y="31623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300" lIns="126300" spcFirstLastPara="1" rIns="126300" wrap="square" tIns="12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Stabilizing Manager: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AAABB LLC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Greenshoe: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/>
                <a:t>To be determined based on aftermarket performance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Stabilization Window: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30 days from pricing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Trading Support Goal: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Maintain orderly market conditions and limit initial volatility.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Price Range Target (First Day):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$</a:t>
              </a:r>
              <a:r>
                <a:rPr lang="en"/>
                <a:t>14.37-17.37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0" y="1754619"/>
              <a:ext cx="8520600" cy="1193549"/>
            </a:xfrm>
            <a:prstGeom prst="roundRect">
              <a:avLst>
                <a:gd fmla="val 10000" name="adj"/>
              </a:avLst>
            </a:prstGeom>
            <a:solidFill>
              <a:srgbClr val="C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361048" y="2023167"/>
              <a:ext cx="656452" cy="6564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1378549" y="175461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"/>
            <p:cNvSpPr txBox="1"/>
            <p:nvPr/>
          </p:nvSpPr>
          <p:spPr>
            <a:xfrm>
              <a:off x="1378549" y="175461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300" lIns="126300" spcFirstLastPara="1" rIns="126300" wrap="square" tIns="12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AAABB’s Syndicate Desk will manage stabilization and aftermarket monitoring consistent with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Regulation M, Rule 104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All stabilization trades and greenshoe exercise decisions will be jointly reviewed by syndicate leads.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Key Takeaways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08" name="Google Shape;108;p7"/>
          <p:cNvGrpSpPr/>
          <p:nvPr/>
        </p:nvGrpSpPr>
        <p:grpSpPr>
          <a:xfrm>
            <a:off x="2968986" y="1240542"/>
            <a:ext cx="3206027" cy="3199886"/>
            <a:chOff x="2657286" y="32317"/>
            <a:chExt cx="3206027" cy="3199886"/>
          </a:xfrm>
        </p:grpSpPr>
        <p:sp>
          <p:nvSpPr>
            <p:cNvPr id="109" name="Google Shape;109;p7"/>
            <p:cNvSpPr/>
            <p:nvPr/>
          </p:nvSpPr>
          <p:spPr>
            <a:xfrm>
              <a:off x="2927768" y="202066"/>
              <a:ext cx="2742102" cy="2742102"/>
            </a:xfrm>
            <a:prstGeom prst="pie">
              <a:avLst>
                <a:gd fmla="val 16200000" name="adj1"/>
                <a:gd fmla="val 2052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4358232" y="663001"/>
              <a:ext cx="881390" cy="587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Transaction strengthens </a:t>
              </a:r>
              <a:r>
                <a:rPr b="1" lang="en" sz="600">
                  <a:solidFill>
                    <a:schemeClr val="lt1"/>
                  </a:solidFill>
                </a:rPr>
                <a:t>balance sheet for reinvestment and expansion opportunities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2951272" y="275189"/>
              <a:ext cx="2742102" cy="2742102"/>
            </a:xfrm>
            <a:prstGeom prst="pie">
              <a:avLst>
                <a:gd fmla="val 20520000" name="adj1"/>
                <a:gd fmla="val 324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7"/>
            <p:cNvSpPr txBox="1"/>
            <p:nvPr/>
          </p:nvSpPr>
          <p:spPr>
            <a:xfrm>
              <a:off x="4717317" y="1528069"/>
              <a:ext cx="816102" cy="652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Expands public float by over </a:t>
              </a:r>
              <a:r>
                <a:rPr b="1" lang="en" sz="600">
                  <a:solidFill>
                    <a:schemeClr val="lt1"/>
                  </a:solidFill>
                </a:rPr>
                <a:t>2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 million shares, improving daily trading liquidity and institutional access.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2889248" y="320238"/>
              <a:ext cx="2742102" cy="2742102"/>
            </a:xfrm>
            <a:prstGeom prst="pie">
              <a:avLst>
                <a:gd fmla="val 3240000" name="adj1"/>
                <a:gd fmla="val 756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7"/>
            <p:cNvSpPr txBox="1"/>
            <p:nvPr/>
          </p:nvSpPr>
          <p:spPr>
            <a:xfrm>
              <a:off x="3868571" y="2246239"/>
              <a:ext cx="783457" cy="718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Modest dilution (~</a:t>
              </a:r>
              <a:r>
                <a:rPr b="1" lang="en" sz="600">
                  <a:solidFill>
                    <a:schemeClr val="lt1"/>
                  </a:solidFill>
                </a:rPr>
                <a:t>8.5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%) offset by improved capital flexibility and reinvestment capacity.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2827224" y="275189"/>
              <a:ext cx="2742102" cy="2742102"/>
            </a:xfrm>
            <a:prstGeom prst="pie">
              <a:avLst>
                <a:gd fmla="val 7560000" name="adj1"/>
                <a:gd fmla="val 1188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7"/>
            <p:cNvSpPr txBox="1"/>
            <p:nvPr/>
          </p:nvSpPr>
          <p:spPr>
            <a:xfrm>
              <a:off x="2987180" y="1528069"/>
              <a:ext cx="816102" cy="652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Proceeds earmarked for high-ROI </a:t>
              </a:r>
              <a:r>
                <a:rPr b="1" lang="en" sz="600">
                  <a:solidFill>
                    <a:schemeClr val="lt1"/>
                  </a:solidFill>
                </a:rPr>
                <a:t>expansion projects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2850728" y="202066"/>
              <a:ext cx="2742102" cy="2742102"/>
            </a:xfrm>
            <a:prstGeom prst="pie">
              <a:avLst>
                <a:gd fmla="val 11880000" name="adj1"/>
                <a:gd fmla="val 1620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7"/>
            <p:cNvSpPr txBox="1"/>
            <p:nvPr/>
          </p:nvSpPr>
          <p:spPr>
            <a:xfrm>
              <a:off x="3280977" y="663001"/>
              <a:ext cx="881390" cy="587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Demand profile consistent with top-tier consumer growth offerings; oversubscribed nearly </a:t>
              </a:r>
              <a:r>
                <a:rPr b="1" lang="en" sz="600">
                  <a:solidFill>
                    <a:schemeClr val="lt1"/>
                  </a:solidFill>
                </a:rPr>
                <a:t>7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x.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2757890" y="32317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60005" y="4067"/>
                  </a:moveTo>
                  <a:lnTo>
                    <a:pt x="60005" y="4067"/>
                  </a:lnTo>
                  <a:cubicBezTo>
                    <a:pt x="82391" y="4070"/>
                    <a:pt x="102619" y="17419"/>
                    <a:pt x="111424" y="38000"/>
                  </a:cubicBezTo>
                  <a:lnTo>
                    <a:pt x="115280" y="36747"/>
                  </a:lnTo>
                  <a:lnTo>
                    <a:pt x="110293" y="43657"/>
                  </a:lnTo>
                  <a:lnTo>
                    <a:pt x="101740" y="41147"/>
                  </a:lnTo>
                  <a:lnTo>
                    <a:pt x="105594" y="39894"/>
                  </a:lnTo>
                  <a:lnTo>
                    <a:pt x="105594" y="39894"/>
                  </a:lnTo>
                  <a:cubicBezTo>
                    <a:pt x="97628" y="21829"/>
                    <a:pt x="79748" y="10171"/>
                    <a:pt x="60005" y="10169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2781712" y="105416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113195" y="42715"/>
                  </a:moveTo>
                  <a:cubicBezTo>
                    <a:pt x="120114" y="64009"/>
                    <a:pt x="113668" y="87378"/>
                    <a:pt x="96810" y="102113"/>
                  </a:cubicBezTo>
                  <a:lnTo>
                    <a:pt x="99192" y="105393"/>
                  </a:lnTo>
                  <a:lnTo>
                    <a:pt x="91080" y="102785"/>
                  </a:lnTo>
                  <a:lnTo>
                    <a:pt x="90825" y="93875"/>
                  </a:lnTo>
                  <a:lnTo>
                    <a:pt x="93207" y="97154"/>
                  </a:lnTo>
                  <a:lnTo>
                    <a:pt x="93207" y="97154"/>
                  </a:lnTo>
                  <a:cubicBezTo>
                    <a:pt x="107930" y="83994"/>
                    <a:pt x="113494" y="63382"/>
                    <a:pt x="107392" y="44601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2719499" y="150602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92880" y="105248"/>
                  </a:moveTo>
                  <a:cubicBezTo>
                    <a:pt x="74766" y="118411"/>
                    <a:pt x="50547" y="119502"/>
                    <a:pt x="31322" y="108021"/>
                  </a:cubicBezTo>
                  <a:lnTo>
                    <a:pt x="28939" y="111301"/>
                  </a:lnTo>
                  <a:lnTo>
                    <a:pt x="28913" y="102779"/>
                  </a:lnTo>
                  <a:lnTo>
                    <a:pt x="37308" y="99784"/>
                  </a:lnTo>
                  <a:lnTo>
                    <a:pt x="34926" y="103063"/>
                  </a:lnTo>
                  <a:lnTo>
                    <a:pt x="34926" y="103063"/>
                  </a:lnTo>
                  <a:cubicBezTo>
                    <a:pt x="51992" y="113000"/>
                    <a:pt x="73317" y="111921"/>
                    <a:pt x="89293" y="100311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2657286" y="105416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27127" y="105253"/>
                  </a:moveTo>
                  <a:cubicBezTo>
                    <a:pt x="9012" y="92094"/>
                    <a:pt x="490" y="69400"/>
                    <a:pt x="5466" y="47570"/>
                  </a:cubicBezTo>
                  <a:lnTo>
                    <a:pt x="1610" y="46317"/>
                  </a:lnTo>
                  <a:lnTo>
                    <a:pt x="9707" y="43658"/>
                  </a:lnTo>
                  <a:lnTo>
                    <a:pt x="15150" y="50716"/>
                  </a:lnTo>
                  <a:lnTo>
                    <a:pt x="11296" y="49464"/>
                  </a:lnTo>
                  <a:lnTo>
                    <a:pt x="11296" y="49464"/>
                  </a:lnTo>
                  <a:cubicBezTo>
                    <a:pt x="7121" y="68765"/>
                    <a:pt x="14737" y="88710"/>
                    <a:pt x="30714" y="100316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2681108" y="32317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6805" y="42714"/>
                  </a:moveTo>
                  <a:cubicBezTo>
                    <a:pt x="13724" y="21424"/>
                    <a:pt x="32669" y="6310"/>
                    <a:pt x="54964" y="4295"/>
                  </a:cubicBezTo>
                  <a:lnTo>
                    <a:pt x="54964" y="240"/>
                  </a:lnTo>
                  <a:lnTo>
                    <a:pt x="59995" y="7118"/>
                  </a:lnTo>
                  <a:lnTo>
                    <a:pt x="54965" y="14477"/>
                  </a:lnTo>
                  <a:lnTo>
                    <a:pt x="54965" y="10424"/>
                  </a:lnTo>
                  <a:lnTo>
                    <a:pt x="54965" y="10424"/>
                  </a:lnTo>
                  <a:cubicBezTo>
                    <a:pt x="35322" y="12419"/>
                    <a:pt x="18710" y="25823"/>
                    <a:pt x="12609" y="44600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Disclosure</a:t>
            </a:r>
            <a:endParaRPr/>
          </a:p>
        </p:txBody>
      </p:sp>
      <p:grpSp>
        <p:nvGrpSpPr>
          <p:cNvPr id="129" name="Google Shape;129;p8"/>
          <p:cNvGrpSpPr/>
          <p:nvPr/>
        </p:nvGrpSpPr>
        <p:grpSpPr>
          <a:xfrm>
            <a:off x="311700" y="1208225"/>
            <a:ext cx="8520599" cy="3264407"/>
            <a:chOff x="0" y="0"/>
            <a:chExt cx="8520599" cy="3264407"/>
          </a:xfrm>
        </p:grpSpPr>
        <p:sp>
          <p:nvSpPr>
            <p:cNvPr id="130" name="Google Shape;130;p8"/>
            <p:cNvSpPr/>
            <p:nvPr/>
          </p:nvSpPr>
          <p:spPr>
            <a:xfrm>
              <a:off x="0" y="0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28683" y="28683"/>
              <a:ext cx="6185745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Prepared by: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AAABB LLC — Equity Capital Markets / Syndicate Desk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chemeClr val="lt1"/>
                  </a:solidFill>
                </a:rPr>
                <a:t>James Ellis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Managing Director, ECM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chemeClr val="lt1"/>
                  </a:solidFill>
                </a:rPr>
                <a:t>Melody Kim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Associate, Syndicate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639044" y="1142542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8"/>
            <p:cNvSpPr txBox="1"/>
            <p:nvPr/>
          </p:nvSpPr>
          <p:spPr>
            <a:xfrm>
              <a:off x="667727" y="1171225"/>
              <a:ext cx="5909539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Reviewed by: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chemeClr val="lt1"/>
                  </a:solidFill>
                </a:rPr>
                <a:t>Quantiva Technologies Inc.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— Finance &amp; Treasury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UTLC LLP — Company Counsel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1278089" y="2285085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8"/>
            <p:cNvSpPr txBox="1"/>
            <p:nvPr/>
          </p:nvSpPr>
          <p:spPr>
            <a:xfrm>
              <a:off x="1306772" y="2313768"/>
              <a:ext cx="5909539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Confidential – For internal use and VDR inclusion only.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© 2025 </a:t>
              </a:r>
              <a:r>
                <a:rPr lang="en" sz="1500">
                  <a:solidFill>
                    <a:schemeClr val="lt1"/>
                  </a:solidFill>
                </a:rPr>
                <a:t>Quantiva Technologies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Inc. — All rights reserved.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6605950" y="742652"/>
              <a:ext cx="636559" cy="63655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5DBDD">
                <a:alpha val="89411"/>
              </a:srgbClr>
            </a:solidFill>
            <a:ln cap="flat" cmpd="sng" w="9525">
              <a:solidFill>
                <a:srgbClr val="D5DBDD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8"/>
            <p:cNvSpPr txBox="1"/>
            <p:nvPr/>
          </p:nvSpPr>
          <p:spPr>
            <a:xfrm>
              <a:off x="6749176" y="742652"/>
              <a:ext cx="350107" cy="479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7244995" y="1878666"/>
              <a:ext cx="636559" cy="63655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5DBDD">
                <a:alpha val="89411"/>
              </a:srgbClr>
            </a:solidFill>
            <a:ln cap="flat" cmpd="sng" w="9525">
              <a:solidFill>
                <a:srgbClr val="D5DBDD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8"/>
            <p:cNvSpPr txBox="1"/>
            <p:nvPr/>
          </p:nvSpPr>
          <p:spPr>
            <a:xfrm>
              <a:off x="7388221" y="1878666"/>
              <a:ext cx="350107" cy="479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2025-11-17T16:28:26Z</dcterms:modified>
  <dc:creator/>
  <dc:subject/>
  <cp:keywords/>
  <dc:description/>
  <cp:category/>
  <cp:contentStatus/>
  <dc:identifier/>
  <cp:version>None</cp:version>
</cp:coreProperties>
</file>
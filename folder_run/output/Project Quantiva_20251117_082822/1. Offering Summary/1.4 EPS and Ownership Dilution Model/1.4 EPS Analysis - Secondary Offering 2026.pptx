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Roboto Slab"/>
      <p:regular r:id="rId13"/>
      <p:bold r:id="rId14"/>
    </p:embeddedFon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9" roundtripDataSignature="AMtx7mhxsXAKGoVSCj9vGMag5jwELQ13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FEEAB7-5B30-4EDD-B4AE-CCB082BCF00E}">
  <a:tblStyle styleId="{08FEEAB7-5B30-4EDD-B4AE-CCB082BCF00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font" Target="fonts/RobotoSlab-regular.fntdata"/><Relationship Id="rId14" Type="http://schemas.openxmlformats.org/officeDocument/2006/relationships/font" Target="fonts/RobotoSlab-bold.fntdata"/><Relationship Id="rId15" Type="http://schemas.openxmlformats.org/officeDocument/2006/relationships/font" Target="fonts/Roboto-regular.fntdata"/><Relationship Id="rId16" Type="http://schemas.openxmlformats.org/officeDocument/2006/relationships/font" Target="fonts/Roboto-bold.fntdata"/><Relationship Id="rId17" Type="http://schemas.openxmlformats.org/officeDocument/2006/relationships/font" Target="fonts/Roboto-italic.fntdata"/><Relationship Id="rId18" Type="http://schemas.openxmlformats.org/officeDocument/2006/relationships/font" Target="fonts/Roboto-boldItalic.fntdata"/><Relationship Id="rId19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01716907d_3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701716907d_3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01716907d_3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701716907d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01716907d_3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701716907d_3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0c5ea6363_0_4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g390c5ea6363_0_4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g390c5ea6363_0_4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g390c5ea6363_0_4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g390c5ea6363_0_4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g390c5ea6363_0_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g390c5ea6363_0_1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g390c5ea6363_0_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g390c5ea6363_0_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g390c5ea6363_0_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g390c5ea6363_0_11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g390c5ea6363_0_11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" name="Google Shape;24;g390c5ea6363_0_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g390c5ea6363_0_20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g390c5ea6363_0_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g390c5ea6363_0_20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g390c5ea6363_0_20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g390c5ea6363_0_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90c5ea6363_0_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g390c5ea6363_0_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g390c5ea6363_0_29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g390c5ea6363_0_29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g390c5ea6363_0_29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g390c5ea6363_0_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90c5ea6363_0_3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g390c5ea6363_0_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90c5ea6363_0_37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" name="Google Shape;44;g390c5ea6363_0_37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g390c5ea6363_0_37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g390c5ea6363_0_37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g390c5ea6363_0_3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g390c5ea6363_0_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90c5ea6363_0_44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g390c5ea6363_0_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0c5ea6363_0_47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g390c5ea6363_0_47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g390c5ea6363_0_47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g390c5ea6363_0_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0c5ea6363_0_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0c5ea6363_0_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g390c5ea6363_0_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90c5ea6363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5842"/>
              <a:buNone/>
            </a:pPr>
            <a:r>
              <a:rPr lang="en"/>
              <a:t>1.4 EPS Analysis - Secondary Offering - 2026</a:t>
            </a:r>
            <a:endParaRPr sz="5400"/>
          </a:p>
        </p:txBody>
      </p:sp>
      <p:sp>
        <p:nvSpPr>
          <p:cNvPr id="64" name="Google Shape;64;p1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Quantiva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 txBox="1"/>
          <p:nvPr>
            <p:ph idx="1" type="body"/>
          </p:nvPr>
        </p:nvSpPr>
        <p:spPr>
          <a:xfrm>
            <a:off x="331025" y="1458250"/>
            <a:ext cx="8501400" cy="34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3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Offering Price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$15.37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Primary Offering Shares (000s)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25,000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Secondary Offering Shares (000s)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15,000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Total Offering Amount ($mm)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40,000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3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3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70" name="Google Shape;70;p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Offering Assumptions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Share Count Analysis</a:t>
            </a:r>
            <a:endParaRPr/>
          </a:p>
        </p:txBody>
      </p:sp>
      <p:sp>
        <p:nvSpPr>
          <p:cNvPr id="76" name="Google Shape;76;p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Shares Outstanding Q3 (000s)												       288,154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Primary Shares Issued (000s)												         25,000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Shares Outstanding After Offering (000s)										       313,154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01716907d_3_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Basic EPS Calculation </a:t>
            </a:r>
            <a:endParaRPr/>
          </a:p>
        </p:txBody>
      </p:sp>
      <p:sp>
        <p:nvSpPr>
          <p:cNvPr id="82" name="Google Shape;82;g3701716907d_3_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EARNINGS DATA (2025E)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 Income Available to Common ($000s)</a:t>
            </a: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 -</a:t>
            </a: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(69,100)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83" name="Google Shape;83;g3701716907d_3_9"/>
          <p:cNvGraphicFramePr/>
          <p:nvPr/>
        </p:nvGraphicFramePr>
        <p:xfrm>
          <a:off x="707100" y="2119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{08FEEAB7-5B30-4EDD-B4AE-CCB082BCF00E}</a:tableStyleId>
              </a:tblPr>
              <a:tblGrid>
                <a:gridCol w="2576600"/>
                <a:gridCol w="2576600"/>
                <a:gridCol w="2576600"/>
              </a:tblGrid>
              <a:tr h="5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Before Offering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After Offering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Shares Outstanding (000s)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288,154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313,154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($000s)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(69,100)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(69,100)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EPS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-$0.2398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-$0.2207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01716907d_3_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Diluted EPS Calculation </a:t>
            </a:r>
            <a:endParaRPr/>
          </a:p>
        </p:txBody>
      </p:sp>
      <p:sp>
        <p:nvSpPr>
          <p:cNvPr id="89" name="Google Shape;89;g3701716907d_3_2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Potentially Dilutive Shares (000s)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i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Dilutive Securities (Stock Options, Warrants, etc.) 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90" name="Google Shape;90;g3701716907d_3_20"/>
          <p:cNvGraphicFramePr/>
          <p:nvPr/>
        </p:nvGraphicFramePr>
        <p:xfrm>
          <a:off x="952500" y="2100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{08FEEAB7-5B30-4EDD-B4AE-CCB082BCF00E}</a:tableStyleId>
              </a:tblPr>
              <a:tblGrid>
                <a:gridCol w="2801575"/>
                <a:gridCol w="2024425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Before Offering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After Offering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Shares Outstanding (000s)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288,154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313,154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Add: Dilutive Securities (000s)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Diluted Shares (000s)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288,154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313,154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($000s)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(69,100)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(69,100)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Diluted EPS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-$0.2398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-$0.2207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01716907d_3_2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Sensitivity Analysis: Impact on EPS (Post Offering)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96" name="Google Shape;96;g3701716907d_3_29"/>
          <p:cNvSpPr txBox="1"/>
          <p:nvPr>
            <p:ph idx="1" type="body"/>
          </p:nvPr>
        </p:nvSpPr>
        <p:spPr>
          <a:xfrm>
            <a:off x="311700" y="9563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97" name="Google Shape;97;g3701716907d_3_29"/>
          <p:cNvGraphicFramePr/>
          <p:nvPr/>
        </p:nvGraphicFramePr>
        <p:xfrm>
          <a:off x="1116100" y="1361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{08FEEAB7-5B30-4EDD-B4AE-CCB082BCF00E}</a:tableStyleId>
              </a:tblPr>
              <a:tblGrid>
                <a:gridCol w="1727950"/>
                <a:gridCol w="1727950"/>
                <a:gridCol w="1727950"/>
                <a:gridCol w="1727950"/>
              </a:tblGrid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Change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($000s)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EPS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Diluted EPS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(55,280)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-$0.1765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-$0.1765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(62,190)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-$0.1986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-$0.1986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-5%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(65,645)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-$0.2096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-$0.2096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 Case</a:t>
                      </a:r>
                      <a:endParaRPr b="1" i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(69,100)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-$0.2207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-$0.2207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+5%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(72,555)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-$0.2317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-$0.2317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(76,010)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-$0.2427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-$0.2427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(82,920)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-$0.2648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-$0.2648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+30%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(89,830)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-$0.2869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-$0.2869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cp:lastModifiedBy/>
  <cp:revision>1</cp:revision>
  <dcterms:modified xsi:type="dcterms:W3CDTF">2025-11-17T16:28:26Z</dcterms:modified>
  <dc:creator/>
  <dc:subject/>
  <cp:keywords/>
  <dc:description/>
  <cp:category/>
  <cp:contentStatus/>
  <dc:identifier/>
  <cp:version>None</cp:version>
</cp:coreProperties>
</file>
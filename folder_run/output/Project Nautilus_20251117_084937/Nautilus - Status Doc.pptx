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84931-11FB-4FBF-A312-EDAA522CAAB5}">
  <a:tblStyle styleId="{30084931-11FB-4FBF-A312-EDAA522CA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Arimo-regular.fntdata"/><Relationship Id="rId16" Type="http://schemas.openxmlformats.org/officeDocument/2006/relationships/font" Target="fonts/Arimo-bold.fntdata"/><Relationship Id="rId17" Type="http://schemas.openxmlformats.org/officeDocument/2006/relationships/font" Target="fonts/Arimo-italic.fntdata"/><Relationship Id="rId18" Type="http://schemas.openxmlformats.org/officeDocument/2006/relationships/font" Target="fonts/Arimo-boldItalic.fntdata"/><Relationship Id="rId19" Type="http://schemas.openxmlformats.org/officeDocument/2006/relationships/font" Target="fonts/ArimoSemiBold-regular.fntdata"/><Relationship Id="rId20" Type="http://schemas.openxmlformats.org/officeDocument/2006/relationships/font" Target="fonts/ArimoSemiBold-bold.fntdata"/><Relationship Id="rId21" Type="http://schemas.openxmlformats.org/officeDocument/2006/relationships/font" Target="fonts/ArimoSemiBold-italic.fntdata"/><Relationship Id="rId22" Type="http://schemas.openxmlformats.org/officeDocument/2006/relationships/font" Target="fonts/ArimoSemiBold-boldItalic.fntdata"/><Relationship Id="rId23" Type="http://schemas.openxmlformats.org/officeDocument/2006/relationships/font" Target="fonts/ArimoMedium-regular.fntdata"/><Relationship Id="rId24" Type="http://schemas.openxmlformats.org/officeDocument/2006/relationships/font" Target="fonts/ArimoMedium-bold.fntdata"/><Relationship Id="rId25" Type="http://schemas.openxmlformats.org/officeDocument/2006/relationships/font" Target="fonts/ArimoMedium-italic.fntdata"/><Relationship Id="rId26" Type="http://schemas.openxmlformats.org/officeDocument/2006/relationships/font" Target="fonts/Arimo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1748b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1748b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21748b28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21748b28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21748b28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21748b28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21748b28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21748b28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25250c2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25250c2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25250c2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25250c2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25250c24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25250c24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25250c2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25250c2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53" name="Google Shape;353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54" name="Google Shape;354;p44"/>
          <p:cNvSpPr txBox="1"/>
          <p:nvPr>
            <p:ph type="title"/>
          </p:nvPr>
        </p:nvSpPr>
        <p:spPr>
          <a:xfrm>
            <a:off x="795525" y="2323100"/>
            <a:ext cx="7866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 - Past Pitch</a:t>
            </a:r>
            <a:br>
              <a:rPr lang="en" sz="1000"/>
            </a:br>
            <a:br>
              <a:rPr lang="en" sz="1000"/>
            </a:br>
            <a:r>
              <a:rPr i="1" lang="en" sz="1400"/>
              <a:t>Highly professional advice from a (most likely) Real Pitch Deck 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 Downgrade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As pre-warned in the pitch, downgrade by S&amp;P Global from BB- to B+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files 10-K for 2014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Cannot be used for the VDR. 2011-2013 will be used for the VDR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short history of the pitch deck found on scribd</a:t>
            </a:r>
            <a:endParaRPr sz="2000"/>
          </a:p>
        </p:txBody>
      </p:sp>
      <p:sp>
        <p:nvSpPr>
          <p:cNvPr id="362" name="Google Shape;362;p45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Pitch to the Nautilus Board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Deck Recommendations: </a:t>
            </a:r>
            <a:b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“Do a convertible to avoid a credit downgrade by S&amp;P”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descr="A timeline stretching across several years. " id="363" name="Google Shape;363;p45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64" name="Google Shape;364;p45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5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5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5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5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/>
          <p:nvPr/>
        </p:nvSpPr>
        <p:spPr>
          <a:xfrm>
            <a:off x="617425" y="2093402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28-Jan-</a:t>
            </a: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20574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29-Jan-2015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49752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9375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377625" y="2093500"/>
            <a:ext cx="8586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Rally -&gt; 2020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2" name="Google Shape;382;p4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14-Nov-2015</a:t>
            </a:r>
            <a:endParaRPr/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5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Straight Bond Issuance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can be an extension of your previous milestone, or something completely new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performing very well 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Would have been a good deal for the investors and potentially prevent a rating downgrade. Also, the hedging strategy suggested was good advice ex post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is now rated A by S&amp;P </a:t>
            </a:r>
            <a:endParaRPr i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Completely different credit quality as the company generates significant FCF on the back of a successful internationalization strategy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Deal Overview</a:t>
            </a:r>
            <a:endParaRPr sz="2000"/>
          </a:p>
        </p:txBody>
      </p:sp>
      <p:sp>
        <p:nvSpPr>
          <p:cNvPr id="393" name="Google Shape;393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94" name="Google Shape;394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277500" y="975925"/>
            <a:ext cx="82296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32397" lvl="0" marL="1730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this analysis, we believe the company could issue a convertible bond in Q1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 Size: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$1.5 billion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Price: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$641.58 (45.0% premium to current share price)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Ratio: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1.5586 (based on par value of $1,000)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Coupon Rate and YTM: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1.50%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December 31, 2020 (6-year tenor)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Semiannual on June 30 and December 31 of each year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Redemption: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Make-whole call at T+50bps any time prior to maturity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of Control: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Put @ 101% of principal plus accrued interest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Settlement: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Cash settlement option available</a:t>
            </a:r>
            <a:endParaRPr sz="800"/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dilution and raise the effective conversion price, it is prudent to use a call-spread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Purchased Call Options: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2.3380 million (100% offset of convertible bond dilution) at a $641.58 exercise price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Sold Warrants: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1.7535 million (75% of call options) at a $774.32 exercise price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 strategy might increase pre-tax cost of funding to ~2.6% and raise the effective conversion premium to 75%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/>
        </p:nvSpPr>
        <p:spPr>
          <a:xfrm>
            <a:off x="255750" y="1234225"/>
            <a:ext cx="86325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Collect past data (more than 10 years) -&gt; Nautilus had very good data availability - even the trading levels of matured bonds were still available on Bloomberg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Not quite synthetic, but potentially less patterns for Grok to recognize the company, as the data is relatively old - at the same time, there are not many companies with similar narratives (at the time international expansion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We save the time on the output and can focus on a higher VDR quality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Data is anonymized, but it is rather clear which company is behind the data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For a few executed bond deals per year, debt coverage teams had to do 100+ bond pitch presentations. This is a process (creation of a convertible debt pitch deck) that is likely to be much better </a:t>
            </a:r>
            <a:r>
              <a:rPr lang="en" sz="800"/>
              <a:t>with</a:t>
            </a:r>
            <a:r>
              <a:rPr lang="en" sz="800"/>
              <a:t> AI-enabled techniques allowing more/higher quality presentations with clients (more client-facing activity leading to more deal-making potentially).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Any issues in the context of Grok - mixing up with current topics? -&gt; no issue in the process so far, but Grok often identified the company as the most likely one.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Convertible deal did not really take place (a straight bond was issued instead). Thus, we only have an price indication probably discussed at the BoD meeting of Nautilus (28-Jan-2015).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01" name="Google Shape;401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Advantages and Disadvantages of re-using a past I-Banking Pitch Deck</a:t>
            </a:r>
            <a:endParaRPr sz="2000"/>
          </a:p>
        </p:txBody>
      </p:sp>
      <p:sp>
        <p:nvSpPr>
          <p:cNvPr id="402" name="Google Shape;402;p4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03" name="Google Shape;403;p4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8"/>
          <p:cNvGraphicFramePr/>
          <p:nvPr/>
        </p:nvGraphicFramePr>
        <p:xfrm>
          <a:off x="196250" y="8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125"/>
                <a:gridCol w="1033475"/>
                <a:gridCol w="1060675"/>
                <a:gridCol w="5483950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 Overview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Giampaolo/Alan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1.2 Model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Shah (Financials) / Alan (Pricing)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1.3 Customer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1.4 Comp Models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1.5 Compliance Certificates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 Tai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1.6 Audited Financials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1.7 Working Capital Analysis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1.8 Sources &amp; Uses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1.9 Capex / Content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1.10 Financing &amp; Capital Structure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1.11-12 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Investor Presentation / Industry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1.13 Rating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48"/>
          <p:cNvSpPr txBox="1"/>
          <p:nvPr>
            <p:ph type="title"/>
          </p:nvPr>
        </p:nvSpPr>
        <p:spPr>
          <a:xfrm>
            <a:off x="277500" y="358755"/>
            <a:ext cx="8589000" cy="425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Financials</a:t>
            </a:r>
            <a:endParaRPr sz="2000"/>
          </a:p>
        </p:txBody>
      </p:sp>
      <p:sp>
        <p:nvSpPr>
          <p:cNvPr id="410" name="Google Shape;410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1" name="Google Shape;411;p4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Google Shape;416;p49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29525"/>
                <a:gridCol w="541447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.1 Legal Entity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2.2 </a:t>
                      </a:r>
                      <a:r>
                        <a:rPr lang="en" sz="600"/>
                        <a:t> Formation Documents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.3 Indenture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.4 BoD Minutes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.5 Capitalization Table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7" name="Google Shape;417;p4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Legal &amp; Corporate</a:t>
            </a:r>
            <a:endParaRPr sz="2000"/>
          </a:p>
        </p:txBody>
      </p:sp>
      <p:sp>
        <p:nvSpPr>
          <p:cNvPr id="418" name="Google Shape;418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9" name="Google Shape;419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277500" y="146987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50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.1 Material Contracts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.2  Real Estate (Leased &amp; Owned)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.3 Social Media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6" name="Google Shape;426;p50"/>
          <p:cNvGraphicFramePr/>
          <p:nvPr/>
        </p:nvGraphicFramePr>
        <p:xfrm>
          <a:off x="236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.1 Census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.2 Mgmt Incentive Plans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</a:t>
                      </a:r>
                      <a:r>
                        <a:rPr lang="en" sz="600"/>
                        <a:t>3 Org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4.4 Employee Contracts / Top Mgmt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7" name="Google Shape;427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- 3. Operational &amp; Commercial &amp; 4. HR</a:t>
            </a:r>
            <a:endParaRPr sz="2000"/>
          </a:p>
        </p:txBody>
      </p:sp>
      <p:sp>
        <p:nvSpPr>
          <p:cNvPr id="428" name="Google Shape;428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29" name="Google Shape;429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0" y="148612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" name="Google Shape;435;p51"/>
          <p:cNvGraphicFramePr/>
          <p:nvPr/>
        </p:nvGraphicFramePr>
        <p:xfrm>
          <a:off x="236875" y="126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48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 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</a:t>
                      </a:r>
                      <a:r>
                        <a:rPr lang="en" sz="600"/>
                        <a:t>.1 IT Ops and Vendors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5.2 Platform Architecture &amp; Infra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5.3 Product Dev. &amp; Engineering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5.4 Technology Risk &amp; Compliance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5.5. Cybersecurity and Data Mgmt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436" name="Google Shape;436;p51"/>
          <p:cNvGraphicFramePr/>
          <p:nvPr/>
        </p:nvGraphicFramePr>
        <p:xfrm>
          <a:off x="236875" y="327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6.1 Patents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7" name="Google Shape;437;p51"/>
          <p:cNvGraphicFramePr/>
          <p:nvPr/>
        </p:nvGraphicFramePr>
        <p:xfrm>
          <a:off x="236875" y="413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7</a:t>
                      </a:r>
                      <a:r>
                        <a:rPr lang="en" sz="600"/>
                        <a:t>.1 Others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5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- 5. IT &amp; Tech &amp; 6. IP &amp; 7. Others</a:t>
            </a:r>
            <a:endParaRPr sz="2000"/>
          </a:p>
        </p:txBody>
      </p:sp>
      <p:sp>
        <p:nvSpPr>
          <p:cNvPr id="439" name="Google Shape;439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40" name="Google Shape;440;p5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2025-11-17T16:49:40Z</dcterms:modified>
  <dc:creator/>
  <dc:subject/>
  <cp:keywords/>
  <dc:description/>
  <cp:category/>
  <cp:contentStatus/>
  <dc:identifier/>
  <cp:version>None</cp:version>
</cp:coreProperties>
</file>
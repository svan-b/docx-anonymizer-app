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Roboto Slab"/>
      <p:regular r:id="rId10"/>
      <p:bold r:id="rId11"/>
    </p:embeddedFon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iL0BXnztKloDslC9vcGRLnMYr/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D0574C-F476-47BC-B0AD-7CAF3CED501F}">
  <a:tblStyle styleId="{A6D0574C-F476-47BC-B0AD-7CAF3CED50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bold.fntdata"/><Relationship Id="rId10" Type="http://schemas.openxmlformats.org/officeDocument/2006/relationships/font" Target="fonts/RobotoSlab-regular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65238bf63_0_368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865238bf63_0_368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865238bf63_0_368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865238bf63_0_368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865238bf63_0_368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865238bf63_0_3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865238bf63_0_375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865238bf63_0_375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865238bf63_0_3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865238bf63_0_379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865238bf63_0_37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865238bf63_0_37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865238bf63_0_3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865238bf63_0_38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865238bf63_0_38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865238bf63_0_384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865238bf63_0_384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865238bf63_0_3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865238bf63_0_39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865238bf63_0_3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865238bf63_0_393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865238bf63_0_393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865238bf63_0_393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865238bf63_0_3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65238bf63_0_39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865238bf63_0_3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865238bf63_0_40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865238bf63_0_401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865238bf63_0_401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865238bf63_0_40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865238bf63_0_40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865238bf63_0_4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865238bf63_0_408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865238bf63_0_4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65238bf63_0_4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865238bf63_0_4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865238bf63_0_4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865238bf63_0_4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65238bf63_0_4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65238bf63_0_36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865238bf63_0_36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865238bf63_0_3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Sources and Uses</a:t>
            </a:r>
            <a:endParaRPr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2"/>
          <p:cNvGraphicFramePr/>
          <p:nvPr/>
        </p:nvGraphicFramePr>
        <p:xfrm>
          <a:off x="387900" y="155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{A6D0574C-F476-47BC-B0AD-7CAF3CED501F}</a:tableStyleId>
              </a:tblPr>
              <a:tblGrid>
                <a:gridCol w="2047875"/>
                <a:gridCol w="971550"/>
                <a:gridCol w="988250"/>
                <a:gridCol w="44911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</a:rPr>
                        <a:t>Sources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</a:rPr>
                        <a:t>Amount ($MM)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</a:rPr>
                        <a:t>% of Total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</a:rPr>
                        <a:t>Notes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Gross Primary Offering Proceeds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384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62.50%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25,000,000 new shares issued by the Company.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Gross Secondary Offering Proceeds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231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37.50%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15,000,000 shares sold by YG Partners L.P. funds and executives.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Total Sources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615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Sources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Google Shape;75;p3"/>
          <p:cNvGraphicFramePr/>
          <p:nvPr/>
        </p:nvGraphicFramePr>
        <p:xfrm>
          <a:off x="88688" y="156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{A6D0574C-F476-47BC-B0AD-7CAF3CED501F}</a:tableStyleId>
              </a:tblPr>
              <a:tblGrid>
                <a:gridCol w="3115525"/>
                <a:gridCol w="920025"/>
                <a:gridCol w="1296400"/>
                <a:gridCol w="3634675"/>
              </a:tblGrid>
              <a:tr h="43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Uses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Amount ($MM)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% of Primary Proceeds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Notes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R&amp;D / CapEx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315.1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82.0%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New technology for next release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General Corporate Purposes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38.4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10.0%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Working capital, personnel, and other strategic initiatives.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Offering Expenses (Legal, Accounting, Listing Fees)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6.1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1.6%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Between underwriting fees and offering expense, equal 5%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Underwriting Discount (4.0%)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24.6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6.4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The underwriting discount is payable by the company on the full amount of shares sold.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Gross Proceeds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384.3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100%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Gross Proceeds to Company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Net Proceeds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353.5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Net </a:t>
                      </a: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Proceeds to Company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" name="Google Shape;76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Uses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
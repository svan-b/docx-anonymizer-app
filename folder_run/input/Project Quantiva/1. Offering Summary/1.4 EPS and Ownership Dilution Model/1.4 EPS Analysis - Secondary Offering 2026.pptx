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hxsXAKGoVSCj9vGMag5jwELQ13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FEEAB7-5B30-4EDD-B4AE-CCB082BCF00E}">
  <a:tblStyle styleId="{08FEEAB7-5B30-4EDD-B4AE-CCB082BCF00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1716907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01716907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1716907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701716907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171690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70171690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a636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a636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a636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a636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a636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a636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a636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a636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g390c5ea636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90c5ea636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g390c5ea636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g390c5ea636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390c5ea636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a636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a636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a636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a636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a636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a636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a636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a636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a636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a636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a636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a636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a636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a636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g390c5ea636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a636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a636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a636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a636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a636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a636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a636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90c5ea636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a636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a636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a636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a636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a636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a636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842"/>
              <a:buNone/>
            </a:pPr>
            <a:r>
              <a:rPr lang="en"/>
              <a:t>1.4 EPS Analysis - Secondary Offering - 2026</a:t>
            </a:r>
            <a:endParaRPr sz="54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31025" y="1458250"/>
            <a:ext cx="85014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Offering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$15.37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Secondary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15,000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Total Offering Amount ($mm)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40,000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Offering Assumptions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Share Count Analysis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Q3 (000s)												       288,154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Shares Issued (000s)												         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After Offering (000s)										       313,154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1716907d_3_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Basic EPS Calculation </a:t>
            </a:r>
            <a:endParaRPr/>
          </a:p>
        </p:txBody>
      </p:sp>
      <p:sp>
        <p:nvSpPr>
          <p:cNvPr id="82" name="Google Shape;82;g3701716907d_3_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EARNINGS DATA (2025E)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Income Available to Common ($000s)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(69,100)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g3701716907d_3_9"/>
          <p:cNvGraphicFramePr/>
          <p:nvPr/>
        </p:nvGraphicFramePr>
        <p:xfrm>
          <a:off x="707100" y="21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{08FEEAB7-5B30-4EDD-B4AE-CCB082BCF00E}</a:tableStyleId>
              </a:tblPr>
              <a:tblGrid>
                <a:gridCol w="2576600"/>
                <a:gridCol w="2576600"/>
                <a:gridCol w="2576600"/>
              </a:tblGrid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-$0.2398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-$0.2207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1716907d_3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Diluted EPS Calculation </a:t>
            </a:r>
            <a:endParaRPr/>
          </a:p>
        </p:txBody>
      </p:sp>
      <p:sp>
        <p:nvSpPr>
          <p:cNvPr id="89" name="Google Shape;89;g3701716907d_3_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Dilutive Shares (000s)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Dilutive Securities (Stock Options, Warrants, etc.)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g3701716907d_3_20"/>
          <p:cNvGraphicFramePr/>
          <p:nvPr/>
        </p:nvGraphicFramePr>
        <p:xfrm>
          <a:off x="952500" y="21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{08FEEAB7-5B30-4EDD-B4AE-CCB082BCF00E}</a:tableStyleId>
              </a:tblPr>
              <a:tblGrid>
                <a:gridCol w="2801575"/>
                <a:gridCol w="20244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Add: Dilutive Securities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Shares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-$0.2398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-$0.2207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01716907d_3_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Sensitivity Analysis: Impact on EPS (Post Offering)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6" name="Google Shape;96;g3701716907d_3_29"/>
          <p:cNvSpPr txBox="1"/>
          <p:nvPr>
            <p:ph idx="1" type="body"/>
          </p:nvPr>
        </p:nvSpPr>
        <p:spPr>
          <a:xfrm>
            <a:off x="311700" y="9563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g3701716907d_3_29"/>
          <p:cNvGraphicFramePr/>
          <p:nvPr/>
        </p:nvGraphicFramePr>
        <p:xfrm>
          <a:off x="1116100" y="136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{08FEEAB7-5B30-4EDD-B4AE-CCB082BCF00E}</a:tableStyleId>
              </a:tblPr>
              <a:tblGrid>
                <a:gridCol w="1727950"/>
                <a:gridCol w="1727950"/>
                <a:gridCol w="1727950"/>
                <a:gridCol w="1727950"/>
              </a:tblGrid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Change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(55,280)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-$0.1765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-$0.1765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(62,190)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-$0.1986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-$0.1986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(65,645)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-$0.2096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-$0.2096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Case</a:t>
                      </a:r>
                      <a:endParaRPr b="1" i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-$0.2207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-$0.2207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(72,555)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-$0.2317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-$0.2317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(76,010)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-$0.2427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-$0.2427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(82,920)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-$0.2648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-$0.2648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(89,830)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-$0.2869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-$0.2869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